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498fbb05ed4f3a" /><Relationship Type="http://schemas.openxmlformats.org/officeDocument/2006/relationships/extended-properties" Target="/docProps/app.xml" Id="Ref2b26781089451e" /><Relationship Type="http://schemas.openxmlformats.org/officeDocument/2006/relationships/officeDocument" Target="/ppt/presentation.xml" Id="Re8beb1e2f9204e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829eadb5c34220"/>
  </p:sldMasterIdLst>
  <p:notesMasterIdLst>
    <p:notesMasterId xmlns:r="http://schemas.openxmlformats.org/officeDocument/2006/relationships" r:id="Ra79fa28d4bd346ac"/>
  </p:notesMasterIdLst>
  <p:sldIdLst>
    <p:sldId xmlns:r="http://schemas.openxmlformats.org/officeDocument/2006/relationships" id="256" r:id="R3fec2a4d372e4d48"/>
    <p:sldId xmlns:r="http://schemas.openxmlformats.org/officeDocument/2006/relationships" id="257" r:id="Rcdd5d9f0853a4acf"/>
    <p:sldId xmlns:r="http://schemas.openxmlformats.org/officeDocument/2006/relationships" id="258" r:id="R3baa08e27c734ddd"/>
    <p:sldId xmlns:r="http://schemas.openxmlformats.org/officeDocument/2006/relationships" id="259" r:id="R63ecf0b6aac34e4c"/>
    <p:sldId xmlns:r="http://schemas.openxmlformats.org/officeDocument/2006/relationships" id="260" r:id="Rd534d54cb84f4f8c"/>
    <p:sldId xmlns:r="http://schemas.openxmlformats.org/officeDocument/2006/relationships" id="261" r:id="R25f049441d94489e"/>
    <p:sldId xmlns:r="http://schemas.openxmlformats.org/officeDocument/2006/relationships" id="262" r:id="R78268f1f3bca4677"/>
    <p:sldId xmlns:r="http://schemas.openxmlformats.org/officeDocument/2006/relationships" id="263" r:id="R14e7d7ae6f1c4bc8"/>
    <p:sldId xmlns:r="http://schemas.openxmlformats.org/officeDocument/2006/relationships" id="264" r:id="Rc106b04a2e2a49ad"/>
    <p:sldId xmlns:r="http://schemas.openxmlformats.org/officeDocument/2006/relationships" id="265" r:id="R4e1f201f81b54d99"/>
    <p:sldId xmlns:r="http://schemas.openxmlformats.org/officeDocument/2006/relationships" id="266" r:id="Rbdb9c8b53a584771"/>
    <p:sldId xmlns:r="http://schemas.openxmlformats.org/officeDocument/2006/relationships" id="267" r:id="R6e9f54a7a8d2412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15ea9eecb948b4" /><Relationship Type="http://schemas.openxmlformats.org/officeDocument/2006/relationships/slideMaster" Target="/ppt/slideMasters/slideMaster1.xml" Id="R0b829eadb5c34220" /><Relationship Type="http://schemas.openxmlformats.org/officeDocument/2006/relationships/notesMaster" Target="/ppt/notesMasters/notesMaster1.xml" Id="Ra79fa28d4bd346ac" /><Relationship Type="http://schemas.openxmlformats.org/officeDocument/2006/relationships/presProps" Target="/ppt/presProps.xml" Id="R412e55ae587c4461" /><Relationship Type="http://schemas.openxmlformats.org/officeDocument/2006/relationships/tableStyles" Target="/ppt/tableStyles.xml" Id="Ra31a97ce99fb422a" /><Relationship Type="http://schemas.openxmlformats.org/officeDocument/2006/relationships/slide" Target="/ppt/slides/slide1.xml" Id="R3fec2a4d372e4d48" /><Relationship Type="http://schemas.openxmlformats.org/officeDocument/2006/relationships/slide" Target="/ppt/slides/slide2.xml" Id="Rcdd5d9f0853a4acf" /><Relationship Type="http://schemas.openxmlformats.org/officeDocument/2006/relationships/slide" Target="/ppt/slides/slide3.xml" Id="R3baa08e27c734ddd" /><Relationship Type="http://schemas.openxmlformats.org/officeDocument/2006/relationships/slide" Target="/ppt/slides/slide4.xml" Id="R63ecf0b6aac34e4c" /><Relationship Type="http://schemas.openxmlformats.org/officeDocument/2006/relationships/slide" Target="/ppt/slides/slide5.xml" Id="Rd534d54cb84f4f8c" /><Relationship Type="http://schemas.openxmlformats.org/officeDocument/2006/relationships/slide" Target="/ppt/slides/slide6.xml" Id="R25f049441d94489e" /><Relationship Type="http://schemas.openxmlformats.org/officeDocument/2006/relationships/slide" Target="/ppt/slides/slide7.xml" Id="R78268f1f3bca4677" /><Relationship Type="http://schemas.openxmlformats.org/officeDocument/2006/relationships/slide" Target="/ppt/slides/slide8.xml" Id="R14e7d7ae6f1c4bc8" /><Relationship Type="http://schemas.openxmlformats.org/officeDocument/2006/relationships/slide" Target="/ppt/slides/slide9.xml" Id="Rc106b04a2e2a49ad" /><Relationship Type="http://schemas.openxmlformats.org/officeDocument/2006/relationships/slide" Target="/ppt/slides/slide10.xml" Id="R4e1f201f81b54d99" /><Relationship Type="http://schemas.openxmlformats.org/officeDocument/2006/relationships/slide" Target="/ppt/slides/slide11.xml" Id="Rbdb9c8b53a584771" /><Relationship Type="http://schemas.openxmlformats.org/officeDocument/2006/relationships/slide" Target="/ppt/slides/slide12.xml" Id="R6e9f54a7a8d241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8a2ba0400746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0feb9909f44721" /><Relationship Type="http://schemas.openxmlformats.org/officeDocument/2006/relationships/notesMaster" Target="/ppt/notesMasters/notesMaster1.xml" Id="R08468c99020b41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52e447dba44c29" /><Relationship Type="http://schemas.openxmlformats.org/officeDocument/2006/relationships/notesMaster" Target="/ppt/notesMasters/notesMaster1.xml" Id="R23f06bcbb9bc4d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1926e0451940ba" /><Relationship Type="http://schemas.openxmlformats.org/officeDocument/2006/relationships/notesMaster" Target="/ppt/notesMasters/notesMaster1.xml" Id="R05f52f71e98843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9224b7e614ea0" /><Relationship Type="http://schemas.openxmlformats.org/officeDocument/2006/relationships/notesMaster" Target="/ppt/notesMasters/notesMaster1.xml" Id="Re1b045c417774f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46e63d891248ec" /><Relationship Type="http://schemas.openxmlformats.org/officeDocument/2006/relationships/notesMaster" Target="/ppt/notesMasters/notesMaster1.xml" Id="R9e06c9ae0ce54d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77f8d43d6d4bc7" /><Relationship Type="http://schemas.openxmlformats.org/officeDocument/2006/relationships/notesMaster" Target="/ppt/notesMasters/notesMaster1.xml" Id="Rf122cac9081643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c1894667a547e1" /><Relationship Type="http://schemas.openxmlformats.org/officeDocument/2006/relationships/notesMaster" Target="/ppt/notesMasters/notesMaster1.xml" Id="R3b9e0e95f60743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5db16603b44f14" /><Relationship Type="http://schemas.openxmlformats.org/officeDocument/2006/relationships/notesMaster" Target="/ppt/notesMasters/notesMaster1.xml" Id="R8b060c4a483145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d2a02df5a94fad" /><Relationship Type="http://schemas.openxmlformats.org/officeDocument/2006/relationships/notesMaster" Target="/ppt/notesMasters/notesMaster1.xml" Id="Raa7f4c5b18054b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20961d04f4421d" /><Relationship Type="http://schemas.openxmlformats.org/officeDocument/2006/relationships/notesMaster" Target="/ppt/notesMasters/notesMaster1.xml" Id="R68c524980a3842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a6c3238e8045b1" /><Relationship Type="http://schemas.openxmlformats.org/officeDocument/2006/relationships/notesMaster" Target="/ppt/notesMasters/notesMaster1.xml" Id="R534bd7e82fa549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5904e3e7774bcf" /><Relationship Type="http://schemas.openxmlformats.org/officeDocument/2006/relationships/notesMaster" Target="/ppt/notesMasters/notesMaster1.xml" Id="R2778792664c541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tension: a high Dice score is not useful when the evidence contract is broken.</a:t>
            </a:r>
          </a:p>
          <a:p xmlns:a="http://schemas.openxmlformats.org/drawingml/2006/main">
            <a:r>
              <a:t>State that this talk values what the evidence supports, including a negative result.</a:t>
            </a:r>
          </a:p>
          <a:p xmlns:a="http://schemas.openxmlformats.org/drawingml/2006/main">
            <a:r>
              <a:t>Do not describe the system as clinical or state of the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leakage is a scientific design defect, not a cosmetic caveat.</a:t>
            </a:r>
          </a:p>
          <a:p xmlns:a="http://schemas.openxmlformats.org/drawingml/2006/main">
            <a:r>
              <a:t>Do not compare legacy model scores as if they were independent test results.</a:t>
            </a:r>
          </a:p>
          <a:p xmlns:a="http://schemas.openxmlformats.org/drawingml/2006/main">
            <a:r>
              <a:t>Use this slide to motivate the evidence hierarchy.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architecture comparison descriptive because it has one recorded run per system.</a:t>
            </a:r>
          </a:p>
          <a:p xmlns:a="http://schemas.openxmlformats.org/drawingml/2006/main">
            <a:r>
              <a:t>Describe Loop206 as a controlled train-screen ablation with three selected seeds.</a:t>
            </a:r>
          </a:p>
          <a:p xmlns:a="http://schemas.openxmlformats.org/drawingml/2006/main">
            <a:r>
              <a:t>Transition to the interactive pipeline as the map of the evidence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nonlinearly: select the module that best matches the audience question.</a:t>
            </a:r>
          </a:p>
          <a:p xmlns:a="http://schemas.openxmlformats.org/drawingml/2006/main">
            <a:r>
              <a:t>For the default talk, visit modules from left to right.</a:t>
            </a:r>
          </a:p>
          <a:p xmlns:a="http://schemas.openxmlformats.org/drawingml/2006/main">
            <a:r>
              <a:t>The pipeline is a navigation spine, not a decorative architecture diagram.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 no detected overlap, not proof of no hidden biological relationship.</a:t>
            </a:r>
          </a:p>
          <a:p xmlns:a="http://schemas.openxmlformats.org/drawingml/2006/main">
            <a:r>
              <a:t>Clarify that validation was already opened and used adaptively.</a:t>
            </a:r>
          </a:p>
          <a:p xmlns:a="http://schemas.openxmlformats.org/drawingml/2006/main">
            <a:r>
              <a:t>The 430-row test partition remains sealed.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calling this a controlled architecture ablation.</a:t>
            </a:r>
          </a:p>
          <a:p xmlns:a="http://schemas.openxmlformats.org/drawingml/2006/main">
            <a:r>
              <a:t>Explain that nnU-Net is a strong system-level baseline.</a:t>
            </a:r>
          </a:p>
          <a:p xmlns:a="http://schemas.openxmlformats.org/drawingml/2006/main">
            <a:r>
              <a:t>Mention the historical geometry mismatch as a limitation, not a hidden footnote.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values as recorded point estimates.</a:t>
            </a:r>
          </a:p>
          <a:p xmlns:a="http://schemas.openxmlformats.org/drawingml/2006/main">
            <a:r>
              <a:t>Do not say statistically significant, superior, or test performance.</a:t>
            </a:r>
          </a:p>
          <a:p xmlns:a="http://schemas.openxmlformats.org/drawingml/2006/main">
            <a:r>
              <a:t>Use the precision direction to show that metric trade-offs matter.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stronger causal comparison because the arms are matched.</a:t>
            </a:r>
          </a:p>
          <a:p xmlns:a="http://schemas.openxmlformats.org/drawingml/2006/main">
            <a:r>
              <a:t>The interval is conditional on the selected seeds and does not estimate seed-selection uncertainty.</a:t>
            </a:r>
          </a:p>
          <a:p xmlns:a="http://schemas.openxmlformats.org/drawingml/2006/main">
            <a:r>
              <a:t>No protected image or mask participates in fitting, thresholding, selection, or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negative result: it is the main controlled finding.</a:t>
            </a:r>
          </a:p>
          <a:p xmlns:a="http://schemas.openxmlformats.org/drawingml/2006/main">
            <a:r>
              <a:t>Do not generalize from this binary contour mechanism to all boundary methods.</a:t>
            </a:r>
          </a:p>
          <a:p xmlns:a="http://schemas.openxmlformats.org/drawingml/2006/main">
            <a:r>
              <a:t>Explain that a failed preregistered gate prevents expensive protected-test fishing.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live demo only after local preflight passes.</a:t>
            </a:r>
          </a:p>
          <a:p xmlns:a="http://schemas.openxmlformats.org/drawingml/2006/main">
            <a:r>
              <a:t>Show fixed-cache evidence first, then explain why arbitrary candidate inference is locked.</a:t>
            </a:r>
          </a:p>
          <a:p xmlns:a="http://schemas.openxmlformats.org/drawingml/2006/main">
            <a:r>
              <a:t>Keep the non-clinical warning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claim reproducibility from full experiment reproduction.</a:t>
            </a:r>
          </a:p>
          <a:p xmlns:a="http://schemas.openxmlformats.org/drawingml/2006/main">
            <a:r>
              <a:t>State what is intentionally excluded from Git: data, checkpoints, caches, and secrets.</a:t>
            </a:r>
          </a:p>
          <a:p xmlns:a="http://schemas.openxmlformats.org/drawingml/2006/main">
            <a:r>
              <a:t>Do not imply that this machine's RTX 5060 Ti rehearsal verifies the physical laptop.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 tension: evidence discipline prevented a false leaderboard claim.</a:t>
            </a:r>
          </a:p>
          <a:p xmlns:a="http://schemas.openxmlformats.org/drawingml/2006/main">
            <a:r>
              <a:t>End on the next defensible experiment, not a generic thank-you slide.</a:t>
            </a:r>
          </a:p>
          <a:p xmlns:a="http://schemas.openxmlformats.org/drawingml/2006/main">
            <a:r>
              <a:t>Invite questions about evidence boundaries, the matched ablation, or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2d69d6b1f140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bac1be61164b79" /><Relationship Type="http://schemas.openxmlformats.org/officeDocument/2006/relationships/slideLayout" Target="/ppt/slideLayouts/slideLayout1.xml" Id="Re2d36afe19c341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d36afe19c341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cd89747744d81" /><Relationship Type="http://schemas.openxmlformats.org/officeDocument/2006/relationships/notesSlide" Target="/ppt/notesSlides/notesSlide1.xml" Id="Raa1743a199554c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ca8c1df2f4f67" /><Relationship Type="http://schemas.openxmlformats.org/officeDocument/2006/relationships/notesSlide" Target="/ppt/notesSlides/notesSlide2.xml" Id="R5154091049b04e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b9a602e764f55" /><Relationship Type="http://schemas.openxmlformats.org/officeDocument/2006/relationships/notesSlide" Target="/ppt/notesSlides/notesSlide3.xml" Id="Ra208e7e9d5b946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6612377e34139" /><Relationship Type="http://schemas.openxmlformats.org/officeDocument/2006/relationships/notesSlide" Target="/ppt/notesSlides/notesSlide4.xml" Id="R6c7a2e279f6645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42a6ed2204388" /><Relationship Type="http://schemas.openxmlformats.org/officeDocument/2006/relationships/notesSlide" Target="/ppt/notesSlides/notesSlide5.xml" Id="R2394b408f0c24c0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4fd3e69664986" /><Relationship Type="http://schemas.openxmlformats.org/officeDocument/2006/relationships/notesSlide" Target="/ppt/notesSlides/notesSlide6.xml" Id="R1e9dc61b573444a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4a9ccedb14fa7" /><Relationship Type="http://schemas.openxmlformats.org/officeDocument/2006/relationships/notesSlide" Target="/ppt/notesSlides/notesSlide7.xml" Id="R610d099b623541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f8ce0d2cf49b5" /><Relationship Type="http://schemas.openxmlformats.org/officeDocument/2006/relationships/notesSlide" Target="/ppt/notesSlides/notesSlide8.xml" Id="R7cfc6c3eb2ec4a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cfc8ad25144f0" /><Relationship Type="http://schemas.openxmlformats.org/officeDocument/2006/relationships/image" Target="/ppt/media/image.png" Id="R20358388a4084414" /><Relationship Type="http://schemas.openxmlformats.org/officeDocument/2006/relationships/notesSlide" Target="/ppt/notesSlides/notesSlide9.xml" Id="Rc916b18634184c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65ce0b55ea49c5" /><Relationship Type="http://schemas.openxmlformats.org/officeDocument/2006/relationships/image" Target="/ppt/media/image2.png" Id="Rf03bb088bbcf45ef" /><Relationship Type="http://schemas.openxmlformats.org/officeDocument/2006/relationships/notesSlide" Target="/ppt/notesSlides/notesSlide10.xml" Id="R2547862d21c440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bc08108154f86" /><Relationship Type="http://schemas.openxmlformats.org/officeDocument/2006/relationships/notesSlide" Target="/ppt/notesSlides/notesSlide11.xml" Id="R4d456721c7734e1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43a2049e64e59" /><Relationship Type="http://schemas.openxmlformats.org/officeDocument/2006/relationships/notesSlide" Target="/ppt/notesSlides/notesSlide12.xml" Id="Rcdbdba1263794c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D2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rust-field">
            <a:extLst xmlns:a="http://schemas.openxmlformats.org/drawingml/2006/main">
              <a:ext uri="{FF2B5EF4-FFF2-40B4-BE49-F238E27FC236}">
                <a16:creationId xmlns:a16="http://schemas.microsoft.com/office/drawing/2014/main" id="{349B5ECC-00DA-49EE-B9B7-F78057AF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teal-field">
            <a:extLst xmlns:a="http://schemas.openxmlformats.org/drawingml/2006/main">
              <a:ext uri="{FF2B5EF4-FFF2-40B4-BE49-F238E27FC236}">
                <a16:creationId xmlns:a16="http://schemas.microsoft.com/office/drawing/2014/main" id="{43D53898-32B6-4CBC-8358-10B043B4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0"/>
            <a:ext cx="238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74FDA81D-261A-48A0-8CA3-CDCB8B9B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8C39D"/>
                </a:solidFill>
              </a:defRPr>
            </a:pPr>
            <a:r>
              <a:rPr sz="975" b="1" i="0">
                <a:solidFill>
                  <a:srgbClr val="D8C39D"/>
                </a:solidFill>
              </a:rPr>
              <a:t>IMP PROJECT RESEARCH DEFENSE</a:t>
            </a:r>
          </a:p>
        </p:txBody>
      </p:sp>
      <p:sp>
        <p:nvSpPr>
          <p:cNvPr id="4" name="title-main">
            <a:extLst xmlns:a="http://schemas.openxmlformats.org/drawingml/2006/main">
              <a:ext uri="{FF2B5EF4-FFF2-40B4-BE49-F238E27FC236}">
                <a16:creationId xmlns:a16="http://schemas.microsoft.com/office/drawing/2014/main" id="{E2ADA34A-E238-42CF-84F5-26499BF2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95400"/>
            <a:ext cx="8001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F4EFE4"/>
                </a:solidFill>
              </a:defRPr>
            </a:pPr>
            <a:r>
              <a:rPr sz="4800" b="1" i="0">
                <a:solidFill>
                  <a:srgbClr val="F4EFE4"/>
                </a:solidFill>
              </a:rPr>
              <a:t>Evidence before leaderboard claims</a:t>
            </a:r>
          </a:p>
        </p:txBody>
      </p:sp>
      <p:sp>
        <p:nvSpPr>
          <p:cNvPr id="5" name="title-claim">
            <a:extLst xmlns:a="http://schemas.openxmlformats.org/drawingml/2006/main">
              <a:ext uri="{FF2B5EF4-FFF2-40B4-BE49-F238E27FC236}">
                <a16:creationId xmlns:a16="http://schemas.microsoft.com/office/drawing/2014/main" id="{9E34F19F-4606-43F5-B1DF-3FEB1B38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742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D6E7E1"/>
                </a:solidFill>
              </a:defRPr>
            </a:pPr>
            <a:r>
              <a:rPr sz="1725" b="0" i="0">
                <a:solidFill>
                  <a:srgbClr val="D6E7E1"/>
                </a:solidFill>
              </a:rPr>
              <a:t>A repaired evidence contract turns a contaminated benchmark and a failed hypothesis into defensible research.</a:t>
            </a:r>
          </a:p>
        </p:txBody>
      </p:sp>
      <p:sp>
        <p:nvSpPr>
          <p:cNvPr id="6" name="title-rule">
            <a:extLst xmlns:a="http://schemas.openxmlformats.org/drawingml/2006/main">
              <a:ext uri="{FF2B5EF4-FFF2-40B4-BE49-F238E27FC236}">
                <a16:creationId xmlns:a16="http://schemas.microsoft.com/office/drawing/2014/main" id="{6716ABBB-D0A7-45EF-BF56-C6A1BD9D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tle-baseline">
            <a:extLst xmlns:a="http://schemas.openxmlformats.org/drawingml/2006/main">
              <a:ext uri="{FF2B5EF4-FFF2-40B4-BE49-F238E27FC236}">
                <a16:creationId xmlns:a16="http://schemas.microsoft.com/office/drawing/2014/main" id="{A0A049F1-0D80-49AC-9994-7134BA30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4EFE4"/>
                </a:solidFill>
              </a:defRPr>
            </a:pPr>
            <a:r>
              <a:rPr sz="1500" b="1" i="0">
                <a:solidFill>
                  <a:srgbClr val="F4EFE4"/>
                </a:solidFill>
              </a:rPr>
              <a:t>MiT-B3 U-Net versus nnU-Net v2</a:t>
            </a:r>
          </a:p>
        </p:txBody>
      </p:sp>
      <p:sp>
        <p:nvSpPr>
          <p:cNvPr id="8" name="title-boundary">
            <a:extLst xmlns:a="http://schemas.openxmlformats.org/drawingml/2006/main">
              <a:ext uri="{FF2B5EF4-FFF2-40B4-BE49-F238E27FC236}">
                <a16:creationId xmlns:a16="http://schemas.microsoft.com/office/drawing/2014/main" id="{B9C46512-BAB5-4A2A-A9FD-A2F0038D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8C39D"/>
                </a:solidFill>
              </a:defRPr>
            </a:pPr>
            <a:r>
              <a:rPr sz="1200" b="0" i="0">
                <a:solidFill>
                  <a:srgbClr val="D8C39D"/>
                </a:solidFill>
              </a:rPr>
              <a:t>Negative contour-channel ablation</a:t>
            </a:r>
          </a:p>
          <a:p xmlns:a="http://schemas.openxmlformats.org/drawingml/2006/main">
            <a:pPr algn="l">
              <a:defRPr sz="1200" b="0" i="0">
                <a:solidFill>
                  <a:srgbClr val="D8C39D"/>
                </a:solidFill>
              </a:defRPr>
            </a:pPr>
            <a:r>
              <a:rPr sz="1200" b="0" i="0">
                <a:solidFill>
                  <a:srgbClr val="D8C39D"/>
                </a:solidFill>
              </a:rPr>
              <a:t>Protected test remains sealed; this is not state of the art</a:t>
            </a:r>
          </a:p>
        </p:txBody>
      </p:sp>
      <p:sp>
        <p:nvSpPr>
          <p:cNvPr id="9" name="title-atlas">
            <a:extLst xmlns:a="http://schemas.openxmlformats.org/drawingml/2006/main">
              <a:ext uri="{FF2B5EF4-FFF2-40B4-BE49-F238E27FC236}">
                <a16:creationId xmlns:a16="http://schemas.microsoft.com/office/drawing/2014/main" id="{6EFAD410-4A18-4AEF-8B53-922DF041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200150"/>
            <a:ext cx="171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75" b="1" i="0">
                <a:solidFill>
                  <a:srgbClr val="F4EFE4"/>
                </a:solidFill>
              </a:defRPr>
            </a:pPr>
            <a:r>
              <a:rPr sz="2775" b="1" i="0">
                <a:solidFill>
                  <a:srgbClr val="F4EFE4"/>
                </a:solidFill>
              </a:rPr>
              <a:t>EVIDENCE</a:t>
            </a:r>
          </a:p>
          <a:p xmlns:a="http://schemas.openxmlformats.org/drawingml/2006/main">
            <a:pPr algn="ctr">
              <a:defRPr sz="2775" b="1" i="0">
                <a:solidFill>
                  <a:srgbClr val="F4EFE4"/>
                </a:solidFill>
              </a:defRPr>
            </a:pPr>
            <a:r>
              <a:rPr sz="2775" b="1" i="0">
                <a:solidFill>
                  <a:srgbClr val="F4EFE4"/>
                </a:solidFill>
              </a:rPr>
              <a:t>ATLAS</a:t>
            </a:r>
          </a:p>
        </p:txBody>
      </p:sp>
      <p:sp>
        <p:nvSpPr>
          <p:cNvPr id="10" name="title-meta">
            <a:extLst xmlns:a="http://schemas.openxmlformats.org/drawingml/2006/main">
              <a:ext uri="{FF2B5EF4-FFF2-40B4-BE49-F238E27FC236}">
                <a16:creationId xmlns:a16="http://schemas.microsoft.com/office/drawing/2014/main" id="{0097C2B1-D7D0-42DB-862F-7B9DABC8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6197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4EFE4"/>
                </a:solidFill>
              </a:defRPr>
            </a:pPr>
            <a:r>
              <a:rPr sz="975" b="0" i="0">
                <a:solidFill>
                  <a:srgbClr val="F4EFE4"/>
                </a:solidFill>
              </a:rPr>
              <a:t>research report | July 2026</a:t>
            </a:r>
          </a:p>
        </p:txBody>
      </p:sp>
    </p:spTree>
    <p:extLst>
      <p:ext uri="{BB962C8B-B14F-4D97-AF65-F5344CB8AC3E}">
        <p14:creationId xmlns:p14="http://schemas.microsoft.com/office/powerpoint/2010/main" val="703529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rule-2">
            <a:extLst xmlns:a="http://schemas.openxmlformats.org/drawingml/2006/main">
              <a:ext uri="{FF2B5EF4-FFF2-40B4-BE49-F238E27FC236}">
                <a16:creationId xmlns:a16="http://schemas.microsoft.com/office/drawing/2014/main" id="{E16F9AE5-2539-468C-B3D7-C624855C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1DDBE280-00A4-4FE9-B88F-5F22BC9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WHY THE STUDY NEEDED REPAIR</a:t>
            </a:r>
          </a:p>
        </p:txBody>
      </p:sp>
      <p:sp>
        <p:nvSpPr>
          <p:cNvPr id="3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5BC77213-A734-477D-AE1E-EE0AE7E1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Leakage changed the meaning of every favorable score</a:t>
            </a:r>
          </a:p>
        </p:txBody>
      </p:sp>
      <p:sp>
        <p:nvSpPr>
          <p:cNvPr id="4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6854CDB9-CBC6-42CA-953C-B0184D80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2">
            <a:extLst xmlns:a="http://schemas.openxmlformats.org/drawingml/2006/main">
              <a:ext uri="{FF2B5EF4-FFF2-40B4-BE49-F238E27FC236}">
                <a16:creationId xmlns:a16="http://schemas.microsoft.com/office/drawing/2014/main" id="{64127443-49B2-495F-9BC4-E934B389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legacy_patient_contaminated</a:t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60DA5E00-1A34-4DA5-BEC4-3DDC823ED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02</a:t>
            </a:r>
          </a:p>
        </p:txBody>
      </p:sp>
      <p:sp>
        <p:nvSpPr>
          <p:cNvPr id="7" name="s02-leakage-claim-mark">
            <a:extLst xmlns:a="http://schemas.openxmlformats.org/drawingml/2006/main">
              <a:ext uri="{FF2B5EF4-FFF2-40B4-BE49-F238E27FC236}">
                <a16:creationId xmlns:a16="http://schemas.microsoft.com/office/drawing/2014/main" id="{1D39D8C7-61FF-4246-902F-0FDB722F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2-leakage-claim">
            <a:extLst xmlns:a="http://schemas.openxmlformats.org/drawingml/2006/main">
              <a:ext uri="{FF2B5EF4-FFF2-40B4-BE49-F238E27FC236}">
                <a16:creationId xmlns:a16="http://schemas.microsoft.com/office/drawing/2014/main" id="{EB33DAF9-1B35-440F-BAE8-9615ABEC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Three patient identities and 13 rows crossed legacy split boundaries, so the old leaderboard became historical evidence rather than a scientific ranking.</a:t>
            </a:r>
          </a:p>
        </p:txBody>
      </p:sp>
      <p:sp>
        <p:nvSpPr>
          <p:cNvPr id="9" name="leakage-boundary">
            <a:extLst xmlns:a="http://schemas.openxmlformats.org/drawingml/2006/main">
              <a:ext uri="{FF2B5EF4-FFF2-40B4-BE49-F238E27FC236}">
                <a16:creationId xmlns:a16="http://schemas.microsoft.com/office/drawing/2014/main" id="{06E99B0C-AD4C-4204-9CE5-C405517A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47950"/>
            <a:ext cx="381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eakage-cross-1">
            <a:extLst xmlns:a="http://schemas.openxmlformats.org/drawingml/2006/main">
              <a:ext uri="{FF2B5EF4-FFF2-40B4-BE49-F238E27FC236}">
                <a16:creationId xmlns:a16="http://schemas.microsoft.com/office/drawing/2014/main" id="{237F44F6-0645-4C9A-9361-017983F0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1945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eakage-cross-2">
            <a:extLst xmlns:a="http://schemas.openxmlformats.org/drawingml/2006/main">
              <a:ext uri="{FF2B5EF4-FFF2-40B4-BE49-F238E27FC236}">
                <a16:creationId xmlns:a16="http://schemas.microsoft.com/office/drawing/2014/main" id="{E446C080-05D8-408E-810E-8BD8E2A3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386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eakage-cross-3">
            <a:extLst xmlns:a="http://schemas.openxmlformats.org/drawingml/2006/main">
              <a:ext uri="{FF2B5EF4-FFF2-40B4-BE49-F238E27FC236}">
                <a16:creationId xmlns:a16="http://schemas.microsoft.com/office/drawing/2014/main" id="{8B2A3EB9-B05B-47CD-8A81-FB92AADE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5775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02-leakage-crossing patient IDs-value">
            <a:extLst xmlns:a="http://schemas.openxmlformats.org/drawingml/2006/main">
              <a:ext uri="{FF2B5EF4-FFF2-40B4-BE49-F238E27FC236}">
                <a16:creationId xmlns:a16="http://schemas.microsoft.com/office/drawing/2014/main" id="{892D3F56-2C47-421B-83FA-F0610AAA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B54E36"/>
                </a:solidFill>
              </a:defRPr>
            </a:pPr>
            <a:r>
              <a:rPr sz="3375" b="1" i="0">
                <a:solidFill>
                  <a:srgbClr val="B54E36"/>
                </a:solidFill>
              </a:rPr>
              <a:t>3</a:t>
            </a:r>
          </a:p>
        </p:txBody>
      </p:sp>
      <p:sp>
        <p:nvSpPr>
          <p:cNvPr id="14" name="s02-leakage-crossing patient IDs-label">
            <a:extLst xmlns:a="http://schemas.openxmlformats.org/drawingml/2006/main">
              <a:ext uri="{FF2B5EF4-FFF2-40B4-BE49-F238E27FC236}">
                <a16:creationId xmlns:a16="http://schemas.microsoft.com/office/drawing/2014/main" id="{581C78FB-6149-4494-B189-594DCD31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crossing patient IDs</a:t>
            </a:r>
          </a:p>
        </p:txBody>
      </p:sp>
      <p:sp>
        <p:nvSpPr>
          <p:cNvPr id="15" name="s02-leakage-cross-boundary rows-value">
            <a:extLst xmlns:a="http://schemas.openxmlformats.org/drawingml/2006/main">
              <a:ext uri="{FF2B5EF4-FFF2-40B4-BE49-F238E27FC236}">
                <a16:creationId xmlns:a16="http://schemas.microsoft.com/office/drawing/2014/main" id="{2E7A9922-2C9F-4A94-B958-6E995CFF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B54E36"/>
                </a:solidFill>
              </a:defRPr>
            </a:pPr>
            <a:r>
              <a:rPr sz="3375" b="1" i="0">
                <a:solidFill>
                  <a:srgbClr val="B54E36"/>
                </a:solidFill>
              </a:rPr>
              <a:t>13</a:t>
            </a:r>
          </a:p>
        </p:txBody>
      </p:sp>
      <p:sp>
        <p:nvSpPr>
          <p:cNvPr id="16" name="s02-leakage-cross-boundary rows-label">
            <a:extLst xmlns:a="http://schemas.openxmlformats.org/drawingml/2006/main">
              <a:ext uri="{FF2B5EF4-FFF2-40B4-BE49-F238E27FC236}">
                <a16:creationId xmlns:a16="http://schemas.microsoft.com/office/drawing/2014/main" id="{33ADBF1E-B055-40D7-8DAE-23E1A51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cross-boundary rows</a:t>
            </a:r>
          </a:p>
        </p:txBody>
      </p:sp>
      <p:sp>
        <p:nvSpPr>
          <p:cNvPr id="17" name="s02-leakage-bullet-0">
            <a:extLst xmlns:a="http://schemas.openxmlformats.org/drawingml/2006/main">
              <a:ext uri="{FF2B5EF4-FFF2-40B4-BE49-F238E27FC236}">
                <a16:creationId xmlns:a16="http://schemas.microsoft.com/office/drawing/2014/main" id="{9A14A074-ABEC-4FFF-9266-07BD8CD8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02-leakage-body-0">
            <a:extLst xmlns:a="http://schemas.openxmlformats.org/drawingml/2006/main">
              <a:ext uri="{FF2B5EF4-FFF2-40B4-BE49-F238E27FC236}">
                <a16:creationId xmlns:a16="http://schemas.microsoft.com/office/drawing/2014/main" id="{A5D7559D-4EB1-4A15-89EA-15219006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81300"/>
            <a:ext cx="607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D211F"/>
                </a:solidFill>
              </a:defRPr>
            </a:pPr>
            <a:r>
              <a:rPr sz="1350" b="0" i="0">
                <a:solidFill>
                  <a:srgbClr val="1D211F"/>
                </a:solidFill>
              </a:rPr>
              <a:t>Patient overlap violates independent patient-level interpretation.</a:t>
            </a:r>
          </a:p>
        </p:txBody>
      </p:sp>
      <p:sp>
        <p:nvSpPr>
          <p:cNvPr id="19" name="s02-leakage-bullet-1">
            <a:extLst xmlns:a="http://schemas.openxmlformats.org/drawingml/2006/main">
              <a:ext uri="{FF2B5EF4-FFF2-40B4-BE49-F238E27FC236}">
                <a16:creationId xmlns:a16="http://schemas.microsoft.com/office/drawing/2014/main" id="{83F973FE-1B4E-41EB-BF08-C58F575E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71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02-leakage-body-1">
            <a:extLst xmlns:a="http://schemas.openxmlformats.org/drawingml/2006/main">
              <a:ext uri="{FF2B5EF4-FFF2-40B4-BE49-F238E27FC236}">
                <a16:creationId xmlns:a16="http://schemas.microsoft.com/office/drawing/2014/main" id="{104F809B-FD46-4E47-8424-79D26637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86150"/>
            <a:ext cx="607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D211F"/>
                </a:solidFill>
              </a:defRPr>
            </a:pPr>
            <a:r>
              <a:rPr sz="1350" b="0" i="0">
                <a:solidFill>
                  <a:srgbClr val="1D211F"/>
                </a:solidFill>
              </a:rPr>
              <a:t>Old test-v2 values remain visible only as contamination-aware history.</a:t>
            </a:r>
          </a:p>
        </p:txBody>
      </p:sp>
      <p:sp>
        <p:nvSpPr>
          <p:cNvPr id="21" name="s02-leakage-bullet-2">
            <a:extLst xmlns:a="http://schemas.openxmlformats.org/drawingml/2006/main">
              <a:ext uri="{FF2B5EF4-FFF2-40B4-BE49-F238E27FC236}">
                <a16:creationId xmlns:a16="http://schemas.microsoft.com/office/drawing/2014/main" id="{C014134B-E04C-4B7D-B27F-94CC277B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76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02-leakage-body-2">
            <a:extLst xmlns:a="http://schemas.openxmlformats.org/drawingml/2006/main">
              <a:ext uri="{FF2B5EF4-FFF2-40B4-BE49-F238E27FC236}">
                <a16:creationId xmlns:a16="http://schemas.microsoft.com/office/drawing/2014/main" id="{5E067B58-0786-497F-8586-459DB51D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91000"/>
            <a:ext cx="607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D211F"/>
                </a:solidFill>
              </a:defRPr>
            </a:pPr>
            <a:r>
              <a:rPr sz="1350" b="0" i="0">
                <a:solidFill>
                  <a:srgbClr val="1D211F"/>
                </a:solidFill>
              </a:rPr>
              <a:t>The repair starts with identity groups, not model tuning.</a:t>
            </a:r>
          </a:p>
        </p:txBody>
      </p:sp>
    </p:spTree>
    <p:extLst>
      <p:ext uri="{BB962C8B-B14F-4D97-AF65-F5344CB8AC3E}">
        <p14:creationId xmlns:p14="http://schemas.microsoft.com/office/powerpoint/2010/main" val="17596530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rule-3">
            <a:extLst xmlns:a="http://schemas.openxmlformats.org/drawingml/2006/main">
              <a:ext uri="{FF2B5EF4-FFF2-40B4-BE49-F238E27FC236}">
                <a16:creationId xmlns:a16="http://schemas.microsoft.com/office/drawing/2014/main" id="{BFC25A31-C5F6-4B54-B266-527595F6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C08DA803-FE85-4C97-A02B-EA707A52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BOUNDED RESEARCH QUESTIONS</a:t>
            </a:r>
          </a:p>
        </p:txBody>
      </p:sp>
      <p:sp>
        <p:nvSpPr>
          <p:cNvPr id="3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51F8D20D-6374-41E1-A933-5306A7EB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Two hypotheses, two evidence classes</a:t>
            </a:r>
          </a:p>
        </p:txBody>
      </p:sp>
      <p:sp>
        <p:nvSpPr>
          <p:cNvPr id="4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0C1FDF53-AF6A-445E-8786-983EED71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3">
            <a:extLst xmlns:a="http://schemas.openxmlformats.org/drawingml/2006/main">
              <a:ext uri="{FF2B5EF4-FFF2-40B4-BE49-F238E27FC236}">
                <a16:creationId xmlns:a16="http://schemas.microsoft.com/office/drawing/2014/main" id="{AD519990-ED4B-4DC7-A700-CDE70617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adaptive development-validation + train_screen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FC2306DD-CBEF-4524-8894-D3F5EDDF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03</a:t>
            </a:r>
          </a:p>
        </p:txBody>
      </p:sp>
      <p:sp>
        <p:nvSpPr>
          <p:cNvPr id="7" name="s03-questions-claim-mark">
            <a:extLst xmlns:a="http://schemas.openxmlformats.org/drawingml/2006/main">
              <a:ext uri="{FF2B5EF4-FFF2-40B4-BE49-F238E27FC236}">
                <a16:creationId xmlns:a16="http://schemas.microsoft.com/office/drawing/2014/main" id="{2045A6EC-5153-465C-93E2-476D1463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3-questions-claim">
            <a:extLst xmlns:a="http://schemas.openxmlformats.org/drawingml/2006/main">
              <a:ext uri="{FF2B5EF4-FFF2-40B4-BE49-F238E27FC236}">
                <a16:creationId xmlns:a16="http://schemas.microsoft.com/office/drawing/2014/main" id="{0F1DC671-A996-429B-96CE-BEBE2432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architecture comparison and the contour-channel ablation answer different questions and must not be collapsed into one ranking.</a:t>
            </a:r>
          </a:p>
        </p:txBody>
      </p:sp>
      <p:sp>
        <p:nvSpPr>
          <p:cNvPr id="9" name="question-divider">
            <a:extLst xmlns:a="http://schemas.openxmlformats.org/drawingml/2006/main">
              <a:ext uri="{FF2B5EF4-FFF2-40B4-BE49-F238E27FC236}">
                <a16:creationId xmlns:a16="http://schemas.microsoft.com/office/drawing/2014/main" id="{D6784B5E-D41D-484E-B794-61D01F5E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241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q1-label">
            <a:extLst xmlns:a="http://schemas.openxmlformats.org/drawingml/2006/main">
              <a:ext uri="{FF2B5EF4-FFF2-40B4-BE49-F238E27FC236}">
                <a16:creationId xmlns:a16="http://schemas.microsoft.com/office/drawing/2014/main" id="{394BEBCB-BC26-4C96-BD7F-DCAE44A4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7D76"/>
                </a:solidFill>
              </a:defRPr>
            </a:pPr>
            <a:r>
              <a:rPr sz="2850" b="1" i="0">
                <a:solidFill>
                  <a:srgbClr val="177D76"/>
                </a:solidFill>
              </a:rPr>
              <a:t>RQ1</a:t>
            </a:r>
          </a:p>
        </p:txBody>
      </p:sp>
      <p:sp>
        <p:nvSpPr>
          <p:cNvPr id="11" name="rq1-question">
            <a:extLst xmlns:a="http://schemas.openxmlformats.org/drawingml/2006/main">
              <a:ext uri="{FF2B5EF4-FFF2-40B4-BE49-F238E27FC236}">
                <a16:creationId xmlns:a16="http://schemas.microsoft.com/office/drawing/2014/main" id="{6F5CF932-BCFB-4A10-9231-3A149B3C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How do complete MiT-B3 and nnU-Net systems trade overlap, boundary quality, precision, and recall?</a:t>
            </a:r>
          </a:p>
        </p:txBody>
      </p:sp>
      <p:sp>
        <p:nvSpPr>
          <p:cNvPr id="12" name="rq1-contract">
            <a:extLst xmlns:a="http://schemas.openxmlformats.org/drawingml/2006/main">
              <a:ext uri="{FF2B5EF4-FFF2-40B4-BE49-F238E27FC236}">
                <a16:creationId xmlns:a16="http://schemas.microsoft.com/office/drawing/2014/main" id="{18480D93-C026-4726-A401-414DAAF0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System comparison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Single recorded run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Descriptive inference</a:t>
            </a:r>
          </a:p>
        </p:txBody>
      </p:sp>
      <p:sp>
        <p:nvSpPr>
          <p:cNvPr id="13" name="rq2-label">
            <a:extLst xmlns:a="http://schemas.openxmlformats.org/drawingml/2006/main">
              <a:ext uri="{FF2B5EF4-FFF2-40B4-BE49-F238E27FC236}">
                <a16:creationId xmlns:a16="http://schemas.microsoft.com/office/drawing/2014/main" id="{EF86A507-9522-4518-8758-6191FAE1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54E36"/>
                </a:solidFill>
              </a:defRPr>
            </a:pPr>
            <a:r>
              <a:rPr sz="2850" b="1" i="0">
                <a:solidFill>
                  <a:srgbClr val="B54E36"/>
                </a:solidFill>
              </a:rPr>
              <a:t>RQ2</a:t>
            </a:r>
          </a:p>
        </p:txBody>
      </p:sp>
      <p:sp>
        <p:nvSpPr>
          <p:cNvPr id="14" name="rq2-question">
            <a:extLst xmlns:a="http://schemas.openxmlformats.org/drawingml/2006/main">
              <a:ext uri="{FF2B5EF4-FFF2-40B4-BE49-F238E27FC236}">
                <a16:creationId xmlns:a16="http://schemas.microsoft.com/office/drawing/2014/main" id="{166FDD76-3BDF-444D-840E-0A5BC8A3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Does a saliency-constrained contour channel improve a matched MiT-B3 control?</a:t>
            </a:r>
          </a:p>
        </p:txBody>
      </p:sp>
      <p:sp>
        <p:nvSpPr>
          <p:cNvPr id="15" name="rq2-contract">
            <a:extLst xmlns:a="http://schemas.openxmlformats.org/drawingml/2006/main">
              <a:ext uri="{FF2B5EF4-FFF2-40B4-BE49-F238E27FC236}">
                <a16:creationId xmlns:a16="http://schemas.microsoft.com/office/drawing/2014/main" id="{393C3A1F-14FF-4F74-9CFB-918DEB50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958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Matched intervention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Three selected seeds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Conditional paired inference</a:t>
            </a:r>
          </a:p>
        </p:txBody>
      </p:sp>
    </p:spTree>
    <p:extLst>
      <p:ext uri="{BB962C8B-B14F-4D97-AF65-F5344CB8AC3E}">
        <p14:creationId xmlns:p14="http://schemas.microsoft.com/office/powerpoint/2010/main" val="21253036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rule-4">
            <a:extLst xmlns:a="http://schemas.openxmlformats.org/drawingml/2006/main">
              <a:ext uri="{FF2B5EF4-FFF2-40B4-BE49-F238E27FC236}">
                <a16:creationId xmlns:a16="http://schemas.microsoft.com/office/drawing/2014/main" id="{88DBF75F-9EC7-4A18-8BEC-A53CD89C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0AD44117-937D-424B-9BDE-14D957F8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CLICK A MODULE TO INSPECT IT</a:t>
            </a:r>
          </a:p>
        </p:txBody>
      </p:sp>
      <p:sp>
        <p:nvSpPr>
          <p:cNvPr id="3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0B1C8543-0817-4008-B1D8-D447F0E2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The claim can only be as strong as its weakest evidence boundary</a:t>
            </a:r>
          </a:p>
        </p:txBody>
      </p:sp>
      <p:sp>
        <p:nvSpPr>
          <p:cNvPr id="4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A64DAE-B665-4D6C-AD17-040F633E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4">
            <a:extLst xmlns:a="http://schemas.openxmlformats.org/drawingml/2006/main">
              <a:ext uri="{FF2B5EF4-FFF2-40B4-BE49-F238E27FC236}">
                <a16:creationId xmlns:a16="http://schemas.microsoft.com/office/drawing/2014/main" id="{C0041B60-F2DD-4156-8A70-8A0AB2A0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interactive evidence pipeline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6CB4D3BB-75F2-4D2D-AB63-1A26B276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04</a:t>
            </a:r>
          </a:p>
        </p:txBody>
      </p:sp>
      <p:sp>
        <p:nvSpPr>
          <p:cNvPr id="7" name="s04-pipeline-claim-mark">
            <a:extLst xmlns:a="http://schemas.openxmlformats.org/drawingml/2006/main">
              <a:ext uri="{FF2B5EF4-FFF2-40B4-BE49-F238E27FC236}">
                <a16:creationId xmlns:a16="http://schemas.microsoft.com/office/drawing/2014/main" id="{5F34B324-CB9B-4E07-B683-F9DCB3DF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4-pipeline-claim">
            <a:extLst xmlns:a="http://schemas.openxmlformats.org/drawingml/2006/main">
              <a:ext uri="{FF2B5EF4-FFF2-40B4-BE49-F238E27FC236}">
                <a16:creationId xmlns:a16="http://schemas.microsoft.com/office/drawing/2014/main" id="{8F6D2116-D745-4D7B-A37D-AFABF1D7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Every model output passes through data, protocol, metric, and claim gates before it reaches the paper or demo.</a:t>
            </a:r>
          </a:p>
        </p:txBody>
      </p:sp>
      <p:sp>
        <p:nvSpPr>
          <p:cNvPr id="9" name="pipeline-edge-0">
            <a:extLst xmlns:a="http://schemas.openxmlformats.org/drawingml/2006/main">
              <a:ext uri="{FF2B5EF4-FFF2-40B4-BE49-F238E27FC236}">
                <a16:creationId xmlns:a16="http://schemas.microsoft.com/office/drawing/2014/main" id="{A92FD8D3-9C56-4642-BFCC-ED35E254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peline-edge-1">
            <a:extLst xmlns:a="http://schemas.openxmlformats.org/drawingml/2006/main">
              <a:ext uri="{FF2B5EF4-FFF2-40B4-BE49-F238E27FC236}">
                <a16:creationId xmlns:a16="http://schemas.microsoft.com/office/drawing/2014/main" id="{0954AA08-9474-427A-AAC6-1E8934DC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ipeline-edge-2">
            <a:extLst xmlns:a="http://schemas.openxmlformats.org/drawingml/2006/main">
              <a:ext uri="{FF2B5EF4-FFF2-40B4-BE49-F238E27FC236}">
                <a16:creationId xmlns:a16="http://schemas.microsoft.com/office/drawing/2014/main" id="{A9F35EFF-E440-49F4-A612-4C911410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ipeline-edge-3">
            <a:extLst xmlns:a="http://schemas.openxmlformats.org/drawingml/2006/main">
              <a:ext uri="{FF2B5EF4-FFF2-40B4-BE49-F238E27FC236}">
                <a16:creationId xmlns:a16="http://schemas.microsoft.com/office/drawing/2014/main" id="{F267F745-7C55-40B0-A9C4-22A145EC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ipeline-edge-4">
            <a:extLst xmlns:a="http://schemas.openxmlformats.org/drawingml/2006/main">
              <a:ext uri="{FF2B5EF4-FFF2-40B4-BE49-F238E27FC236}">
                <a16:creationId xmlns:a16="http://schemas.microsoft.com/office/drawing/2014/main" id="{807D42CD-313F-49FF-B695-DCBCAC9D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peline-node-0">
            <a:extLst xmlns:a="http://schemas.openxmlformats.org/drawingml/2006/main">
              <a:ext uri="{FF2B5EF4-FFF2-40B4-BE49-F238E27FC236}">
                <a16:creationId xmlns:a16="http://schemas.microsoft.com/office/drawing/2014/main" id="{21B53D76-5D2A-4585-8286-8B1DE031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15" name="pipeline-number-0">
            <a:extLst xmlns:a="http://schemas.openxmlformats.org/drawingml/2006/main">
              <a:ext uri="{FF2B5EF4-FFF2-40B4-BE49-F238E27FC236}">
                <a16:creationId xmlns:a16="http://schemas.microsoft.com/office/drawing/2014/main" id="{F5142106-D1AA-4D19-8B41-8B702F44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01</a:t>
            </a:r>
          </a:p>
        </p:txBody>
      </p:sp>
      <p:sp>
        <p:nvSpPr>
          <p:cNvPr id="16" name="pipeline-label-0">
            <a:extLst xmlns:a="http://schemas.openxmlformats.org/drawingml/2006/main">
              <a:ext uri="{FF2B5EF4-FFF2-40B4-BE49-F238E27FC236}">
                <a16:creationId xmlns:a16="http://schemas.microsoft.com/office/drawing/2014/main" id="{91BE28E7-39B9-4FE4-AB4E-9D0F39E3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Data Audit</a:t>
            </a:r>
          </a:p>
        </p:txBody>
      </p:sp>
      <p:sp>
        <p:nvSpPr>
          <p:cNvPr id="17" name="pipeline-node-1">
            <a:extLst xmlns:a="http://schemas.openxmlformats.org/drawingml/2006/main">
              <a:ext uri="{FF2B5EF4-FFF2-40B4-BE49-F238E27FC236}">
                <a16:creationId xmlns:a16="http://schemas.microsoft.com/office/drawing/2014/main" id="{F8FDF238-C2CA-4E4B-A208-96B1BF3F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8C39D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18" name="pipeline-number-1">
            <a:extLst xmlns:a="http://schemas.openxmlformats.org/drawingml/2006/main">
              <a:ext uri="{FF2B5EF4-FFF2-40B4-BE49-F238E27FC236}">
                <a16:creationId xmlns:a16="http://schemas.microsoft.com/office/drawing/2014/main" id="{871D5FAA-EDB8-4FB0-B9F2-C4B6E4C0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02</a:t>
            </a:r>
          </a:p>
        </p:txBody>
      </p:sp>
      <p:sp>
        <p:nvSpPr>
          <p:cNvPr id="19" name="pipeline-label-1">
            <a:extLst xmlns:a="http://schemas.openxmlformats.org/drawingml/2006/main">
              <a:ext uri="{FF2B5EF4-FFF2-40B4-BE49-F238E27FC236}">
                <a16:creationId xmlns:a16="http://schemas.microsoft.com/office/drawing/2014/main" id="{7678BB07-D125-43FF-B917-CB70AB1D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Preprocessing</a:t>
            </a:r>
          </a:p>
        </p:txBody>
      </p:sp>
      <p:sp>
        <p:nvSpPr>
          <p:cNvPr id="20" name="pipeline-node-2">
            <a:extLst xmlns:a="http://schemas.openxmlformats.org/drawingml/2006/main">
              <a:ext uri="{FF2B5EF4-FFF2-40B4-BE49-F238E27FC236}">
                <a16:creationId xmlns:a16="http://schemas.microsoft.com/office/drawing/2014/main" id="{7ABCBCCD-9649-4071-A9CC-7CCA26D8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D211F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21" name="pipeline-number-2">
            <a:extLst xmlns:a="http://schemas.openxmlformats.org/drawingml/2006/main">
              <a:ext uri="{FF2B5EF4-FFF2-40B4-BE49-F238E27FC236}">
                <a16:creationId xmlns:a16="http://schemas.microsoft.com/office/drawing/2014/main" id="{CB5DC307-1FB9-4D38-97BE-9607FFB2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8C39D"/>
                </a:solidFill>
              </a:defRPr>
            </a:pPr>
            <a:r>
              <a:rPr sz="1050" b="1" i="0">
                <a:solidFill>
                  <a:srgbClr val="D8C39D"/>
                </a:solidFill>
              </a:rPr>
              <a:t>03</a:t>
            </a:r>
          </a:p>
        </p:txBody>
      </p:sp>
      <p:sp>
        <p:nvSpPr>
          <p:cNvPr id="22" name="pipeline-label-2">
            <a:extLst xmlns:a="http://schemas.openxmlformats.org/drawingml/2006/main">
              <a:ext uri="{FF2B5EF4-FFF2-40B4-BE49-F238E27FC236}">
                <a16:creationId xmlns:a16="http://schemas.microsoft.com/office/drawing/2014/main" id="{41262886-58B2-4236-B117-399EA1FD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4EFE4"/>
                </a:solidFill>
              </a:defRPr>
            </a:pPr>
            <a:r>
              <a:rPr sz="1200" b="1" i="0">
                <a:solidFill>
                  <a:srgbClr val="F4EFE4"/>
                </a:solidFill>
              </a:rPr>
              <a:t>Models</a:t>
            </a:r>
          </a:p>
        </p:txBody>
      </p:sp>
      <p:sp>
        <p:nvSpPr>
          <p:cNvPr id="23" name="pipeline-node-3">
            <a:extLst xmlns:a="http://schemas.openxmlformats.org/drawingml/2006/main">
              <a:ext uri="{FF2B5EF4-FFF2-40B4-BE49-F238E27FC236}">
                <a16:creationId xmlns:a16="http://schemas.microsoft.com/office/drawing/2014/main" id="{2FC00B18-6D24-4D1E-8B30-6DFF60F3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24" name="pipeline-number-3">
            <a:extLst xmlns:a="http://schemas.openxmlformats.org/drawingml/2006/main">
              <a:ext uri="{FF2B5EF4-FFF2-40B4-BE49-F238E27FC236}">
                <a16:creationId xmlns:a16="http://schemas.microsoft.com/office/drawing/2014/main" id="{9E162B3B-4099-4709-AA93-39D0E5E2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04</a:t>
            </a:r>
          </a:p>
        </p:txBody>
      </p:sp>
      <p:sp>
        <p:nvSpPr>
          <p:cNvPr id="25" name="pipeline-label-3">
            <a:extLst xmlns:a="http://schemas.openxmlformats.org/drawingml/2006/main">
              <a:ext uri="{FF2B5EF4-FFF2-40B4-BE49-F238E27FC236}">
                <a16:creationId xmlns:a16="http://schemas.microsoft.com/office/drawing/2014/main" id="{45D6ADB1-3B15-4C77-919C-11D5CECF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Robust Evaluation</a:t>
            </a:r>
          </a:p>
        </p:txBody>
      </p:sp>
      <p:sp>
        <p:nvSpPr>
          <p:cNvPr id="26" name="pipeline-node-4">
            <a:extLst xmlns:a="http://schemas.openxmlformats.org/drawingml/2006/main">
              <a:ext uri="{FF2B5EF4-FFF2-40B4-BE49-F238E27FC236}">
                <a16:creationId xmlns:a16="http://schemas.microsoft.com/office/drawing/2014/main" id="{F5D074A9-7016-4812-91C3-4629D96C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D2C9"/>
          </a:solidFill>
          <a:ln xmlns:a="http://schemas.openxmlformats.org/drawingml/2006/main" w="9525">
            <a:solidFill>
              <a:srgbClr val="B54E36"/>
            </a:solidFill>
            <a:prstDash val="solid"/>
          </a:ln>
        </p:spPr>
      </p:sp>
      <p:sp>
        <p:nvSpPr>
          <p:cNvPr id="27" name="pipeline-number-4">
            <a:extLst xmlns:a="http://schemas.openxmlformats.org/drawingml/2006/main">
              <a:ext uri="{FF2B5EF4-FFF2-40B4-BE49-F238E27FC236}">
                <a16:creationId xmlns:a16="http://schemas.microsoft.com/office/drawing/2014/main" id="{EC32157A-12E5-4A51-858D-68772CE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05</a:t>
            </a:r>
          </a:p>
        </p:txBody>
      </p:sp>
      <p:sp>
        <p:nvSpPr>
          <p:cNvPr id="28" name="pipeline-label-4">
            <a:extLst xmlns:a="http://schemas.openxmlformats.org/drawingml/2006/main">
              <a:ext uri="{FF2B5EF4-FFF2-40B4-BE49-F238E27FC236}">
                <a16:creationId xmlns:a16="http://schemas.microsoft.com/office/drawing/2014/main" id="{C22586BC-F2CF-4AFA-89C8-567E95FB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Loop206 Ablation</a:t>
            </a:r>
          </a:p>
        </p:txBody>
      </p:sp>
      <p:sp>
        <p:nvSpPr>
          <p:cNvPr id="29" name="pipeline-node-5">
            <a:extLst xmlns:a="http://schemas.openxmlformats.org/drawingml/2006/main">
              <a:ext uri="{FF2B5EF4-FFF2-40B4-BE49-F238E27FC236}">
                <a16:creationId xmlns:a16="http://schemas.microsoft.com/office/drawing/2014/main" id="{20943A93-C7D5-40DB-95F3-F3A1628C4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30" name="pipeline-number-5">
            <a:extLst xmlns:a="http://schemas.openxmlformats.org/drawingml/2006/main">
              <a:ext uri="{FF2B5EF4-FFF2-40B4-BE49-F238E27FC236}">
                <a16:creationId xmlns:a16="http://schemas.microsoft.com/office/drawing/2014/main" id="{583EA34A-679E-4A9D-8B7F-3B1376AE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06</a:t>
            </a:r>
          </a:p>
        </p:txBody>
      </p:sp>
      <p:sp>
        <p:nvSpPr>
          <p:cNvPr id="31" name="pipeline-label-5">
            <a:extLst xmlns:a="http://schemas.openxmlformats.org/drawingml/2006/main">
              <a:ext uri="{FF2B5EF4-FFF2-40B4-BE49-F238E27FC236}">
                <a16:creationId xmlns:a16="http://schemas.microsoft.com/office/drawing/2014/main" id="{A4780E57-9366-4A7E-9BFF-2A08C019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Evidence-bound Demo</a:t>
            </a:r>
          </a:p>
        </p:txBody>
      </p:sp>
      <p:sp>
        <p:nvSpPr>
          <p:cNvPr id="32" name="pipeline-html-note">
            <a:extLst xmlns:a="http://schemas.openxmlformats.org/drawingml/2006/main">
              <a:ext uri="{FF2B5EF4-FFF2-40B4-BE49-F238E27FC236}">
                <a16:creationId xmlns:a16="http://schemas.microsoft.com/office/drawing/2014/main" id="{5DC2630F-6A40-407B-A4C7-57B6A853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6B"/>
                </a:solidFill>
              </a:defRPr>
            </a:pPr>
            <a:r>
              <a:rPr sz="1350" b="0" i="0">
                <a:solidFill>
                  <a:srgbClr val="66706B"/>
                </a:solidFill>
              </a:rPr>
              <a:t>Interactive navigation and smooth transitions are available in the offline HTML edition.</a:t>
            </a:r>
          </a:p>
        </p:txBody>
      </p:sp>
    </p:spTree>
    <p:extLst>
      <p:ext uri="{BB962C8B-B14F-4D97-AF65-F5344CB8AC3E}">
        <p14:creationId xmlns:p14="http://schemas.microsoft.com/office/powerpoint/2010/main" val="111741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rule-5">
            <a:extLst xmlns:a="http://schemas.openxmlformats.org/drawingml/2006/main">
              <a:ext uri="{FF2B5EF4-FFF2-40B4-BE49-F238E27FC236}">
                <a16:creationId xmlns:a16="http://schemas.microsoft.com/office/drawing/2014/main" id="{7A47FA4E-C167-4D78-A972-6DF85D1F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11CE4ABC-9D45-431C-B618-E85031D4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 01 | DATA AUDIT</a:t>
            </a:r>
          </a:p>
        </p:txBody>
      </p:sp>
      <p:sp>
        <p:nvSpPr>
          <p:cNvPr id="3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19290370-0D60-47BB-ACCA-FCD2017D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Clean-v3 repairs identity leakage before model comparison</a:t>
            </a:r>
          </a:p>
        </p:txBody>
      </p:sp>
      <p:sp>
        <p:nvSpPr>
          <p:cNvPr id="4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F5EFDDB1-EC90-43ED-A7F3-B022C86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5">
            <a:extLst xmlns:a="http://schemas.openxmlformats.org/drawingml/2006/main">
              <a:ext uri="{FF2B5EF4-FFF2-40B4-BE49-F238E27FC236}">
                <a16:creationId xmlns:a16="http://schemas.microsoft.com/office/drawing/2014/main" id="{2402C6F5-13DA-4C38-AE64-7CFD77ED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dataset audit | protected test sealed</a:t>
            </a: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6C9025A8-262C-49ED-A5A8-B8C06D09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05</a:t>
            </a:r>
          </a:p>
        </p:txBody>
      </p:sp>
      <p:sp>
        <p:nvSpPr>
          <p:cNvPr id="7" name="s05-data-claim-mark">
            <a:extLst xmlns:a="http://schemas.openxmlformats.org/drawingml/2006/main">
              <a:ext uri="{FF2B5EF4-FFF2-40B4-BE49-F238E27FC236}">
                <a16:creationId xmlns:a16="http://schemas.microsoft.com/office/drawing/2014/main" id="{1732CDE8-EA3B-44D2-9868-F3260C01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5-data-claim">
            <a:extLst xmlns:a="http://schemas.openxmlformats.org/drawingml/2006/main">
              <a:ext uri="{FF2B5EF4-FFF2-40B4-BE49-F238E27FC236}">
                <a16:creationId xmlns:a16="http://schemas.microsoft.com/office/drawing/2014/main" id="{CB37EE21-6A9A-4B0D-B812-2363C3A6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leakage-audited manifest contains 2,869 images with no detected cross-split identity-group overlap.</a:t>
            </a:r>
          </a:p>
        </p:txBody>
      </p:sp>
      <p:sp>
        <p:nvSpPr>
          <p:cNvPr id="9" name="data-total">
            <a:extLst xmlns:a="http://schemas.openxmlformats.org/drawingml/2006/main">
              <a:ext uri="{FF2B5EF4-FFF2-40B4-BE49-F238E27FC236}">
                <a16:creationId xmlns:a16="http://schemas.microsoft.com/office/drawing/2014/main" id="{C7F9579B-3731-4831-B436-B0D78B94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0035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 i="0">
                <a:solidFill>
                  <a:srgbClr val="177D76"/>
                </a:solidFill>
              </a:defRPr>
            </a:pPr>
            <a:r>
              <a:rPr sz="5100" b="1" i="0">
                <a:solidFill>
                  <a:srgbClr val="177D76"/>
                </a:solidFill>
              </a:rPr>
              <a:t>2,869</a:t>
            </a:r>
          </a:p>
        </p:txBody>
      </p:sp>
      <p:sp>
        <p:nvSpPr>
          <p:cNvPr id="10" name="data-total-label">
            <a:extLst xmlns:a="http://schemas.openxmlformats.org/drawingml/2006/main">
              <a:ext uri="{FF2B5EF4-FFF2-40B4-BE49-F238E27FC236}">
                <a16:creationId xmlns:a16="http://schemas.microsoft.com/office/drawing/2014/main" id="{AF176A43-94BB-4C99-B541-E298EBFE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6706B"/>
                </a:solidFill>
              </a:defRPr>
            </a:pPr>
            <a:r>
              <a:rPr sz="1350" b="1" i="0">
                <a:solidFill>
                  <a:srgbClr val="66706B"/>
                </a:solidFill>
              </a:rPr>
              <a:t>leakage-audited images</a:t>
            </a:r>
          </a:p>
        </p:txBody>
      </p:sp>
      <p:sp>
        <p:nvSpPr>
          <p:cNvPr id="11" name="data-train-bar">
            <a:extLst xmlns:a="http://schemas.openxmlformats.org/drawingml/2006/main">
              <a:ext uri="{FF2B5EF4-FFF2-40B4-BE49-F238E27FC236}">
                <a16:creationId xmlns:a16="http://schemas.microsoft.com/office/drawing/2014/main" id="{35E5265D-5986-48C5-B3D5-EE0BB821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47720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ata-val-bar">
            <a:extLst xmlns:a="http://schemas.openxmlformats.org/drawingml/2006/main">
              <a:ext uri="{FF2B5EF4-FFF2-40B4-BE49-F238E27FC236}">
                <a16:creationId xmlns:a16="http://schemas.microsoft.com/office/drawing/2014/main" id="{0CFA4A3D-8F4D-4987-90BC-86F7F379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28950"/>
            <a:ext cx="1028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3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ata-test-bar">
            <a:extLst xmlns:a="http://schemas.openxmlformats.org/drawingml/2006/main">
              <a:ext uri="{FF2B5EF4-FFF2-40B4-BE49-F238E27FC236}">
                <a16:creationId xmlns:a16="http://schemas.microsoft.com/office/drawing/2014/main" id="{26182EA6-9826-4B92-BA78-F687E18C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028950"/>
            <a:ext cx="10191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ata-train-label">
            <a:extLst xmlns:a="http://schemas.openxmlformats.org/drawingml/2006/main">
              <a:ext uri="{FF2B5EF4-FFF2-40B4-BE49-F238E27FC236}">
                <a16:creationId xmlns:a16="http://schemas.microsoft.com/office/drawing/2014/main" id="{080C6513-6620-4E14-96EB-BF422645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47720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7D76"/>
                </a:solidFill>
              </a:defRPr>
            </a:pPr>
            <a:r>
              <a:rPr sz="1200" b="1" i="0">
                <a:solidFill>
                  <a:srgbClr val="177D76"/>
                </a:solidFill>
              </a:rPr>
              <a:t>TRAIN</a:t>
            </a:r>
          </a:p>
          <a:p xmlns:a="http://schemas.openxmlformats.org/drawingml/2006/main">
            <a:pPr algn="l">
              <a:defRPr sz="1200" b="1" i="0">
                <a:solidFill>
                  <a:srgbClr val="177D76"/>
                </a:solidFill>
              </a:defRPr>
            </a:pPr>
            <a:r>
              <a:rPr sz="1200" b="1" i="0">
                <a:solidFill>
                  <a:srgbClr val="177D76"/>
                </a:solidFill>
              </a:rPr>
              <a:t>2,008</a:t>
            </a:r>
          </a:p>
        </p:txBody>
      </p:sp>
      <p:sp>
        <p:nvSpPr>
          <p:cNvPr id="15" name="data-val-label">
            <a:extLst xmlns:a="http://schemas.openxmlformats.org/drawingml/2006/main">
              <a:ext uri="{FF2B5EF4-FFF2-40B4-BE49-F238E27FC236}">
                <a16:creationId xmlns:a16="http://schemas.microsoft.com/office/drawing/2014/main" id="{D983D0CB-B03E-4CAD-9E83-9B12993C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829050"/>
            <a:ext cx="1028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6706B"/>
                </a:solidFill>
              </a:defRPr>
            </a:pPr>
            <a:r>
              <a:rPr sz="1050" b="1" i="0">
                <a:solidFill>
                  <a:srgbClr val="66706B"/>
                </a:solidFill>
              </a:rPr>
              <a:t>ADAPTIVE VALIDATION</a:t>
            </a:r>
          </a:p>
          <a:p xmlns:a="http://schemas.openxmlformats.org/drawingml/2006/main">
            <a:pPr algn="ctr">
              <a:defRPr sz="1050" b="1" i="0">
                <a:solidFill>
                  <a:srgbClr val="66706B"/>
                </a:solidFill>
              </a:defRPr>
            </a:pPr>
            <a:r>
              <a:rPr sz="1050" b="1" i="0">
                <a:solidFill>
                  <a:srgbClr val="66706B"/>
                </a:solidFill>
              </a:rPr>
              <a:t>431</a:t>
            </a:r>
          </a:p>
        </p:txBody>
      </p:sp>
      <p:sp>
        <p:nvSpPr>
          <p:cNvPr id="16" name="data-test-label">
            <a:extLst xmlns:a="http://schemas.openxmlformats.org/drawingml/2006/main">
              <a:ext uri="{FF2B5EF4-FFF2-40B4-BE49-F238E27FC236}">
                <a16:creationId xmlns:a16="http://schemas.microsoft.com/office/drawing/2014/main" id="{0C08551C-BF3D-448D-92A5-91FC5B54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29050"/>
            <a:ext cx="1019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SEALED TEST</a:t>
            </a:r>
          </a:p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430</a:t>
            </a:r>
          </a:p>
        </p:txBody>
      </p:sp>
      <p:sp>
        <p:nvSpPr>
          <p:cNvPr id="17" name="data-audit-chain">
            <a:extLst xmlns:a="http://schemas.openxmlformats.org/drawingml/2006/main">
              <a:ext uri="{FF2B5EF4-FFF2-40B4-BE49-F238E27FC236}">
                <a16:creationId xmlns:a16="http://schemas.microsoft.com/office/drawing/2014/main" id="{4A6BE085-3BA1-440F-A763-352F314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62500"/>
            <a:ext cx="681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D211F"/>
                </a:solidFill>
              </a:defRPr>
            </a:pPr>
            <a:r>
              <a:rPr sz="1125" b="1" i="0">
                <a:solidFill>
                  <a:srgbClr val="1D211F"/>
                </a:solidFill>
              </a:rPr>
              <a:t>IDENTITY  /  EXACT DUPLICATE  /  PERCEPTUAL DUPLICATE  /  SPLIT GROUP</a:t>
            </a:r>
          </a:p>
        </p:txBody>
      </p:sp>
      <p:sp>
        <p:nvSpPr>
          <p:cNvPr id="18" name="data-boundary">
            <a:extLst xmlns:a="http://schemas.openxmlformats.org/drawingml/2006/main">
              <a:ext uri="{FF2B5EF4-FFF2-40B4-BE49-F238E27FC236}">
                <a16:creationId xmlns:a16="http://schemas.microsoft.com/office/drawing/2014/main" id="{13444F3C-1871-48FA-8D1F-3D5B6CA3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19700"/>
            <a:ext cx="681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54E36"/>
                </a:solidFill>
              </a:defRPr>
            </a:pPr>
            <a:r>
              <a:rPr sz="1350" b="0" i="0">
                <a:solidFill>
                  <a:srgbClr val="B54E36"/>
                </a:solidFill>
              </a:rPr>
              <a:t>Validation was opened adaptively. The 430-row test partition remains sealed.</a:t>
            </a:r>
          </a:p>
        </p:txBody>
      </p:sp>
    </p:spTree>
    <p:extLst>
      <p:ext uri="{BB962C8B-B14F-4D97-AF65-F5344CB8AC3E}">
        <p14:creationId xmlns:p14="http://schemas.microsoft.com/office/powerpoint/2010/main" val="11549236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rule-6">
            <a:extLst xmlns:a="http://schemas.openxmlformats.org/drawingml/2006/main">
              <a:ext uri="{FF2B5EF4-FFF2-40B4-BE49-F238E27FC236}">
                <a16:creationId xmlns:a16="http://schemas.microsoft.com/office/drawing/2014/main" id="{8910A4E2-5403-4E5A-96A6-AF745CC8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FB7FF024-7274-400E-9E9E-C077939F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MODULES 02-03 | PREPROCESSING + MODELS</a:t>
            </a:r>
          </a:p>
        </p:txBody>
      </p:sp>
      <p:sp>
        <p:nvSpPr>
          <p:cNvPr id="3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6AD75E0-B811-4181-9782-31EE066D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 i="0">
                <a:solidFill>
                  <a:srgbClr val="1D211F"/>
                </a:solidFill>
              </a:defRPr>
            </a:pPr>
            <a:r>
              <a:rPr sz="2625" b="1" i="0">
                <a:solidFill>
                  <a:srgbClr val="1D211F"/>
                </a:solidFill>
              </a:rPr>
              <a:t>The comparison is between complete systems, not isolated encoders</a:t>
            </a:r>
          </a:p>
        </p:txBody>
      </p:sp>
      <p:sp>
        <p:nvSpPr>
          <p:cNvPr id="4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FC0788A0-FFFA-403C-ABD8-DC0C8895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6">
            <a:extLst xmlns:a="http://schemas.openxmlformats.org/drawingml/2006/main">
              <a:ext uri="{FF2B5EF4-FFF2-40B4-BE49-F238E27FC236}">
                <a16:creationId xmlns:a16="http://schemas.microsoft.com/office/drawing/2014/main" id="{647C4AE5-6DD6-46B3-802E-51EA6BB7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adaptive development-validation | older geometry contract</a:t>
            </a: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3F085EB1-60C1-486C-BA90-A924C8A1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06</a:t>
            </a:r>
          </a:p>
        </p:txBody>
      </p:sp>
      <p:sp>
        <p:nvSpPr>
          <p:cNvPr id="7" name="s06-models-claim-mark">
            <a:extLst xmlns:a="http://schemas.openxmlformats.org/drawingml/2006/main">
              <a:ext uri="{FF2B5EF4-FFF2-40B4-BE49-F238E27FC236}">
                <a16:creationId xmlns:a16="http://schemas.microsoft.com/office/drawing/2014/main" id="{67ABB4B2-EF8E-4D8E-884C-7F18B2A1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6-models-claim">
            <a:extLst xmlns:a="http://schemas.openxmlformats.org/drawingml/2006/main">
              <a:ext uri="{FF2B5EF4-FFF2-40B4-BE49-F238E27FC236}">
                <a16:creationId xmlns:a16="http://schemas.microsoft.com/office/drawing/2014/main" id="{F3BAEDB1-2912-47AB-8E19-69A59CCC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MiT-B3 uses a fixed preprocessing-aware 384x384 pipeline; nnU-Net v2 uses raw RGB and a self-configuring 256x256 system.</a:t>
            </a:r>
          </a:p>
        </p:txBody>
      </p:sp>
      <p:sp>
        <p:nvSpPr>
          <p:cNvPr id="9" name="models-divider">
            <a:extLst xmlns:a="http://schemas.openxmlformats.org/drawingml/2006/main">
              <a:ext uri="{FF2B5EF4-FFF2-40B4-BE49-F238E27FC236}">
                <a16:creationId xmlns:a16="http://schemas.microsoft.com/office/drawing/2014/main" id="{51D9676C-B764-49F9-B660-A86E14DF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19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odels-mit-name">
            <a:extLst xmlns:a="http://schemas.openxmlformats.org/drawingml/2006/main">
              <a:ext uri="{FF2B5EF4-FFF2-40B4-BE49-F238E27FC236}">
                <a16:creationId xmlns:a16="http://schemas.microsoft.com/office/drawing/2014/main" id="{CA5EEBC1-8BBC-4164-A68F-39B79712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7D76"/>
                </a:solidFill>
              </a:defRPr>
            </a:pPr>
            <a:r>
              <a:rPr sz="2550" b="1" i="0">
                <a:solidFill>
                  <a:srgbClr val="177D76"/>
                </a:solidFill>
              </a:rPr>
              <a:t>MiT-B3 U-Net</a:t>
            </a:r>
          </a:p>
        </p:txBody>
      </p:sp>
      <p:sp>
        <p:nvSpPr>
          <p:cNvPr id="11" name="models-mit-spec">
            <a:extLst xmlns:a="http://schemas.openxmlformats.org/drawingml/2006/main">
              <a:ext uri="{FF2B5EF4-FFF2-40B4-BE49-F238E27FC236}">
                <a16:creationId xmlns:a16="http://schemas.microsoft.com/office/drawing/2014/main" id="{177FBA8F-A80F-4D86-BFEF-5DA6308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48577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384 × 384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LAB-luminance CLAHE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Percentile stretch + median filter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Fixed preprocessing-aware system</a:t>
            </a:r>
          </a:p>
        </p:txBody>
      </p:sp>
      <p:sp>
        <p:nvSpPr>
          <p:cNvPr id="12" name="models-nnunet-name">
            <a:extLst xmlns:a="http://schemas.openxmlformats.org/drawingml/2006/main">
              <a:ext uri="{FF2B5EF4-FFF2-40B4-BE49-F238E27FC236}">
                <a16:creationId xmlns:a16="http://schemas.microsoft.com/office/drawing/2014/main" id="{79C2B658-FE9C-43F4-8191-13518925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B54E36"/>
                </a:solidFill>
              </a:defRPr>
            </a:pPr>
            <a:r>
              <a:rPr sz="2550" b="1" i="0">
                <a:solidFill>
                  <a:srgbClr val="B54E36"/>
                </a:solidFill>
              </a:rPr>
              <a:t>nnU-Net v2</a:t>
            </a:r>
          </a:p>
        </p:txBody>
      </p:sp>
      <p:sp>
        <p:nvSpPr>
          <p:cNvPr id="13" name="models-nnunet-spec">
            <a:extLst xmlns:a="http://schemas.openxmlformats.org/drawingml/2006/main">
              <a:ext uri="{FF2B5EF4-FFF2-40B4-BE49-F238E27FC236}">
                <a16:creationId xmlns:a16="http://schemas.microsoft.com/office/drawing/2014/main" id="{82FB95CC-0D4C-412E-82F4-B11D357F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8577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256 × 256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Raw RGB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Generated plans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Self-configuring 2D system</a:t>
            </a:r>
          </a:p>
        </p:txBody>
      </p:sp>
      <p:sp>
        <p:nvSpPr>
          <p:cNvPr id="14" name="models-caution">
            <a:extLst xmlns:a="http://schemas.openxmlformats.org/drawingml/2006/main">
              <a:ext uri="{FF2B5EF4-FFF2-40B4-BE49-F238E27FC236}">
                <a16:creationId xmlns:a16="http://schemas.microsoft.com/office/drawing/2014/main" id="{D35B6055-C4CA-42A9-9F81-06A832CA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1057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odels-caution-text">
            <a:extLst xmlns:a="http://schemas.openxmlformats.org/drawingml/2006/main">
              <a:ext uri="{FF2B5EF4-FFF2-40B4-BE49-F238E27FC236}">
                <a16:creationId xmlns:a16="http://schemas.microsoft.com/office/drawing/2014/main" id="{5506525C-42AA-453E-A642-179A6B93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24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4EFE4"/>
                </a:solidFill>
              </a:defRPr>
            </a:pPr>
            <a:r>
              <a:rPr sz="1200" b="1" i="0">
                <a:solidFill>
                  <a:srgbClr val="F4EFE4"/>
                </a:solidFill>
              </a:rPr>
              <a:t>Different resolution, decoder, loss, augmentation, and policy: this is not an isolated encoder ablation.</a:t>
            </a:r>
          </a:p>
        </p:txBody>
      </p:sp>
    </p:spTree>
    <p:extLst>
      <p:ext uri="{BB962C8B-B14F-4D97-AF65-F5344CB8AC3E}">
        <p14:creationId xmlns:p14="http://schemas.microsoft.com/office/powerpoint/2010/main" val="428339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op-rule-7">
            <a:extLst xmlns:a="http://schemas.openxmlformats.org/drawingml/2006/main">
              <a:ext uri="{FF2B5EF4-FFF2-40B4-BE49-F238E27FC236}">
                <a16:creationId xmlns:a16="http://schemas.microsoft.com/office/drawing/2014/main" id="{8A275F6E-3E08-4885-89FA-61B5CD28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1615CFC1-2331-4F7B-AC18-564D24A4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 04 | ROBUST EVALUATION</a:t>
            </a:r>
          </a:p>
        </p:txBody>
      </p:sp>
      <p:sp>
        <p:nvSpPr>
          <p:cNvPr id="3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F15F020E-8813-440B-80A9-D2113DF1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nnU-Net records higher point estimates, not statistical superiority</a:t>
            </a:r>
          </a:p>
        </p:txBody>
      </p:sp>
      <p:sp>
        <p:nvSpPr>
          <p:cNvPr id="4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64D41370-0B77-4C08-8F1B-BF327C7E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7">
            <a:extLst xmlns:a="http://schemas.openxmlformats.org/drawingml/2006/main">
              <a:ext uri="{FF2B5EF4-FFF2-40B4-BE49-F238E27FC236}">
                <a16:creationId xmlns:a16="http://schemas.microsoft.com/office/drawing/2014/main" id="{F2D99E75-272E-4E31-BF37-0F5E7E9E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adaptive development-validation | single run | selection-optimistic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66C86069-0D49-4593-90F9-174A1A22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07</a:t>
            </a:r>
          </a:p>
        </p:txBody>
      </p:sp>
      <p:sp>
        <p:nvSpPr>
          <p:cNvPr id="7" name="s07-validation-claim-mark">
            <a:extLst xmlns:a="http://schemas.openxmlformats.org/drawingml/2006/main">
              <a:ext uri="{FF2B5EF4-FFF2-40B4-BE49-F238E27FC236}">
                <a16:creationId xmlns:a16="http://schemas.microsoft.com/office/drawing/2014/main" id="{40EA5EDF-E538-46E8-853D-41396E46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7-validation-claim">
            <a:extLst xmlns:a="http://schemas.openxmlformats.org/drawingml/2006/main">
              <a:ext uri="{FF2B5EF4-FFF2-40B4-BE49-F238E27FC236}">
                <a16:creationId xmlns:a16="http://schemas.microsoft.com/office/drawing/2014/main" id="{459EC076-DE04-4A5D-B592-E49ECD06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On adaptive development-validation, nnU-Net v2 has higher robust Dice and boundary F1 point estimates; MiT-B3 retains slightly higher precision.</a:t>
            </a:r>
          </a:p>
        </p:txBody>
      </p:sp>
      <p:sp>
        <p:nvSpPr>
          <p:cNvPr id="9" name="validation-label-0">
            <a:extLst xmlns:a="http://schemas.openxmlformats.org/drawingml/2006/main">
              <a:ext uri="{FF2B5EF4-FFF2-40B4-BE49-F238E27FC236}">
                <a16:creationId xmlns:a16="http://schemas.microsoft.com/office/drawing/2014/main" id="{23388C2C-98FF-439C-961D-D8580A3C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D211F"/>
                </a:solidFill>
              </a:defRPr>
            </a:pPr>
            <a:r>
              <a:rPr sz="1425" b="1" i="0">
                <a:solidFill>
                  <a:srgbClr val="1D211F"/>
                </a:solidFill>
              </a:rPr>
              <a:t>Robust Dice</a:t>
            </a:r>
          </a:p>
        </p:txBody>
      </p:sp>
      <p:sp>
        <p:nvSpPr>
          <p:cNvPr id="10" name="validation-a-value-0">
            <a:extLst xmlns:a="http://schemas.openxmlformats.org/drawingml/2006/main">
              <a:ext uri="{FF2B5EF4-FFF2-40B4-BE49-F238E27FC236}">
                <a16:creationId xmlns:a16="http://schemas.microsoft.com/office/drawing/2014/main" id="{BA61BD53-823B-4F42-9255-84B05089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527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0.8959</a:t>
            </a:r>
          </a:p>
        </p:txBody>
      </p:sp>
      <p:sp>
        <p:nvSpPr>
          <p:cNvPr id="11" name="validation-a-bar-0">
            <a:extLst xmlns:a="http://schemas.openxmlformats.org/drawingml/2006/main">
              <a:ext uri="{FF2B5EF4-FFF2-40B4-BE49-F238E27FC236}">
                <a16:creationId xmlns:a16="http://schemas.microsoft.com/office/drawing/2014/main" id="{F688EB2D-5DF7-4AC4-917B-83E443C3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48000"/>
            <a:ext cx="443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validation-b-value-0">
            <a:extLst xmlns:a="http://schemas.openxmlformats.org/drawingml/2006/main">
              <a:ext uri="{FF2B5EF4-FFF2-40B4-BE49-F238E27FC236}">
                <a16:creationId xmlns:a16="http://schemas.microsoft.com/office/drawing/2014/main" id="{0015CDA8-A1C3-42E8-B8A6-0EA8A26EC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718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0.9019</a:t>
            </a:r>
          </a:p>
        </p:txBody>
      </p:sp>
      <p:sp>
        <p:nvSpPr>
          <p:cNvPr id="13" name="validation-b-bar-0">
            <a:extLst xmlns:a="http://schemas.openxmlformats.org/drawingml/2006/main">
              <a:ext uri="{FF2B5EF4-FFF2-40B4-BE49-F238E27FC236}">
                <a16:creationId xmlns:a16="http://schemas.microsoft.com/office/drawing/2014/main" id="{A3016D91-600B-41FA-9ECA-5868097D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67100"/>
            <a:ext cx="4467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validation-label-1">
            <a:extLst xmlns:a="http://schemas.openxmlformats.org/drawingml/2006/main">
              <a:ext uri="{FF2B5EF4-FFF2-40B4-BE49-F238E27FC236}">
                <a16:creationId xmlns:a16="http://schemas.microsoft.com/office/drawing/2014/main" id="{B5E32CF1-8D75-42FA-87CF-245FB054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D211F"/>
                </a:solidFill>
              </a:defRPr>
            </a:pPr>
            <a:r>
              <a:rPr sz="1425" b="1" i="0">
                <a:solidFill>
                  <a:srgbClr val="1D211F"/>
                </a:solidFill>
              </a:rPr>
              <a:t>Boundary F1</a:t>
            </a:r>
          </a:p>
        </p:txBody>
      </p:sp>
      <p:sp>
        <p:nvSpPr>
          <p:cNvPr id="15" name="validation-a-value-1">
            <a:extLst xmlns:a="http://schemas.openxmlformats.org/drawingml/2006/main">
              <a:ext uri="{FF2B5EF4-FFF2-40B4-BE49-F238E27FC236}">
                <a16:creationId xmlns:a16="http://schemas.microsoft.com/office/drawing/2014/main" id="{B08FD818-1AD1-46B2-AFA2-B9F3EC15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34340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0.4145</a:t>
            </a:r>
          </a:p>
        </p:txBody>
      </p:sp>
      <p:sp>
        <p:nvSpPr>
          <p:cNvPr id="16" name="validation-a-bar-1">
            <a:extLst xmlns:a="http://schemas.openxmlformats.org/drawingml/2006/main">
              <a:ext uri="{FF2B5EF4-FFF2-40B4-BE49-F238E27FC236}">
                <a16:creationId xmlns:a16="http://schemas.microsoft.com/office/drawing/2014/main" id="{32C6E151-CF68-455A-AB3F-77876E0A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43865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validation-b-value-1">
            <a:extLst xmlns:a="http://schemas.openxmlformats.org/drawingml/2006/main">
              <a:ext uri="{FF2B5EF4-FFF2-40B4-BE49-F238E27FC236}">
                <a16:creationId xmlns:a16="http://schemas.microsoft.com/office/drawing/2014/main" id="{D5E5AB33-E4CE-4569-A0B8-C465BEB0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6250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0.4369</a:t>
            </a:r>
          </a:p>
        </p:txBody>
      </p:sp>
      <p:sp>
        <p:nvSpPr>
          <p:cNvPr id="18" name="validation-b-bar-1">
            <a:extLst xmlns:a="http://schemas.openxmlformats.org/drawingml/2006/main">
              <a:ext uri="{FF2B5EF4-FFF2-40B4-BE49-F238E27FC236}">
                <a16:creationId xmlns:a16="http://schemas.microsoft.com/office/drawing/2014/main" id="{EE17D9A5-3882-4E65-8168-F9E28A83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57750"/>
            <a:ext cx="21621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validation-legend">
            <a:extLst xmlns:a="http://schemas.openxmlformats.org/drawingml/2006/main">
              <a:ext uri="{FF2B5EF4-FFF2-40B4-BE49-F238E27FC236}">
                <a16:creationId xmlns:a16="http://schemas.microsoft.com/office/drawing/2014/main" id="{77C0A763-A079-483D-B1D7-94B036F7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6706B"/>
                </a:solidFill>
              </a:defRPr>
            </a:pPr>
            <a:r>
              <a:rPr sz="1200" b="1" i="0">
                <a:solidFill>
                  <a:srgbClr val="66706B"/>
                </a:solidFill>
              </a:rPr>
              <a:t>MiT-B3     nnU-Net v2</a:t>
            </a:r>
          </a:p>
        </p:txBody>
      </p:sp>
      <p:sp>
        <p:nvSpPr>
          <p:cNvPr id="20" name="validation-limit">
            <a:extLst xmlns:a="http://schemas.openxmlformats.org/drawingml/2006/main">
              <a:ext uri="{FF2B5EF4-FFF2-40B4-BE49-F238E27FC236}">
                <a16:creationId xmlns:a16="http://schemas.microsoft.com/office/drawing/2014/main" id="{8F3E3B44-DA03-4DED-BF35-800A3269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28950"/>
            <a:ext cx="2000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B54E36"/>
                </a:solidFill>
              </a:defRPr>
            </a:pPr>
            <a:r>
              <a:rPr sz="1575" b="1" i="0">
                <a:solidFill>
                  <a:srgbClr val="B54E36"/>
                </a:solidFill>
              </a:rPr>
              <a:t>Point estimates only</a:t>
            </a:r>
          </a:p>
          <a:p xmlns:a="http://schemas.openxmlformats.org/drawingml/2006/main">
            <a:pPr algn="l">
              <a:defRPr sz="1575" b="1" i="0">
                <a:solidFill>
                  <a:srgbClr val="B54E36"/>
                </a:solidFill>
              </a:defRPr>
            </a:pPr>
            <a:r>
              <a:rPr sz="1575" b="1" i="0">
                <a:solidFill>
                  <a:srgbClr val="B54E36"/>
                </a:solidFill>
              </a:rPr>
              <a:t>Single recorded run</a:t>
            </a:r>
          </a:p>
          <a:p xmlns:a="http://schemas.openxmlformats.org/drawingml/2006/main">
            <a:pPr algn="l">
              <a:defRPr sz="1575" b="1" i="0">
                <a:solidFill>
                  <a:srgbClr val="B54E36"/>
                </a:solidFill>
              </a:defRPr>
            </a:pPr>
            <a:r>
              <a:rPr sz="1575" b="1" i="0">
                <a:solidFill>
                  <a:srgbClr val="B54E36"/>
                </a:solidFill>
              </a:rPr>
              <a:t>No paired confidence interval</a:t>
            </a:r>
          </a:p>
        </p:txBody>
      </p:sp>
      <p:sp>
        <p:nvSpPr>
          <p:cNvPr id="21" name="validation-precision">
            <a:extLst xmlns:a="http://schemas.openxmlformats.org/drawingml/2006/main">
              <a:ext uri="{FF2B5EF4-FFF2-40B4-BE49-F238E27FC236}">
                <a16:creationId xmlns:a16="http://schemas.microsoft.com/office/drawing/2014/main" id="{6543E895-62D7-480B-B798-928A5526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6291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MiT-B3 retains slightly higher precision; metric trade-offs remain material.</a:t>
            </a:r>
          </a:p>
        </p:txBody>
      </p:sp>
    </p:spTree>
    <p:extLst>
      <p:ext uri="{BB962C8B-B14F-4D97-AF65-F5344CB8AC3E}">
        <p14:creationId xmlns:p14="http://schemas.microsoft.com/office/powerpoint/2010/main" val="30423619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op-rule-8">
            <a:extLst xmlns:a="http://schemas.openxmlformats.org/drawingml/2006/main">
              <a:ext uri="{FF2B5EF4-FFF2-40B4-BE49-F238E27FC236}">
                <a16:creationId xmlns:a16="http://schemas.microsoft.com/office/drawing/2014/main" id="{21F8AE49-C387-4C69-BF5E-8D03F0BD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3BC0CF5A-5F02-475E-8B68-D8EDFA88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MODULE 05 | LOOP206 DESIGN</a:t>
            </a:r>
          </a:p>
        </p:txBody>
      </p:sp>
      <p:sp>
        <p:nvSpPr>
          <p:cNvPr id="3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1DB901EA-40CF-435B-A889-0CDC78AA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Loop206 isolates one intervention: the fourth input channel</a:t>
            </a:r>
          </a:p>
        </p:txBody>
      </p:sp>
      <p:sp>
        <p:nvSpPr>
          <p:cNvPr id="4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19AF13EA-EA3D-4A19-BEA0-9E6F23EB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8">
            <a:extLst xmlns:a="http://schemas.openxmlformats.org/drawingml/2006/main">
              <a:ext uri="{FF2B5EF4-FFF2-40B4-BE49-F238E27FC236}">
                <a16:creationId xmlns:a16="http://schemas.microsoft.com/office/drawing/2014/main" id="{BDFE48E0-D609-4E12-BA2B-552FD6BA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train_screen | three selected seeds | 76 groups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C88FE770-D084-45E7-B0AE-8E18CF3B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08</a:t>
            </a:r>
          </a:p>
        </p:txBody>
      </p:sp>
      <p:sp>
        <p:nvSpPr>
          <p:cNvPr id="7" name="s08-ablation-design-claim-mark">
            <a:extLst xmlns:a="http://schemas.openxmlformats.org/drawingml/2006/main">
              <a:ext uri="{FF2B5EF4-FFF2-40B4-BE49-F238E27FC236}">
                <a16:creationId xmlns:a16="http://schemas.microsoft.com/office/drawing/2014/main" id="{72932D8C-0AB4-49D5-9646-B33D3C6A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8-ablation-design-claim">
            <a:extLst xmlns:a="http://schemas.openxmlformats.org/drawingml/2006/main">
              <a:ext uri="{FF2B5EF4-FFF2-40B4-BE49-F238E27FC236}">
                <a16:creationId xmlns:a16="http://schemas.microsoft.com/office/drawing/2014/main" id="{3989A28D-E2E5-42AE-BC9C-12EE5F4A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Control and candidate share architecture, preprocessing, seeds, budget, and loss; only the zero versus contour channel changes.</a:t>
            </a:r>
          </a:p>
        </p:txBody>
      </p:sp>
      <p:sp>
        <p:nvSpPr>
          <p:cNvPr id="9" name="ablation-input-stem">
            <a:extLst xmlns:a="http://schemas.openxmlformats.org/drawingml/2006/main">
              <a:ext uri="{FF2B5EF4-FFF2-40B4-BE49-F238E27FC236}">
                <a16:creationId xmlns:a16="http://schemas.microsoft.com/office/drawing/2014/main" id="{E2EE9148-8E2C-4064-AB01-414972BE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00400"/>
            <a:ext cx="1381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blation-control-edge">
            <a:extLst xmlns:a="http://schemas.openxmlformats.org/drawingml/2006/main">
              <a:ext uri="{FF2B5EF4-FFF2-40B4-BE49-F238E27FC236}">
                <a16:creationId xmlns:a16="http://schemas.microsoft.com/office/drawing/2014/main" id="{51C076CA-374A-43CF-8A02-44881459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blation-control-out">
            <a:extLst xmlns:a="http://schemas.openxmlformats.org/drawingml/2006/main">
              <a:ext uri="{FF2B5EF4-FFF2-40B4-BE49-F238E27FC236}">
                <a16:creationId xmlns:a16="http://schemas.microsoft.com/office/drawing/2014/main" id="{DA29B5D3-C53C-4862-9806-C672BB4D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blation-candidate-out">
            <a:extLst xmlns:a="http://schemas.openxmlformats.org/drawingml/2006/main">
              <a:ext uri="{FF2B5EF4-FFF2-40B4-BE49-F238E27FC236}">
                <a16:creationId xmlns:a16="http://schemas.microsoft.com/office/drawing/2014/main" id="{8E114127-366A-4783-8416-8BDDA4F4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7338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blation-merge-a">
            <a:extLst xmlns:a="http://schemas.openxmlformats.org/drawingml/2006/main">
              <a:ext uri="{FF2B5EF4-FFF2-40B4-BE49-F238E27FC236}">
                <a16:creationId xmlns:a16="http://schemas.microsoft.com/office/drawing/2014/main" id="{64F78FC4-C666-4756-A0B8-9B7F2697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051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blation-merge-b">
            <a:extLst xmlns:a="http://schemas.openxmlformats.org/drawingml/2006/main">
              <a:ext uri="{FF2B5EF4-FFF2-40B4-BE49-F238E27FC236}">
                <a16:creationId xmlns:a16="http://schemas.microsoft.com/office/drawing/2014/main" id="{31F915E3-99A8-4767-AAA4-11136997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blation-merge-v">
            <a:extLst xmlns:a="http://schemas.openxmlformats.org/drawingml/2006/main">
              <a:ext uri="{FF2B5EF4-FFF2-40B4-BE49-F238E27FC236}">
                <a16:creationId xmlns:a16="http://schemas.microsoft.com/office/drawing/2014/main" id="{37F71C6D-6BF4-4735-AB64-38A16F07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051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blation-merge-out">
            <a:extLst xmlns:a="http://schemas.openxmlformats.org/drawingml/2006/main">
              <a:ext uri="{FF2B5EF4-FFF2-40B4-BE49-F238E27FC236}">
                <a16:creationId xmlns:a16="http://schemas.microsoft.com/office/drawing/2014/main" id="{CF11AEBB-4BDF-4546-AA0D-51B491E1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219450"/>
            <a:ext cx="1000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blation-input">
            <a:extLst xmlns:a="http://schemas.openxmlformats.org/drawingml/2006/main">
              <a:ext uri="{FF2B5EF4-FFF2-40B4-BE49-F238E27FC236}">
                <a16:creationId xmlns:a16="http://schemas.microsoft.com/office/drawing/2014/main" id="{AE330CC7-694F-4398-90D8-62CE14B5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5621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18" name="ablation-input-text">
            <a:extLst xmlns:a="http://schemas.openxmlformats.org/drawingml/2006/main">
              <a:ext uri="{FF2B5EF4-FFF2-40B4-BE49-F238E27FC236}">
                <a16:creationId xmlns:a16="http://schemas.microsoft.com/office/drawing/2014/main" id="{7BA4BE2D-FF45-4F58-9CC8-9DD966BC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21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D211F"/>
                </a:solidFill>
              </a:defRPr>
            </a:pPr>
            <a:r>
              <a:rPr sz="1275" b="1" i="0">
                <a:solidFill>
                  <a:srgbClr val="1D211F"/>
                </a:solidFill>
              </a:rPr>
              <a:t>SAME INPUT</a:t>
            </a:r>
          </a:p>
          <a:p xmlns:a="http://schemas.openxmlformats.org/drawingml/2006/main">
            <a:pPr algn="ctr">
              <a:defRPr sz="1275" b="1" i="0">
                <a:solidFill>
                  <a:srgbClr val="1D211F"/>
                </a:solidFill>
              </a:defRPr>
            </a:pPr>
            <a:r>
              <a:rPr sz="1275" b="1" i="0">
                <a:solidFill>
                  <a:srgbClr val="1D211F"/>
                </a:solidFill>
              </a:rPr>
              <a:t>SAME SEED</a:t>
            </a:r>
          </a:p>
        </p:txBody>
      </p:sp>
      <p:sp>
        <p:nvSpPr>
          <p:cNvPr id="19" name="ablation-control">
            <a:extLst xmlns:a="http://schemas.openxmlformats.org/drawingml/2006/main">
              <a:ext uri="{FF2B5EF4-FFF2-40B4-BE49-F238E27FC236}">
                <a16:creationId xmlns:a16="http://schemas.microsoft.com/office/drawing/2014/main" id="{1ED4937D-5A0A-4FA4-BD16-C4E3D2FB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4315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blation-control-text">
            <a:extLst xmlns:a="http://schemas.openxmlformats.org/drawingml/2006/main">
              <a:ext uri="{FF2B5EF4-FFF2-40B4-BE49-F238E27FC236}">
                <a16:creationId xmlns:a16="http://schemas.microsoft.com/office/drawing/2014/main" id="{1A8F67E8-1460-4523-BB06-E0F80A48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765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CONTROL</a:t>
            </a:r>
          </a:p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zero fourth channel</a:t>
            </a:r>
          </a:p>
        </p:txBody>
      </p:sp>
      <p:sp>
        <p:nvSpPr>
          <p:cNvPr id="21" name="ablation-candidate">
            <a:extLst xmlns:a="http://schemas.openxmlformats.org/drawingml/2006/main">
              <a:ext uri="{FF2B5EF4-FFF2-40B4-BE49-F238E27FC236}">
                <a16:creationId xmlns:a16="http://schemas.microsoft.com/office/drawing/2014/main" id="{7EF9BD51-EF63-40CD-9FDF-0A88B465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7185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D2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blation-candidate-text">
            <a:extLst xmlns:a="http://schemas.openxmlformats.org/drawingml/2006/main">
              <a:ext uri="{FF2B5EF4-FFF2-40B4-BE49-F238E27FC236}">
                <a16:creationId xmlns:a16="http://schemas.microsoft.com/office/drawing/2014/main" id="{E6EB77CA-9083-47D4-9EC5-46BF3FFD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052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CANDIDATE</a:t>
            </a:r>
          </a:p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contour fourth channel</a:t>
            </a:r>
          </a:p>
        </p:txBody>
      </p:sp>
      <p:sp>
        <p:nvSpPr>
          <p:cNvPr id="23" name="ablation-compare">
            <a:extLst xmlns:a="http://schemas.openxmlformats.org/drawingml/2006/main">
              <a:ext uri="{FF2B5EF4-FFF2-40B4-BE49-F238E27FC236}">
                <a16:creationId xmlns:a16="http://schemas.microsoft.com/office/drawing/2014/main" id="{8151BF27-1B61-49DC-8178-F535FFCC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81300"/>
            <a:ext cx="3143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ablation-compare-text">
            <a:extLst xmlns:a="http://schemas.openxmlformats.org/drawingml/2006/main">
              <a:ext uri="{FF2B5EF4-FFF2-40B4-BE49-F238E27FC236}">
                <a16:creationId xmlns:a16="http://schemas.microsoft.com/office/drawing/2014/main" id="{9A3CFA8F-644F-447A-92F4-78C7A89C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9900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4EFE4"/>
                </a:solidFill>
              </a:defRPr>
            </a:pPr>
            <a:r>
              <a:rPr sz="1275" b="1" i="0">
                <a:solidFill>
                  <a:srgbClr val="F4EFE4"/>
                </a:solidFill>
              </a:rPr>
              <a:t>PAIRED GROUP BOOTSTRAP</a:t>
            </a:r>
          </a:p>
          <a:p xmlns:a="http://schemas.openxmlformats.org/drawingml/2006/main">
            <a:pPr algn="ctr">
              <a:defRPr sz="1275" b="1" i="0">
                <a:solidFill>
                  <a:srgbClr val="F4EFE4"/>
                </a:solidFill>
              </a:defRPr>
            </a:pPr>
            <a:r>
              <a:rPr sz="1275" b="1" i="0">
                <a:solidFill>
                  <a:srgbClr val="F4EFE4"/>
                </a:solidFill>
              </a:rPr>
              <a:t>seeds + views averaged first</a:t>
            </a:r>
          </a:p>
        </p:txBody>
      </p:sp>
      <p:sp>
        <p:nvSpPr>
          <p:cNvPr id="25" name="s08-ablation-design-fit groups-value">
            <a:extLst xmlns:a="http://schemas.openxmlformats.org/drawingml/2006/main">
              <a:ext uri="{FF2B5EF4-FFF2-40B4-BE49-F238E27FC236}">
                <a16:creationId xmlns:a16="http://schemas.microsoft.com/office/drawing/2014/main" id="{A1B8BF9C-995A-4799-9072-19F41F5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2915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77D76"/>
                </a:solidFill>
              </a:defRPr>
            </a:pPr>
            <a:r>
              <a:rPr sz="3375" b="1" i="0">
                <a:solidFill>
                  <a:srgbClr val="177D76"/>
                </a:solidFill>
              </a:rPr>
              <a:t>308</a:t>
            </a:r>
          </a:p>
        </p:txBody>
      </p:sp>
      <p:sp>
        <p:nvSpPr>
          <p:cNvPr id="26" name="s08-ablation-design-fit groups-label">
            <a:extLst xmlns:a="http://schemas.openxmlformats.org/drawingml/2006/main">
              <a:ext uri="{FF2B5EF4-FFF2-40B4-BE49-F238E27FC236}">
                <a16:creationId xmlns:a16="http://schemas.microsoft.com/office/drawing/2014/main" id="{75D330DA-AD8D-43CC-971B-E2864148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fit groups</a:t>
            </a:r>
          </a:p>
        </p:txBody>
      </p:sp>
      <p:sp>
        <p:nvSpPr>
          <p:cNvPr id="27" name="s08-ablation-design-holdout groups-value">
            <a:extLst xmlns:a="http://schemas.openxmlformats.org/drawingml/2006/main">
              <a:ext uri="{FF2B5EF4-FFF2-40B4-BE49-F238E27FC236}">
                <a16:creationId xmlns:a16="http://schemas.microsoft.com/office/drawing/2014/main" id="{2B6074A9-3586-4727-9F3C-EAF0387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2915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B54E36"/>
                </a:solidFill>
              </a:defRPr>
            </a:pPr>
            <a:r>
              <a:rPr sz="3375" b="1" i="0">
                <a:solidFill>
                  <a:srgbClr val="B54E36"/>
                </a:solidFill>
              </a:rPr>
              <a:t>76</a:t>
            </a:r>
          </a:p>
        </p:txBody>
      </p:sp>
      <p:sp>
        <p:nvSpPr>
          <p:cNvPr id="28" name="s08-ablation-design-holdout groups-label">
            <a:extLst xmlns:a="http://schemas.openxmlformats.org/drawingml/2006/main">
              <a:ext uri="{FF2B5EF4-FFF2-40B4-BE49-F238E27FC236}">
                <a16:creationId xmlns:a16="http://schemas.microsoft.com/office/drawing/2014/main" id="{F9A24907-DEBD-4BEC-B2BB-5FBF087A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1816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holdout groups</a:t>
            </a:r>
          </a:p>
        </p:txBody>
      </p:sp>
      <p:sp>
        <p:nvSpPr>
          <p:cNvPr id="29" name="s08-ablation-design-paired seeds-value">
            <a:extLst xmlns:a="http://schemas.openxmlformats.org/drawingml/2006/main">
              <a:ext uri="{FF2B5EF4-FFF2-40B4-BE49-F238E27FC236}">
                <a16:creationId xmlns:a16="http://schemas.microsoft.com/office/drawing/2014/main" id="{A2808E38-FD52-4FB3-8ED9-25C8C664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2915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D211F"/>
                </a:solidFill>
              </a:defRPr>
            </a:pPr>
            <a:r>
              <a:rPr sz="3375" b="1" i="0">
                <a:solidFill>
                  <a:srgbClr val="1D211F"/>
                </a:solidFill>
              </a:rPr>
              <a:t>3</a:t>
            </a:r>
          </a:p>
        </p:txBody>
      </p:sp>
      <p:sp>
        <p:nvSpPr>
          <p:cNvPr id="30" name="s08-ablation-design-paired seeds-label">
            <a:extLst xmlns:a="http://schemas.openxmlformats.org/drawingml/2006/main">
              <a:ext uri="{FF2B5EF4-FFF2-40B4-BE49-F238E27FC236}">
                <a16:creationId xmlns:a16="http://schemas.microsoft.com/office/drawing/2014/main" id="{1BE105CA-5B56-4F8E-BE03-D49A1AA8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1816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paired seeds</a:t>
            </a:r>
          </a:p>
        </p:txBody>
      </p:sp>
    </p:spTree>
    <p:extLst>
      <p:ext uri="{BB962C8B-B14F-4D97-AF65-F5344CB8AC3E}">
        <p14:creationId xmlns:p14="http://schemas.microsoft.com/office/powerpoint/2010/main" val="17872357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-rule-9">
            <a:extLst xmlns:a="http://schemas.openxmlformats.org/drawingml/2006/main">
              <a:ext uri="{FF2B5EF4-FFF2-40B4-BE49-F238E27FC236}">
                <a16:creationId xmlns:a16="http://schemas.microsoft.com/office/drawing/2014/main" id="{0D3E4015-0794-4216-99A1-F7216EAA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8475D3FF-26D9-43D1-BA7D-834A666C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MODULE 05 | DECISION</a:t>
            </a:r>
          </a:p>
        </p:txBody>
      </p:sp>
      <p:sp>
        <p:nvSpPr>
          <p:cNvPr id="3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172951EC-8C09-4EDA-A966-EF43C787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The contour channel fails the primary gate</a:t>
            </a:r>
          </a:p>
        </p:txBody>
      </p:sp>
      <p:sp>
        <p:nvSpPr>
          <p:cNvPr id="4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24ECE4B7-4536-40A1-AAE6-EC5F0104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9">
            <a:extLst xmlns:a="http://schemas.openxmlformats.org/drawingml/2006/main">
              <a:ext uri="{FF2B5EF4-FFF2-40B4-BE49-F238E27FC236}">
                <a16:creationId xmlns:a16="http://schemas.microsoft.com/office/drawing/2014/main" id="{1CE29894-5301-4F74-AEC0-0B99C63A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train_screen | conditional on the selected seeds</a:t>
            </a:r>
          </a:p>
        </p:txBody>
      </p:sp>
      <p:sp>
        <p:nvSpPr>
          <p:cNvPr id="6" name="page-9">
            <a:extLst xmlns:a="http://schemas.openxmlformats.org/drawingml/2006/main">
              <a:ext uri="{FF2B5EF4-FFF2-40B4-BE49-F238E27FC236}">
                <a16:creationId xmlns:a16="http://schemas.microsoft.com/office/drawing/2014/main" id="{C7B2E0BC-6F86-40A0-8E9C-E7CEDBAA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09</a:t>
            </a:r>
          </a:p>
        </p:txBody>
      </p:sp>
      <p:sp>
        <p:nvSpPr>
          <p:cNvPr id="7" name="s09-negative-result-claim-mark">
            <a:extLst xmlns:a="http://schemas.openxmlformats.org/drawingml/2006/main">
              <a:ext uri="{FF2B5EF4-FFF2-40B4-BE49-F238E27FC236}">
                <a16:creationId xmlns:a16="http://schemas.microsoft.com/office/drawing/2014/main" id="{B1671119-6657-4FAF-B28E-86E3C839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9-negative-result-claim">
            <a:extLst xmlns:a="http://schemas.openxmlformats.org/drawingml/2006/main">
              <a:ext uri="{FF2B5EF4-FFF2-40B4-BE49-F238E27FC236}">
                <a16:creationId xmlns:a16="http://schemas.microsoft.com/office/drawing/2014/main" id="{DDD73EF0-BE4E-4A35-85C4-D2642DFD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Seed-and-view-averaged robust Dice changes by -0.0313; its conditional 95% interval lies entirely below zero.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358388a4084414"/>
          <a:stretch xmlns:a="http://schemas.openxmlformats.org/drawingml/2006/main"/>
        </p:blipFill>
        <p:spPr>
          <a:xfrm xmlns:a="http://schemas.openxmlformats.org/drawingml/2006/main">
            <a:off x="666750" y="2799860"/>
            <a:ext cx="7334250" cy="2534631"/>
          </a:xfrm>
          <a:prstGeom xmlns:a="http://schemas.openxmlformats.org/drawingml/2006/main" prst="rect">
            <a:avLst/>
          </a:prstGeom>
        </p:spPr>
      </p:pic>
      <p:sp>
        <p:nvSpPr>
          <p:cNvPr id="10" name="negative-gate">
            <a:extLst xmlns:a="http://schemas.openxmlformats.org/drawingml/2006/main">
              <a:ext uri="{FF2B5EF4-FFF2-40B4-BE49-F238E27FC236}">
                <a16:creationId xmlns:a16="http://schemas.microsoft.com/office/drawing/2014/main" id="{B7FE01B8-0C98-4838-A956-4E3087A4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194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B54E36"/>
                </a:solidFill>
              </a:defRPr>
            </a:pPr>
            <a:r>
              <a:rPr sz="3900" b="1" i="0">
                <a:solidFill>
                  <a:srgbClr val="B54E36"/>
                </a:solidFill>
              </a:rPr>
              <a:t>REJECT</a:t>
            </a:r>
          </a:p>
        </p:txBody>
      </p:sp>
      <p:sp>
        <p:nvSpPr>
          <p:cNvPr id="11" name="negative-dice">
            <a:extLst xmlns:a="http://schemas.openxmlformats.org/drawingml/2006/main">
              <a:ext uri="{FF2B5EF4-FFF2-40B4-BE49-F238E27FC236}">
                <a16:creationId xmlns:a16="http://schemas.microsoft.com/office/drawing/2014/main" id="{4C876862-0DEA-43DD-8289-95761E65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00450"/>
            <a:ext cx="2876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D211F"/>
                </a:solidFill>
              </a:defRPr>
            </a:pPr>
            <a:r>
              <a:rPr sz="1500" b="1" i="0">
                <a:solidFill>
                  <a:srgbClr val="1D211F"/>
                </a:solidFill>
              </a:rPr>
              <a:t>Dice Δ  -0.0313</a:t>
            </a:r>
          </a:p>
          <a:p xmlns:a="http://schemas.openxmlformats.org/drawingml/2006/main">
            <a:pPr algn="ctr">
              <a:defRPr sz="1500" b="1" i="0">
                <a:solidFill>
                  <a:srgbClr val="1D211F"/>
                </a:solidFill>
              </a:defRPr>
            </a:pPr>
            <a:r>
              <a:rPr sz="1500" b="1" i="0">
                <a:solidFill>
                  <a:srgbClr val="1D211F"/>
                </a:solidFill>
              </a:rPr>
              <a:t>95% CI [-0.0491, -0.0156]</a:t>
            </a:r>
          </a:p>
        </p:txBody>
      </p:sp>
      <p:sp>
        <p:nvSpPr>
          <p:cNvPr id="12" name="negative-bf1">
            <a:extLst xmlns:a="http://schemas.openxmlformats.org/drawingml/2006/main">
              <a:ext uri="{FF2B5EF4-FFF2-40B4-BE49-F238E27FC236}">
                <a16:creationId xmlns:a16="http://schemas.microsoft.com/office/drawing/2014/main" id="{87C90F85-E065-48E1-A1AF-54B9C6E9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591050"/>
            <a:ext cx="2876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6B"/>
                </a:solidFill>
              </a:defRPr>
            </a:pPr>
            <a:r>
              <a:rPr sz="1350" b="0" i="0">
                <a:solidFill>
                  <a:srgbClr val="66706B"/>
                </a:solidFill>
              </a:rPr>
              <a:t>BF1 Δ  -0.0147</a:t>
            </a:r>
          </a:p>
          <a:p xmlns:a="http://schemas.openxmlformats.org/drawingml/2006/main">
            <a:pPr algn="ctr">
              <a:defRPr sz="1350" b="0" i="0">
                <a:solidFill>
                  <a:srgbClr val="66706B"/>
                </a:solidFill>
              </a:defRPr>
            </a:pPr>
            <a:r>
              <a:rPr sz="1350" b="0" i="0">
                <a:solidFill>
                  <a:srgbClr val="66706B"/>
                </a:solidFill>
              </a:rPr>
              <a:t>95% CI [-0.0308, 0.0010]</a:t>
            </a:r>
          </a:p>
        </p:txBody>
      </p:sp>
      <p:sp>
        <p:nvSpPr>
          <p:cNvPr id="13" name="negative-boundary">
            <a:extLst xmlns:a="http://schemas.openxmlformats.org/drawingml/2006/main">
              <a:ext uri="{FF2B5EF4-FFF2-40B4-BE49-F238E27FC236}">
                <a16:creationId xmlns:a16="http://schemas.microsoft.com/office/drawing/2014/main" id="{42D1941B-5FBF-4C7D-9A89-95ACF161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56260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54E36"/>
                </a:solidFill>
              </a:defRPr>
            </a:pPr>
            <a:r>
              <a:rPr sz="1125" b="1" i="0">
                <a:solidFill>
                  <a:srgbClr val="B54E36"/>
                </a:solidFill>
              </a:rPr>
              <a:t>Candidate rejected before protected evaluation.</a:t>
            </a:r>
          </a:p>
        </p:txBody>
      </p:sp>
    </p:spTree>
    <p:extLst>
      <p:ext uri="{BB962C8B-B14F-4D97-AF65-F5344CB8AC3E}">
        <p14:creationId xmlns:p14="http://schemas.microsoft.com/office/powerpoint/2010/main" val="15813778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-10">
            <a:extLst xmlns:a="http://schemas.openxmlformats.org/drawingml/2006/main">
              <a:ext uri="{FF2B5EF4-FFF2-40B4-BE49-F238E27FC236}">
                <a16:creationId xmlns:a16="http://schemas.microsoft.com/office/drawing/2014/main" id="{83C21AEA-5D26-415F-8725-D559DC91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4D52639F-00E0-4731-BEFD-A7A0A382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 06 | EVIDENCE-BOUND DEMO</a:t>
            </a:r>
          </a:p>
        </p:txBody>
      </p:sp>
      <p:sp>
        <p:nvSpPr>
          <p:cNvPr id="3" name="slide-title-10">
            <a:extLst xmlns:a="http://schemas.openxmlformats.org/drawingml/2006/main">
              <a:ext uri="{FF2B5EF4-FFF2-40B4-BE49-F238E27FC236}">
                <a16:creationId xmlns:a16="http://schemas.microsoft.com/office/drawing/2014/main" id="{375CA50D-25F0-4703-9813-4D35FBD2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The demo compares only what the registry authorizes</a:t>
            </a:r>
          </a:p>
        </p:txBody>
      </p:sp>
      <p:sp>
        <p:nvSpPr>
          <p:cNvPr id="4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F5A1CDDE-6360-4277-91DA-14B37511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10">
            <a:extLst xmlns:a="http://schemas.openxmlformats.org/drawingml/2006/main">
              <a:ext uri="{FF2B5EF4-FFF2-40B4-BE49-F238E27FC236}">
                <a16:creationId xmlns:a16="http://schemas.microsoft.com/office/drawing/2014/main" id="{EA62CF92-6C37-4EDE-8E2B-A8119CDE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train_screen | exact_fixed_cache | non-clinical</a:t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790636CA-9B18-4AB6-8602-4F670D5C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10</a:t>
            </a:r>
          </a:p>
        </p:txBody>
      </p:sp>
      <p:sp>
        <p:nvSpPr>
          <p:cNvPr id="7" name="s10-demo-claim-mark">
            <a:extLst xmlns:a="http://schemas.openxmlformats.org/drawingml/2006/main">
              <a:ext uri="{FF2B5EF4-FFF2-40B4-BE49-F238E27FC236}">
                <a16:creationId xmlns:a16="http://schemas.microsoft.com/office/drawing/2014/main" id="{CC9F6853-42DB-4C79-BE18-3832AA8D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10-demo-claim">
            <a:extLst xmlns:a="http://schemas.openxmlformats.org/drawingml/2006/main">
              <a:ext uri="{FF2B5EF4-FFF2-40B4-BE49-F238E27FC236}">
                <a16:creationId xmlns:a16="http://schemas.microsoft.com/office/drawing/2014/main" id="{A1DBA6F7-F306-4E62-BD43-8DFF1221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public workbench supports exact fixed-cache comparison; arbitrary uploads remain control-only because candidate prior parity is 0/76.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bb088bbcf45ef"/>
          <a:stretch xmlns:a="http://schemas.openxmlformats.org/drawingml/2006/main"/>
        </p:blipFill>
        <p:spPr>
          <a:xfrm xmlns:a="http://schemas.openxmlformats.org/drawingml/2006/main">
            <a:off x="2336918" y="2533650"/>
            <a:ext cx="4717815" cy="3238500"/>
          </a:xfrm>
          <a:prstGeom xmlns:a="http://schemas.openxmlformats.org/drawingml/2006/main" prst="rect">
            <a:avLst/>
          </a:prstGeom>
        </p:spPr>
      </p:pic>
      <p:sp>
        <p:nvSpPr>
          <p:cNvPr id="10" name="demo-parity">
            <a:extLst xmlns:a="http://schemas.openxmlformats.org/drawingml/2006/main">
              <a:ext uri="{FF2B5EF4-FFF2-40B4-BE49-F238E27FC236}">
                <a16:creationId xmlns:a16="http://schemas.microsoft.com/office/drawing/2014/main" id="{9DE7D875-6339-40BA-A881-D446E4F6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86050"/>
            <a:ext cx="1866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B54E36"/>
                </a:solidFill>
              </a:defRPr>
            </a:pPr>
            <a:r>
              <a:rPr sz="3900" b="1" i="0">
                <a:solidFill>
                  <a:srgbClr val="B54E36"/>
                </a:solidFill>
              </a:rPr>
              <a:t>0/76</a:t>
            </a:r>
          </a:p>
        </p:txBody>
      </p:sp>
      <p:sp>
        <p:nvSpPr>
          <p:cNvPr id="11" name="demo-parity-label">
            <a:extLst xmlns:a="http://schemas.openxmlformats.org/drawingml/2006/main">
              <a:ext uri="{FF2B5EF4-FFF2-40B4-BE49-F238E27FC236}">
                <a16:creationId xmlns:a16="http://schemas.microsoft.com/office/drawing/2014/main" id="{753918F4-28B7-4B4C-82C1-3956A23B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66706B"/>
                </a:solidFill>
              </a:defRPr>
            </a:pPr>
            <a:r>
              <a:rPr sz="1200" b="1" i="0">
                <a:solidFill>
                  <a:srgbClr val="66706B"/>
                </a:solidFill>
              </a:rPr>
              <a:t>candidate prior parity</a:t>
            </a:r>
          </a:p>
        </p:txBody>
      </p:sp>
      <p:sp>
        <p:nvSpPr>
          <p:cNvPr id="12" name="demo-rule">
            <a:extLst xmlns:a="http://schemas.openxmlformats.org/drawingml/2006/main">
              <a:ext uri="{FF2B5EF4-FFF2-40B4-BE49-F238E27FC236}">
                <a16:creationId xmlns:a16="http://schemas.microsoft.com/office/drawing/2014/main" id="{13BD980A-A00E-46D9-9CDB-01DFB0DC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19550"/>
            <a:ext cx="2324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FIXED CACHE</a:t>
            </a:r>
          </a:p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control + candidate + authorized truth</a:t>
            </a:r>
          </a:p>
        </p:txBody>
      </p:sp>
      <p:sp>
        <p:nvSpPr>
          <p:cNvPr id="13" name="demo-upload">
            <a:extLst xmlns:a="http://schemas.openxmlformats.org/drawingml/2006/main">
              <a:ext uri="{FF2B5EF4-FFF2-40B4-BE49-F238E27FC236}">
                <a16:creationId xmlns:a16="http://schemas.microsoft.com/office/drawing/2014/main" id="{384BA603-D863-4C9E-B6BD-52BBD1BD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14900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ARBITRARY UPLOAD</a:t>
            </a:r>
          </a:p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control only</a:t>
            </a:r>
          </a:p>
        </p:txBody>
      </p:sp>
      <p:sp>
        <p:nvSpPr>
          <p:cNvPr id="14" name="demo-clinical">
            <a:extLst xmlns:a="http://schemas.openxmlformats.org/drawingml/2006/main">
              <a:ext uri="{FF2B5EF4-FFF2-40B4-BE49-F238E27FC236}">
                <a16:creationId xmlns:a16="http://schemas.microsoft.com/office/drawing/2014/main" id="{73D4E48A-1C93-4015-BC07-08B66AF8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60070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6706B"/>
                </a:solidFill>
              </a:defRPr>
            </a:pPr>
            <a:r>
              <a:rPr sz="1050" b="0" i="0">
                <a:solidFill>
                  <a:srgbClr val="66706B"/>
                </a:solidFill>
              </a:rPr>
              <a:t>Non-clinical research demo; not a diagnosis.</a:t>
            </a:r>
          </a:p>
        </p:txBody>
      </p:sp>
    </p:spTree>
    <p:extLst>
      <p:ext uri="{BB962C8B-B14F-4D97-AF65-F5344CB8AC3E}">
        <p14:creationId xmlns:p14="http://schemas.microsoft.com/office/powerpoint/2010/main" val="1002609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rule-11">
            <a:extLst xmlns:a="http://schemas.openxmlformats.org/drawingml/2006/main">
              <a:ext uri="{FF2B5EF4-FFF2-40B4-BE49-F238E27FC236}">
                <a16:creationId xmlns:a16="http://schemas.microsoft.com/office/drawing/2014/main" id="{C97134D9-F372-4359-9242-3938D1B0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1349242F-4A70-4C4B-8F90-91528735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REPRODUCIBILITY + LIMITS</a:t>
            </a:r>
          </a:p>
        </p:txBody>
      </p:sp>
      <p:sp>
        <p:nvSpPr>
          <p:cNvPr id="3" name="slide-title-11">
            <a:extLst xmlns:a="http://schemas.openxmlformats.org/drawingml/2006/main">
              <a:ext uri="{FF2B5EF4-FFF2-40B4-BE49-F238E27FC236}">
                <a16:creationId xmlns:a16="http://schemas.microsoft.com/office/drawing/2014/main" id="{6074CF46-F098-4478-8069-B5B50D7A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Claims are reproducible; full retraining is not yet clone-runnable</a:t>
            </a:r>
          </a:p>
        </p:txBody>
      </p:sp>
      <p:sp>
        <p:nvSpPr>
          <p:cNvPr id="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21ADD714-8D63-4D7E-B205-32E14D2C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11">
            <a:extLst xmlns:a="http://schemas.openxmlformats.org/drawingml/2006/main">
              <a:ext uri="{FF2B5EF4-FFF2-40B4-BE49-F238E27FC236}">
                <a16:creationId xmlns:a16="http://schemas.microsoft.com/office/drawing/2014/main" id="{F1EA70CA-4CC1-4EE2-B3BD-25F2C7AE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hash-bound release | protected test remains sealed</a:t>
            </a: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A5D911D5-3771-41F8-B6B8-9243368F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11</a:t>
            </a:r>
          </a:p>
        </p:txBody>
      </p:sp>
      <p:sp>
        <p:nvSpPr>
          <p:cNvPr id="7" name="s11-reproducibility-claim-mark">
            <a:extLst xmlns:a="http://schemas.openxmlformats.org/drawingml/2006/main">
              <a:ext uri="{FF2B5EF4-FFF2-40B4-BE49-F238E27FC236}">
                <a16:creationId xmlns:a16="http://schemas.microsoft.com/office/drawing/2014/main" id="{317148A9-11AC-4C64-A73D-8FF3A7DF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11-reproducibility-claim">
            <a:extLst xmlns:a="http://schemas.openxmlformats.org/drawingml/2006/main">
              <a:ext uri="{FF2B5EF4-FFF2-40B4-BE49-F238E27FC236}">
                <a16:creationId xmlns:a16="http://schemas.microsoft.com/office/drawing/2014/main" id="{131F632A-7A5D-4B54-BA90-3DA42E00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release binds claims, tables, figures, PDF, model IDs, and source reports by hash while explicitly disclosing missing experiment artifacts.</a:t>
            </a:r>
          </a:p>
        </p:txBody>
      </p:sp>
      <p:sp>
        <p:nvSpPr>
          <p:cNvPr id="9" name="repro-rule-0">
            <a:extLst xmlns:a="http://schemas.openxmlformats.org/drawingml/2006/main">
              <a:ext uri="{FF2B5EF4-FFF2-40B4-BE49-F238E27FC236}">
                <a16:creationId xmlns:a16="http://schemas.microsoft.com/office/drawing/2014/main" id="{45399047-49EE-410F-82B1-039526D7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pro-title-0">
            <a:extLst xmlns:a="http://schemas.openxmlformats.org/drawingml/2006/main">
              <a:ext uri="{FF2B5EF4-FFF2-40B4-BE49-F238E27FC236}">
                <a16:creationId xmlns:a16="http://schemas.microsoft.com/office/drawing/2014/main" id="{BBAA90AD-CB2E-4EEC-973E-628C2C3A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7D76"/>
                </a:solidFill>
              </a:defRPr>
            </a:pPr>
            <a:r>
              <a:rPr sz="1275" b="1" i="0">
                <a:solidFill>
                  <a:srgbClr val="177D76"/>
                </a:solidFill>
              </a:rPr>
              <a:t>HASH-BOUND</a:t>
            </a:r>
          </a:p>
        </p:txBody>
      </p:sp>
      <p:sp>
        <p:nvSpPr>
          <p:cNvPr id="11" name="repro-text-0">
            <a:extLst xmlns:a="http://schemas.openxmlformats.org/drawingml/2006/main">
              <a:ext uri="{FF2B5EF4-FFF2-40B4-BE49-F238E27FC236}">
                <a16:creationId xmlns:a16="http://schemas.microsoft.com/office/drawing/2014/main" id="{7F4A0B0A-207A-4BF4-8DD8-DB3D48A2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304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Claims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Tables + figures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Compiled PDF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Model IDs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Source reports</a:t>
            </a:r>
          </a:p>
        </p:txBody>
      </p:sp>
      <p:sp>
        <p:nvSpPr>
          <p:cNvPr id="12" name="repro-rule-1">
            <a:extLst xmlns:a="http://schemas.openxmlformats.org/drawingml/2006/main">
              <a:ext uri="{FF2B5EF4-FFF2-40B4-BE49-F238E27FC236}">
                <a16:creationId xmlns:a16="http://schemas.microsoft.com/office/drawing/2014/main" id="{07647E36-5E3B-4BC5-B0DC-B002C1578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813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3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pro-title-1">
            <a:extLst xmlns:a="http://schemas.openxmlformats.org/drawingml/2006/main">
              <a:ext uri="{FF2B5EF4-FFF2-40B4-BE49-F238E27FC236}">
                <a16:creationId xmlns:a16="http://schemas.microsoft.com/office/drawing/2014/main" id="{BEAE3F00-2E66-4085-86CA-C9408C3F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D211F"/>
                </a:solidFill>
              </a:defRPr>
            </a:pPr>
            <a:r>
              <a:rPr sz="1275" b="1" i="0">
                <a:solidFill>
                  <a:srgbClr val="1D211F"/>
                </a:solidFill>
              </a:rPr>
              <a:t>RUNTIME-BOUND</a:t>
            </a:r>
          </a:p>
        </p:txBody>
      </p:sp>
      <p:sp>
        <p:nvSpPr>
          <p:cNvPr id="14" name="repro-text-1">
            <a:extLst xmlns:a="http://schemas.openxmlformats.org/drawingml/2006/main">
              <a:ext uri="{FF2B5EF4-FFF2-40B4-BE49-F238E27FC236}">
                <a16:creationId xmlns:a16="http://schemas.microsoft.com/office/drawing/2014/main" id="{633C6AB5-BAFD-4663-980E-D2479539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62350"/>
            <a:ext cx="304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Checkpoints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Data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Caches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Secrets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Startup verification</a:t>
            </a:r>
          </a:p>
        </p:txBody>
      </p:sp>
      <p:sp>
        <p:nvSpPr>
          <p:cNvPr id="15" name="repro-rule-2">
            <a:extLst xmlns:a="http://schemas.openxmlformats.org/drawingml/2006/main">
              <a:ext uri="{FF2B5EF4-FFF2-40B4-BE49-F238E27FC236}">
                <a16:creationId xmlns:a16="http://schemas.microsoft.com/office/drawing/2014/main" id="{F9770BF7-9CF8-4CD1-AA34-577ADB39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813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pro-title-2">
            <a:extLst xmlns:a="http://schemas.openxmlformats.org/drawingml/2006/main">
              <a:ext uri="{FF2B5EF4-FFF2-40B4-BE49-F238E27FC236}">
                <a16:creationId xmlns:a16="http://schemas.microsoft.com/office/drawing/2014/main" id="{043573C1-3B62-4E34-963B-40AC03E4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B54E36"/>
                </a:solidFill>
              </a:defRPr>
            </a:pPr>
            <a:r>
              <a:rPr sz="1275" b="1" i="0">
                <a:solidFill>
                  <a:srgbClr val="B54E36"/>
                </a:solidFill>
              </a:rPr>
              <a:t>NOT YET CLONE-RUNNABLE</a:t>
            </a:r>
          </a:p>
        </p:txBody>
      </p:sp>
      <p:sp>
        <p:nvSpPr>
          <p:cNvPr id="17" name="repro-text-2">
            <a:extLst xmlns:a="http://schemas.openxmlformats.org/drawingml/2006/main">
              <a:ext uri="{FF2B5EF4-FFF2-40B4-BE49-F238E27FC236}">
                <a16:creationId xmlns:a16="http://schemas.microsoft.com/office/drawing/2014/main" id="{8AA4074C-8976-48E0-93DA-5D7AB23E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304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Loop191/192 configs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Implementation modules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Paired predictions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Physical laptop evidence</a:t>
            </a:r>
          </a:p>
        </p:txBody>
      </p:sp>
      <p:sp>
        <p:nvSpPr>
          <p:cNvPr id="18" name="repro-protected">
            <a:extLst xmlns:a="http://schemas.openxmlformats.org/drawingml/2006/main">
              <a:ext uri="{FF2B5EF4-FFF2-40B4-BE49-F238E27FC236}">
                <a16:creationId xmlns:a16="http://schemas.microsoft.com/office/drawing/2014/main" id="{B96FD88A-6AC4-4B30-90E2-640901D8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00700"/>
            <a:ext cx="1024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Protected test remains sealed.</a:t>
            </a:r>
          </a:p>
        </p:txBody>
      </p:sp>
    </p:spTree>
    <p:extLst>
      <p:ext uri="{BB962C8B-B14F-4D97-AF65-F5344CB8AC3E}">
        <p14:creationId xmlns:p14="http://schemas.microsoft.com/office/powerpoint/2010/main" val="15501237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rule-12">
            <a:extLst xmlns:a="http://schemas.openxmlformats.org/drawingml/2006/main">
              <a:ext uri="{FF2B5EF4-FFF2-40B4-BE49-F238E27FC236}">
                <a16:creationId xmlns:a16="http://schemas.microsoft.com/office/drawing/2014/main" id="{C4F2CC0A-597D-459F-9922-07AB9BA5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67B1B754-CD26-4FFF-B67C-C176F3BA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DEFENSIBLE TAKEAWAY</a:t>
            </a:r>
          </a:p>
        </p:txBody>
      </p:sp>
      <p:sp>
        <p:nvSpPr>
          <p:cNvPr id="3" name="slide-title-12">
            <a:extLst xmlns:a="http://schemas.openxmlformats.org/drawingml/2006/main">
              <a:ext uri="{FF2B5EF4-FFF2-40B4-BE49-F238E27FC236}">
                <a16:creationId xmlns:a16="http://schemas.microsoft.com/office/drawing/2014/main" id="{827EF493-B915-4246-BA36-9D6B142E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A narrower conclusion is the stronger scientific result</a:t>
            </a:r>
          </a:p>
        </p:txBody>
      </p:sp>
      <p:sp>
        <p:nvSpPr>
          <p:cNvPr id="4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C769D4AD-932E-4E00-9E7D-FECD155D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12">
            <a:extLst xmlns:a="http://schemas.openxmlformats.org/drawingml/2006/main">
              <a:ext uri="{FF2B5EF4-FFF2-40B4-BE49-F238E27FC236}">
                <a16:creationId xmlns:a16="http://schemas.microsoft.com/office/drawing/2014/main" id="{B0F6EF79-5BCC-42AE-81F7-E5368115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scientific_sota_status = not_established</a:t>
            </a:r>
          </a:p>
        </p:txBody>
      </p:sp>
      <p:sp>
        <p:nvSpPr>
          <p:cNvPr id="6" name="page-12">
            <a:extLst xmlns:a="http://schemas.openxmlformats.org/drawingml/2006/main">
              <a:ext uri="{FF2B5EF4-FFF2-40B4-BE49-F238E27FC236}">
                <a16:creationId xmlns:a16="http://schemas.microsoft.com/office/drawing/2014/main" id="{5E10A3A9-813C-44BF-AF91-0EBE79A6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12</a:t>
            </a:r>
          </a:p>
        </p:txBody>
      </p:sp>
      <p:sp>
        <p:nvSpPr>
          <p:cNvPr id="7" name="s12-conclusion-claim-mark">
            <a:extLst xmlns:a="http://schemas.openxmlformats.org/drawingml/2006/main">
              <a:ext uri="{FF2B5EF4-FFF2-40B4-BE49-F238E27FC236}">
                <a16:creationId xmlns:a16="http://schemas.microsoft.com/office/drawing/2014/main" id="{04D22FED-1D31-4270-903F-00F0141A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12-conclusion-claim">
            <a:extLst xmlns:a="http://schemas.openxmlformats.org/drawingml/2006/main">
              <a:ext uri="{FF2B5EF4-FFF2-40B4-BE49-F238E27FC236}">
                <a16:creationId xmlns:a16="http://schemas.microsoft.com/office/drawing/2014/main" id="{6A7CE9A2-6145-40BA-87A8-B4DB0DD4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nnU-Net records higher development-validation point estimates, the hard contour prior fails its matched train-screen gate, and no protected-test or state-of-the-art claim is authorized.</a:t>
            </a:r>
          </a:p>
        </p:txBody>
      </p:sp>
      <p:sp>
        <p:nvSpPr>
          <p:cNvPr id="9" name="conclusion-number-0">
            <a:extLst xmlns:a="http://schemas.openxmlformats.org/drawingml/2006/main">
              <a:ext uri="{FF2B5EF4-FFF2-40B4-BE49-F238E27FC236}">
                <a16:creationId xmlns:a16="http://schemas.microsoft.com/office/drawing/2014/main" id="{D884B08C-9AEC-46E9-978A-9702F8B7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77D76"/>
                </a:solidFill>
              </a:defRPr>
            </a:pPr>
            <a:r>
              <a:rPr sz="2400" b="1" i="0">
                <a:solidFill>
                  <a:srgbClr val="177D76"/>
                </a:solidFill>
              </a:rPr>
              <a:t>01</a:t>
            </a:r>
          </a:p>
        </p:txBody>
      </p:sp>
      <p:sp>
        <p:nvSpPr>
          <p:cNvPr id="10" name="conclusion-statement-0">
            <a:extLst xmlns:a="http://schemas.openxmlformats.org/drawingml/2006/main">
              <a:ext uri="{FF2B5EF4-FFF2-40B4-BE49-F238E27FC236}">
                <a16:creationId xmlns:a16="http://schemas.microsoft.com/office/drawing/2014/main" id="{5EE8EAFD-43BA-4651-8B35-A81AFD2B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00350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D211F"/>
                </a:solidFill>
              </a:defRPr>
            </a:pPr>
            <a:r>
              <a:rPr sz="1875" b="1" i="0">
                <a:solidFill>
                  <a:srgbClr val="1D211F"/>
                </a:solidFill>
              </a:rPr>
              <a:t>Repair leakage before optimizing models.</a:t>
            </a:r>
          </a:p>
        </p:txBody>
      </p:sp>
      <p:sp>
        <p:nvSpPr>
          <p:cNvPr id="11" name="conclusion-number-1">
            <a:extLst xmlns:a="http://schemas.openxmlformats.org/drawingml/2006/main">
              <a:ext uri="{FF2B5EF4-FFF2-40B4-BE49-F238E27FC236}">
                <a16:creationId xmlns:a16="http://schemas.microsoft.com/office/drawing/2014/main" id="{986001FE-7D03-4751-907C-A56F2D1B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77D76"/>
                </a:solidFill>
              </a:defRPr>
            </a:pPr>
            <a:r>
              <a:rPr sz="2400" b="1" i="0">
                <a:solidFill>
                  <a:srgbClr val="177D76"/>
                </a:solidFill>
              </a:rPr>
              <a:t>02</a:t>
            </a:r>
          </a:p>
        </p:txBody>
      </p:sp>
      <p:sp>
        <p:nvSpPr>
          <p:cNvPr id="12" name="conclusion-statement-1">
            <a:extLst xmlns:a="http://schemas.openxmlformats.org/drawingml/2006/main">
              <a:ext uri="{FF2B5EF4-FFF2-40B4-BE49-F238E27FC236}">
                <a16:creationId xmlns:a16="http://schemas.microsoft.com/office/drawing/2014/main" id="{07BDEA9D-7F90-407F-BD8E-D4525123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00450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D211F"/>
                </a:solidFill>
              </a:defRPr>
            </a:pPr>
            <a:r>
              <a:rPr sz="1875" b="1" i="0">
                <a:solidFill>
                  <a:srgbClr val="1D211F"/>
                </a:solidFill>
              </a:rPr>
              <a:t>Use strong baselines without hiding contract differences.</a:t>
            </a:r>
          </a:p>
        </p:txBody>
      </p:sp>
      <p:sp>
        <p:nvSpPr>
          <p:cNvPr id="13" name="conclusion-number-2">
            <a:extLst xmlns:a="http://schemas.openxmlformats.org/drawingml/2006/main">
              <a:ext uri="{FF2B5EF4-FFF2-40B4-BE49-F238E27FC236}">
                <a16:creationId xmlns:a16="http://schemas.microsoft.com/office/drawing/2014/main" id="{2EA5DD2B-51E5-4591-82A5-D69B498F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B54E36"/>
                </a:solidFill>
              </a:defRPr>
            </a:pPr>
            <a:r>
              <a:rPr sz="2400" b="1" i="0">
                <a:solidFill>
                  <a:srgbClr val="B54E36"/>
                </a:solidFill>
              </a:rPr>
              <a:t>03</a:t>
            </a:r>
          </a:p>
        </p:txBody>
      </p:sp>
      <p:sp>
        <p:nvSpPr>
          <p:cNvPr id="14" name="conclusion-statement-2">
            <a:extLst xmlns:a="http://schemas.openxmlformats.org/drawingml/2006/main">
              <a:ext uri="{FF2B5EF4-FFF2-40B4-BE49-F238E27FC236}">
                <a16:creationId xmlns:a16="http://schemas.microsoft.com/office/drawing/2014/main" id="{921DAEC9-4E60-4CDC-B82B-6F5B2BEE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D211F"/>
                </a:solidFill>
              </a:defRPr>
            </a:pPr>
            <a:r>
              <a:rPr sz="1875" b="1" i="0">
                <a:solidFill>
                  <a:srgbClr val="1D211F"/>
                </a:solidFill>
              </a:rPr>
              <a:t>Publish negative ablations when they reject a mechanism.</a:t>
            </a:r>
          </a:p>
        </p:txBody>
      </p:sp>
      <p:sp>
        <p:nvSpPr>
          <p:cNvPr id="15" name="conclusion-next">
            <a:extLst xmlns:a="http://schemas.openxmlformats.org/drawingml/2006/main">
              <a:ext uri="{FF2B5EF4-FFF2-40B4-BE49-F238E27FC236}">
                <a16:creationId xmlns:a16="http://schemas.microsoft.com/office/drawing/2014/main" id="{54B6A728-8743-4DF4-8D7E-09BF5828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1045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nclusion-next-label">
            <a:extLst xmlns:a="http://schemas.openxmlformats.org/drawingml/2006/main">
              <a:ext uri="{FF2B5EF4-FFF2-40B4-BE49-F238E27FC236}">
                <a16:creationId xmlns:a16="http://schemas.microsoft.com/office/drawing/2014/main" id="{F2FDF8DA-12E3-4AB3-8A43-09CCC958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8C39D"/>
                </a:solidFill>
              </a:defRPr>
            </a:pPr>
            <a:r>
              <a:rPr sz="1050" b="1" i="0">
                <a:solidFill>
                  <a:srgbClr val="D8C39D"/>
                </a:solidFill>
              </a:rPr>
              <a:t>NEXT DEFENSIBLE EXPERIMENT</a:t>
            </a:r>
          </a:p>
        </p:txBody>
      </p:sp>
      <p:sp>
        <p:nvSpPr>
          <p:cNvPr id="17" name="conclusion-next-text">
            <a:extLst xmlns:a="http://schemas.openxmlformats.org/drawingml/2006/main">
              <a:ext uri="{FF2B5EF4-FFF2-40B4-BE49-F238E27FC236}">
                <a16:creationId xmlns:a16="http://schemas.microsoft.com/office/drawing/2014/main" id="{C00E2EFE-0276-4AEF-B6BF-B7433F12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334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425" b="1" i="0">
                <a:solidFill>
                  <a:srgbClr val="F4EFE4"/>
                </a:solidFill>
              </a:defRPr>
            </a:pPr>
            <a:r>
              <a:rPr sz="1425" b="1" i="0">
                <a:solidFill>
                  <a:srgbClr val="F4EFE4"/>
                </a:solidFill>
              </a:rPr>
              <a:t>Reproduce both systems under one geometry contract before any protected test.</a:t>
            </a:r>
          </a:p>
        </p:txBody>
      </p:sp>
    </p:spTree>
    <p:extLst>
      <p:ext uri="{BB962C8B-B14F-4D97-AF65-F5344CB8AC3E}">
        <p14:creationId xmlns:p14="http://schemas.microsoft.com/office/powerpoint/2010/main" val="3623504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2026-07-21T05:50:42.6770000Z</dcterms:created>
  <dcterms:modified xsi:type="dcterms:W3CDTF">2026-07-21T05:50:42.6770000Z</dcterms:modified>
</coreProperties>
</file>