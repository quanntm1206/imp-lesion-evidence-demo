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eb930f8304156" /><Relationship Type="http://schemas.openxmlformats.org/officeDocument/2006/relationships/extended-properties" Target="/docProps/app.xml" Id="R83b33b6eae0f45de" /><Relationship Type="http://schemas.openxmlformats.org/officeDocument/2006/relationships/officeDocument" Target="/ppt/presentation.xml" Id="R0158cd665c4d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f7d2b3bc4949d7"/>
  </p:sldMasterIdLst>
  <p:notesMasterIdLst>
    <p:notesMasterId xmlns:r="http://schemas.openxmlformats.org/officeDocument/2006/relationships" r:id="R4c841d5260014247"/>
  </p:notesMasterIdLst>
  <p:sldIdLst>
    <p:sldId xmlns:r="http://schemas.openxmlformats.org/officeDocument/2006/relationships" id="256" r:id="Ra75ee4a5a06149d7"/>
    <p:sldId xmlns:r="http://schemas.openxmlformats.org/officeDocument/2006/relationships" id="257" r:id="R595f10156f274873"/>
    <p:sldId xmlns:r="http://schemas.openxmlformats.org/officeDocument/2006/relationships" id="258" r:id="R5903a973f3d44d0c"/>
    <p:sldId xmlns:r="http://schemas.openxmlformats.org/officeDocument/2006/relationships" id="259" r:id="R7690e6289b2144b0"/>
    <p:sldId xmlns:r="http://schemas.openxmlformats.org/officeDocument/2006/relationships" id="260" r:id="Rb90fca5f822a467b"/>
    <p:sldId xmlns:r="http://schemas.openxmlformats.org/officeDocument/2006/relationships" id="261" r:id="Rcfa263e4dc504fa8"/>
    <p:sldId xmlns:r="http://schemas.openxmlformats.org/officeDocument/2006/relationships" id="262" r:id="R9c2844d747504f55"/>
    <p:sldId xmlns:r="http://schemas.openxmlformats.org/officeDocument/2006/relationships" id="263" r:id="R2150a2510ea24652"/>
    <p:sldId xmlns:r="http://schemas.openxmlformats.org/officeDocument/2006/relationships" id="264" r:id="R62f96056cac6401f"/>
    <p:sldId xmlns:r="http://schemas.openxmlformats.org/officeDocument/2006/relationships" id="265" r:id="R2c7b1ad46a814169"/>
    <p:sldId xmlns:r="http://schemas.openxmlformats.org/officeDocument/2006/relationships" id="266" r:id="Rd708a40be5dc4788"/>
    <p:sldId xmlns:r="http://schemas.openxmlformats.org/officeDocument/2006/relationships" id="267" r:id="R43eb7acc863141a9"/>
    <p:sldId xmlns:r="http://schemas.openxmlformats.org/officeDocument/2006/relationships" id="268" r:id="R4cd9c91f3cf9414f"/>
    <p:sldId xmlns:r="http://schemas.openxmlformats.org/officeDocument/2006/relationships" id="269" r:id="Re51b06ff99f0436e"/>
    <p:sldId xmlns:r="http://schemas.openxmlformats.org/officeDocument/2006/relationships" id="270" r:id="R466431ade54744a2"/>
    <p:sldId xmlns:r="http://schemas.openxmlformats.org/officeDocument/2006/relationships" id="271" r:id="Rddef64c64dde42f4"/>
    <p:sldId xmlns:r="http://schemas.openxmlformats.org/officeDocument/2006/relationships" id="272" r:id="Rf62956e91f8c4c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1956358f64aba" /><Relationship Type="http://schemas.openxmlformats.org/officeDocument/2006/relationships/slideMaster" Target="/ppt/slideMasters/slideMaster1.xml" Id="Rb9f7d2b3bc4949d7" /><Relationship Type="http://schemas.openxmlformats.org/officeDocument/2006/relationships/notesMaster" Target="/ppt/notesMasters/notesMaster1.xml" Id="R4c841d5260014247" /><Relationship Type="http://schemas.openxmlformats.org/officeDocument/2006/relationships/presProps" Target="/ppt/presProps.xml" Id="R75aa8de85e784902" /><Relationship Type="http://schemas.openxmlformats.org/officeDocument/2006/relationships/tableStyles" Target="/ppt/tableStyles.xml" Id="R443a16e4749c4f9e" /><Relationship Type="http://schemas.openxmlformats.org/officeDocument/2006/relationships/slide" Target="/ppt/slides/slide1.xml" Id="Ra75ee4a5a06149d7" /><Relationship Type="http://schemas.openxmlformats.org/officeDocument/2006/relationships/slide" Target="/ppt/slides/slide2.xml" Id="R595f10156f274873" /><Relationship Type="http://schemas.openxmlformats.org/officeDocument/2006/relationships/slide" Target="/ppt/slides/slide3.xml" Id="R5903a973f3d44d0c" /><Relationship Type="http://schemas.openxmlformats.org/officeDocument/2006/relationships/slide" Target="/ppt/slides/slide4.xml" Id="R7690e6289b2144b0" /><Relationship Type="http://schemas.openxmlformats.org/officeDocument/2006/relationships/slide" Target="/ppt/slides/slide5.xml" Id="Rb90fca5f822a467b" /><Relationship Type="http://schemas.openxmlformats.org/officeDocument/2006/relationships/slide" Target="/ppt/slides/slide6.xml" Id="Rcfa263e4dc504fa8" /><Relationship Type="http://schemas.openxmlformats.org/officeDocument/2006/relationships/slide" Target="/ppt/slides/slide7.xml" Id="R9c2844d747504f55" /><Relationship Type="http://schemas.openxmlformats.org/officeDocument/2006/relationships/slide" Target="/ppt/slides/slide8.xml" Id="R2150a2510ea24652" /><Relationship Type="http://schemas.openxmlformats.org/officeDocument/2006/relationships/slide" Target="/ppt/slides/slide9.xml" Id="R62f96056cac6401f" /><Relationship Type="http://schemas.openxmlformats.org/officeDocument/2006/relationships/slide" Target="/ppt/slides/slide10.xml" Id="R2c7b1ad46a814169" /><Relationship Type="http://schemas.openxmlformats.org/officeDocument/2006/relationships/slide" Target="/ppt/slides/slide11.xml" Id="Rd708a40be5dc4788" /><Relationship Type="http://schemas.openxmlformats.org/officeDocument/2006/relationships/slide" Target="/ppt/slides/slide12.xml" Id="R43eb7acc863141a9" /><Relationship Type="http://schemas.openxmlformats.org/officeDocument/2006/relationships/slide" Target="/ppt/slides/slide13.xml" Id="R4cd9c91f3cf9414f" /><Relationship Type="http://schemas.openxmlformats.org/officeDocument/2006/relationships/slide" Target="/ppt/slides/slide14.xml" Id="Re51b06ff99f0436e" /><Relationship Type="http://schemas.openxmlformats.org/officeDocument/2006/relationships/slide" Target="/ppt/slides/slide15.xml" Id="R466431ade54744a2" /><Relationship Type="http://schemas.openxmlformats.org/officeDocument/2006/relationships/slide" Target="/ppt/slides/slide16.xml" Id="Rddef64c64dde42f4" /><Relationship Type="http://schemas.openxmlformats.org/officeDocument/2006/relationships/slide" Target="/ppt/slides/slide17.xml" Id="Rf62956e91f8c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159ae462c4d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3c1ed63674bcc" /><Relationship Type="http://schemas.openxmlformats.org/officeDocument/2006/relationships/notesMaster" Target="/ppt/notesMasters/notesMaster1.xml" Id="R160e53fcb9b04a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dbf247543401d" /><Relationship Type="http://schemas.openxmlformats.org/officeDocument/2006/relationships/notesMaster" Target="/ppt/notesMasters/notesMaster1.xml" Id="Rdb73cb831485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ffd2c650e4a24" /><Relationship Type="http://schemas.openxmlformats.org/officeDocument/2006/relationships/notesMaster" Target="/ppt/notesMasters/notesMaster1.xml" Id="Rdbe3b576c37448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ff72aa39e4a81" /><Relationship Type="http://schemas.openxmlformats.org/officeDocument/2006/relationships/notesMaster" Target="/ppt/notesMasters/notesMaster1.xml" Id="Re5217ac08b10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7b32345a0439a" /><Relationship Type="http://schemas.openxmlformats.org/officeDocument/2006/relationships/notesMaster" Target="/ppt/notesMasters/notesMaster1.xml" Id="R45fd0413857a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b1764a10484ed4" /><Relationship Type="http://schemas.openxmlformats.org/officeDocument/2006/relationships/notesMaster" Target="/ppt/notesMasters/notesMaster1.xml" Id="Reb76254ead56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4682c5e264382" /><Relationship Type="http://schemas.openxmlformats.org/officeDocument/2006/relationships/notesMaster" Target="/ppt/notesMasters/notesMaster1.xml" Id="R363c01addbe5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a20677f2fa4f3f" /><Relationship Type="http://schemas.openxmlformats.org/officeDocument/2006/relationships/notesMaster" Target="/ppt/notesMasters/notesMaster1.xml" Id="R9201e382d4484a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7fc8f8c66a4363" /><Relationship Type="http://schemas.openxmlformats.org/officeDocument/2006/relationships/notesMaster" Target="/ppt/notesMasters/notesMaster1.xml" Id="Rac2d9a7e6cbb48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d723d94a64e61" /><Relationship Type="http://schemas.openxmlformats.org/officeDocument/2006/relationships/notesMaster" Target="/ppt/notesMasters/notesMaster1.xml" Id="Rb2accf5e39c241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8f4aad1a844e0" /><Relationship Type="http://schemas.openxmlformats.org/officeDocument/2006/relationships/notesMaster" Target="/ppt/notesMasters/notesMaster1.xml" Id="Rf20953c153e8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cb8ed9e58b4dea" /><Relationship Type="http://schemas.openxmlformats.org/officeDocument/2006/relationships/notesMaster" Target="/ppt/notesMasters/notesMaster1.xml" Id="R5413982ab83c47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023b4679fd4a77" /><Relationship Type="http://schemas.openxmlformats.org/officeDocument/2006/relationships/notesMaster" Target="/ppt/notesMasters/notesMaster1.xml" Id="Rdd4e385e90124f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7da86a7fb343e7" /><Relationship Type="http://schemas.openxmlformats.org/officeDocument/2006/relationships/notesMaster" Target="/ppt/notesMasters/notesMaster1.xml" Id="R0af14812bccc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ee99bc1c7944fd" /><Relationship Type="http://schemas.openxmlformats.org/officeDocument/2006/relationships/notesMaster" Target="/ppt/notesMasters/notesMaster1.xml" Id="R42ac024b36fe44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6a94a7cc064075" /><Relationship Type="http://schemas.openxmlformats.org/officeDocument/2006/relationships/notesMaster" Target="/ppt/notesMasters/notesMaster1.xml" Id="R2622fcd60ee64a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dac0dc19d54959" /><Relationship Type="http://schemas.openxmlformats.org/officeDocument/2006/relationships/notesMaster" Target="/ppt/notesMasters/notesMaster1.xml" Id="R619f1a690baa4e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a high Dice score is not useful when the evidence contract is broken.,State that this talk values what the evidence supports, including a negative result.,Do not describe the system as clinical or state of the 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leakage is a scientific design defect, not a cosmetic caveat.,Do not compare legacy model scores as if they were independent test results.,Use this slide to motivate the evidence hierarchy.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architecture comparison descriptive because it has one recorded run per system.,Describe Loop206 as a controlled train-screen ablation with three selected seeds.,Transition to the interactive pipeline as the map of the evidence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nonlinearly: select the module that best matches the audience question.,For the default talk, visit modules from left to right.,The pipeline is a navigation spine, not a decorative architecture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no detected overlap, not proof of no hidden biological relationship.,Clarify that validation was already opened and used adaptively.,The 430-row test partition remains sealed.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calling this a controlled architecture ablation.,Explain that nnU-Net is a strong system-level baseline.,Mention the historical geometry mismatch as a limitation, not a hidden footnote.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values as recorded point estimates.,Do not say statistically significant, superior, or test performance.,Use the precision direction to show that metric trade-offs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stronger causal comparison because the arms are matched.,The interval is conditional on the selected seeds and does not estimate seed-selection uncertainty.,No protected image or mask participates in fitting, thresholding, selection, or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negative result: it is the main controlled finding.,Do not generalize from this binary contour mechanism to all boundary methods.,Explain that a failed preregistered gate prevents expensive protected-test fishing.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live dual lane only after local preflight passes; it chains L206 control and reconstructed L192 on the same public/synthetic RGB.,Two public samples are illustrative only: show masks, never ground truth, accuracy, or generalization; receipts are eligible only after a successful dual run, and no canonical live receipt is included.,Disclose asymmetric training exposure for both public samples: included in Clean-v3 L192 training, excluded from the L206 308-group fit, and in its 76-group train-screen holdout.,Keep audited fixed L206 zero-versus-contour evidence separate from the live lane; it is not paper RQ1.,Keep the non-clinical warning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Defense question: what evidence supports split validity before any model comparison?,Keep the distinction between detectable overlap and proof of no hidden relationship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Defense question: which comparison is descriptive, and which isolates one intervention?,Do not turn a system-level comparison into an encoder-only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Defense question: why is the architecture result descriptive rather than a superiority claim?,Separate selected-seed uncertainty from the conditional Loop206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Defense question: which lane is illustrative, and which lane is audited fixed evidence?,Keep the non-clinical notice and no-generalization boundary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Defense question: what is hash-bound, and what remains unavailable for a clone-runnable experiment?,Describe deployment verification separately from original-runtime equivalence.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digest-recorded claims from source-byte verification, which is available only in the strict local audit, and from reproduction of complete historical experiments.,Name the reconstructed Loop192 runtime; do not imply original-runtime equivalence or E2E validation.,RQ1-v2 is pending/unverified until P1. Keep protected test and non-clinical limits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tension: evidence discipline prevented a false leaderboard claim.,End on the next defensible experiment, not a generic thank-you slide.,Invite questions about evidence boundaries, the matched ablation, or the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Release manifest SHA-256: 435606d5adc296be57405c65a9c725af3dff96c15f9aabf7ac0924d06387a264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75d1ead674b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3d52e102740ab" /><Relationship Type="http://schemas.openxmlformats.org/officeDocument/2006/relationships/slideLayout" Target="/ppt/slideLayouts/slideLayout1.xml" Id="Rc65b0144562b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b0144562b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55d7d1e5c444427" /><Relationship Type="http://schemas.openxmlformats.org/officeDocument/2006/relationships/notesSlide" Target="/ppt/notesSlides/notesSlide1.xml" Id="R4c7ed799e17c49f0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ca96c692cb54dd5" /><Relationship Type="http://schemas.openxmlformats.org/officeDocument/2006/relationships/notesSlide" Target="/ppt/notesSlides/notesSlide2.xml" Id="Rded58c65a0f34c8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f7d1db692364b7b" /><Relationship Type="http://schemas.openxmlformats.org/officeDocument/2006/relationships/notesSlide" Target="/ppt/notesSlides/notesSlide3.xml" Id="Re09890038e544a3d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92ac411bc6c423f" /><Relationship Type="http://schemas.openxmlformats.org/officeDocument/2006/relationships/notesSlide" Target="/ppt/notesSlides/notesSlide4.xml" Id="R4bbcccd1ecc146d6" /><Relationship Id="rIdNav1" Type="http://schemas.openxmlformats.org/officeDocument/2006/relationships/slide" Target="slide5.xml" /><Relationship Id="rIdNav2" Type="http://schemas.openxmlformats.org/officeDocument/2006/relationships/slide" Target="slide6.xml" /><Relationship Id="rIdNav3" Type="http://schemas.openxmlformats.org/officeDocument/2006/relationships/slide" Target="slide7.xml" /><Relationship Id="rIdNav4" Type="http://schemas.openxmlformats.org/officeDocument/2006/relationships/slide" Target="slide8.xml" /><Relationship Id="rIdNav5" Type="http://schemas.openxmlformats.org/officeDocument/2006/relationships/slide" Target="slide10.xml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7330c4fd9a54d4a" /><Relationship Type="http://schemas.openxmlformats.org/officeDocument/2006/relationships/notesSlide" Target="/ppt/notesSlides/notesSlide5.xml" Id="R187d4994532a4a96" /><Relationship Id="rIdNav1" Type="http://schemas.openxmlformats.org/officeDocument/2006/relationships/slide" Target="slide4.xml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4f924b8481a4c47" /><Relationship Type="http://schemas.openxmlformats.org/officeDocument/2006/relationships/notesSlide" Target="/ppt/notesSlides/notesSlide6.xml" Id="R16d704b1bb7140c0" /><Relationship Id="rIdNav1" Type="http://schemas.openxmlformats.org/officeDocument/2006/relationships/slide" Target="slide4.xml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82d46dc8db2447e" /><Relationship Type="http://schemas.openxmlformats.org/officeDocument/2006/relationships/notesSlide" Target="/ppt/notesSlides/notesSlide7.xml" Id="Re6113fc878474ecd" /><Relationship Id="rIdNav1" Type="http://schemas.openxmlformats.org/officeDocument/2006/relationships/slide" Target="slide4.xml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56eefa662d4499e" /><Relationship Type="http://schemas.openxmlformats.org/officeDocument/2006/relationships/notesSlide" Target="/ppt/notesSlides/notesSlide8.xml" Id="R48c556c9bdd94573" /><Relationship Id="rIdNav1" Type="http://schemas.openxmlformats.org/officeDocument/2006/relationships/slide" Target="slide4.xml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50435a210324b9e" /><Relationship Type="http://schemas.openxmlformats.org/officeDocument/2006/relationships/image" Target="/ppt/media/image.png" Id="R57cbee66eb3d41a2" /><Relationship Type="http://schemas.openxmlformats.org/officeDocument/2006/relationships/notesSlide" Target="/ppt/notesSlides/notesSlide9.xml" Id="R13e65919771b4714" /><Relationship Id="rIdNav1" Type="http://schemas.openxmlformats.org/officeDocument/2006/relationships/slide" Target="slide4.xml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1aa59500db14e13" /><Relationship Type="http://schemas.openxmlformats.org/officeDocument/2006/relationships/image" Target="/ppt/media/image2.png" Id="R2101cdd761054b76" /><Relationship Type="http://schemas.openxmlformats.org/officeDocument/2006/relationships/notesSlide" Target="/ppt/notesSlides/notesSlide10.xml" Id="R803876d23d77413d" /><Relationship Id="rIdNav1" Type="http://schemas.openxmlformats.org/officeDocument/2006/relationships/slide" Target="slide4.xml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3802897a2ad47de" /><Relationship Type="http://schemas.openxmlformats.org/officeDocument/2006/relationships/notesSlide" Target="/ppt/notesSlides/notesSlide11.xml" Id="R12db9ed22da64e90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51131ff7b58499e" /><Relationship Type="http://schemas.openxmlformats.org/officeDocument/2006/relationships/notesSlide" Target="/ppt/notesSlides/notesSlide12.xml" Id="R290934bb626e4cb6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65a3d74c6634534" /><Relationship Type="http://schemas.openxmlformats.org/officeDocument/2006/relationships/notesSlide" Target="/ppt/notesSlides/notesSlide13.xml" Id="Rc890791619344394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6f2680a01cb4cea" /><Relationship Type="http://schemas.openxmlformats.org/officeDocument/2006/relationships/notesSlide" Target="/ppt/notesSlides/notesSlide14.xml" Id="Rd8d5ce5650544d01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45c8404023e4fe8" /><Relationship Type="http://schemas.openxmlformats.org/officeDocument/2006/relationships/notesSlide" Target="/ppt/notesSlides/notesSlide15.xml" Id="R40cd227120ff494b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4b4b1d254b24295" /><Relationship Type="http://schemas.openxmlformats.org/officeDocument/2006/relationships/notesSlide" Target="/ppt/notesSlides/notesSlide16.xml" Id="Rfcb9c6b7e1304615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3d5fc711f0e4a0e" /><Relationship Type="http://schemas.openxmlformats.org/officeDocument/2006/relationships/notesSlide" Target="/ppt/notesSlides/notesSlide17.xml" Id="R2f8556efc3234f3f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D211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title-rust-field">
            <a:extLst>
              <a:ext uri="{FF2B5EF4-FFF2-40B4-BE49-F238E27FC236}">
                <a16:creationId id="{87EFD42C-9A74-4383-A220-ABE62F273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title-teal-field">
            <a:extLst>
              <a:ext uri="{FF2B5EF4-FFF2-40B4-BE49-F238E27FC236}">
                <a16:creationId id="{9D5F41B2-061B-4BB1-8D52-7C7FD85907D0}"/>
              </a:ext>
            </a:extLst>
          </p:cNvPr>
          <p:cNvSpPr>
            <a:spLocks noGrp="1"/>
          </p:cNvSpPr>
          <p:nvPr/>
        </p:nvSpPr>
        <p:spPr>
          <a:xfrm>
            <a:off x="9810750" y="0"/>
            <a:ext cx="2381250" cy="68580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3" name="title-kicker">
            <a:extLst>
              <a:ext uri="{FF2B5EF4-FFF2-40B4-BE49-F238E27FC236}">
                <a16:creationId id="{326FAF95-CD7F-45BC-B433-5420EE90526C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D8C39D"/>
                </a:solidFill>
              </a:defRPr>
            </a:pPr>
            <a:r>
              <a:rPr sz="975" b="1" i="0">
                <a:solidFill>
                  <a:srgbClr val="D8C39D"/>
                </a:solidFill>
              </a:rPr>
              <a:t>IMP PROJECT RESEARCH DEFENSE</a:t>
            </a:r>
          </a:p>
        </p:txBody>
      </p:sp>
      <p:sp>
        <p:nvSpPr>
          <p:cNvPr id="4" name="title-main">
            <a:extLst>
              <a:ext uri="{FF2B5EF4-FFF2-40B4-BE49-F238E27FC236}">
                <a16:creationId id="{87EF61C3-DA96-4D11-86DD-C60CC0D7514B}"/>
              </a:ext>
            </a:extLst>
          </p:cNvPr>
          <p:cNvSpPr>
            <a:spLocks noGrp="1"/>
          </p:cNvSpPr>
          <p:nvPr/>
        </p:nvSpPr>
        <p:spPr>
          <a:xfrm>
            <a:off x="762000" y="1295400"/>
            <a:ext cx="8001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F4EFE4"/>
                </a:solidFill>
              </a:defRPr>
            </a:pPr>
            <a:r>
              <a:rPr sz="4800" b="1" i="0">
                <a:solidFill>
                  <a:srgbClr val="F4EFE4"/>
                </a:solidFill>
              </a:rPr>
              <a:t>Evidence before leaderboard claims</a:t>
            </a:r>
          </a:p>
        </p:txBody>
      </p:sp>
      <p:sp>
        <p:nvSpPr>
          <p:cNvPr id="5" name="title-claim">
            <a:extLst>
              <a:ext uri="{FF2B5EF4-FFF2-40B4-BE49-F238E27FC236}">
                <a16:creationId id="{727CB2C8-F184-4399-8D0A-7170605D84FA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7429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D6E7E1"/>
                </a:solidFill>
              </a:defRPr>
            </a:pPr>
            <a:r>
              <a:rPr sz="1725" b="0" i="0">
                <a:solidFill>
                  <a:srgbClr val="D6E7E1"/>
                </a:solidFill>
              </a:rPr>
              <a:t>A repaired evidence contract turns a contaminated benchmark and a failed hypothesis into defensible research.</a:t>
            </a:r>
          </a:p>
        </p:txBody>
      </p:sp>
      <p:sp>
        <p:nvSpPr>
          <p:cNvPr id="6" name="title-rule">
            <a:extLst>
              <a:ext uri="{FF2B5EF4-FFF2-40B4-BE49-F238E27FC236}">
                <a16:creationId id="{AC4CE215-5096-4CA1-9ACF-EED04C1BA8B3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7239000" cy="190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7" name="title-baseline">
            <a:extLst>
              <a:ext uri="{FF2B5EF4-FFF2-40B4-BE49-F238E27FC236}">
                <a16:creationId id="{1F6F4ABB-4542-4916-B9EB-370890FE8255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752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4EFE4"/>
                </a:solidFill>
              </a:defRPr>
            </a:pPr>
            <a:r>
              <a:rPr sz="1500" b="1" i="0">
                <a:solidFill>
                  <a:srgbClr val="F4EFE4"/>
                </a:solidFill>
              </a:rPr>
              <a:t>MiT-B3 U-Net versus nnU-Net v2</a:t>
            </a:r>
          </a:p>
        </p:txBody>
      </p:sp>
      <p:sp>
        <p:nvSpPr>
          <p:cNvPr id="8" name="title-boundary">
            <a:extLst>
              <a:ext uri="{FF2B5EF4-FFF2-40B4-BE49-F238E27FC236}">
                <a16:creationId id="{6ECFB08C-1323-4EA8-89BC-EA971C82392F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752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D8C39D"/>
                </a:solidFill>
              </a:defRPr>
            </a:pPr>
            <a:r>
              <a:rPr sz="1200" b="0" i="0">
                <a:solidFill>
                  <a:srgbClr val="D8C39D"/>
                </a:solidFill>
              </a:rPr>
              <a:t>Negative contour-channel ablation</a:t>
            </a:r>
          </a:p>
          <a:p>
            <a:pPr algn="l">
              <a:defRPr sz="1200" b="0" i="0">
                <a:solidFill>
                  <a:srgbClr val="D8C39D"/>
                </a:solidFill>
              </a:defRPr>
            </a:pPr>
            <a:r>
              <a:rPr sz="1200" b="0" i="0">
                <a:solidFill>
                  <a:srgbClr val="D8C39D"/>
                </a:solidFill>
              </a:rPr>
              <a:t>Protected test remains sealed; this is not state of the art</a:t>
            </a:r>
          </a:p>
        </p:txBody>
      </p:sp>
      <p:sp>
        <p:nvSpPr>
          <p:cNvPr id="9" name="title-atlas">
            <a:extLst>
              <a:ext uri="{FF2B5EF4-FFF2-40B4-BE49-F238E27FC236}">
                <a16:creationId id="{9F7F4B6B-EE7A-46C7-8444-075C03EED829}"/>
              </a:ext>
            </a:extLst>
          </p:cNvPr>
          <p:cNvSpPr>
            <a:spLocks noGrp="1"/>
          </p:cNvSpPr>
          <p:nvPr/>
        </p:nvSpPr>
        <p:spPr>
          <a:xfrm>
            <a:off x="10001250" y="1200150"/>
            <a:ext cx="1714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75" b="1" i="0">
                <a:solidFill>
                  <a:srgbClr val="F4EFE4"/>
                </a:solidFill>
              </a:defRPr>
            </a:pPr>
            <a:r>
              <a:rPr sz="2775" b="1" i="0">
                <a:solidFill>
                  <a:srgbClr val="F4EFE4"/>
                </a:solidFill>
              </a:rPr>
              <a:t>EVIDENCE</a:t>
            </a:r>
          </a:p>
          <a:p>
            <a:pPr algn="ctr">
              <a:defRPr sz="2775" b="1" i="0">
                <a:solidFill>
                  <a:srgbClr val="F4EFE4"/>
                </a:solidFill>
              </a:defRPr>
            </a:pPr>
            <a:r>
              <a:rPr sz="2775" b="1" i="0">
                <a:solidFill>
                  <a:srgbClr val="F4EFE4"/>
                </a:solidFill>
              </a:rPr>
              <a:t>ATLAS</a:t>
            </a:r>
          </a:p>
        </p:txBody>
      </p:sp>
      <p:sp>
        <p:nvSpPr>
          <p:cNvPr id="10" name="title-meta">
            <a:extLst>
              <a:ext uri="{FF2B5EF4-FFF2-40B4-BE49-F238E27FC236}">
                <a16:creationId id="{0556BD8B-56B4-4238-9DAA-94E728AEB0E3}"/>
              </a:ext>
            </a:extLst>
          </p:cNvPr>
          <p:cNvSpPr>
            <a:spLocks noGrp="1"/>
          </p:cNvSpPr>
          <p:nvPr/>
        </p:nvSpPr>
        <p:spPr>
          <a:xfrm>
            <a:off x="10001250" y="56197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 i="0">
                <a:solidFill>
                  <a:srgbClr val="F4EFE4"/>
                </a:solidFill>
              </a:defRPr>
            </a:pPr>
            <a:r>
              <a:rPr sz="975" b="0" i="0">
                <a:solidFill>
                  <a:srgbClr val="F4EFE4"/>
                </a:solidFill>
              </a:rPr>
              <a:t>research report | July 2026</a:t>
            </a:r>
          </a:p>
        </p:txBody>
      </p:sp>
    </p:spTree>
    <p:extLst>
      <p:ext uri="{BB962C8B-B14F-4D97-AF65-F5344CB8AC3E}">
        <p14:creationId val="1868410915"/>
      </p:ext>
    </p:extLst>
  </p:cSld>
  <p:transition spd="med">
    <p:fade/>
  </p:transition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top-rule-2">
            <a:extLst>
              <a:ext uri="{FF2B5EF4-FFF2-40B4-BE49-F238E27FC236}">
                <a16:creationId id="{82D10DC9-6BC5-42F4-80B3-2181AFE0F8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2">
            <a:extLst>
              <a:ext uri="{FF2B5EF4-FFF2-40B4-BE49-F238E27FC236}">
                <a16:creationId id="{016342FE-6A62-4B71-822B-0CB685A447D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WHY THE STUDY NEEDED REPAIR</a:t>
            </a:r>
          </a:p>
        </p:txBody>
      </p:sp>
      <p:sp>
        <p:nvSpPr>
          <p:cNvPr id="3" name="slide-title-2">
            <a:extLst>
              <a:ext uri="{FF2B5EF4-FFF2-40B4-BE49-F238E27FC236}">
                <a16:creationId id="{F3359810-9FB4-41B2-8428-16A4C65FB134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Leakage changed the meaning of every favorable score</a:t>
            </a:r>
          </a:p>
        </p:txBody>
      </p:sp>
      <p:sp>
        <p:nvSpPr>
          <p:cNvPr id="4" name="footer-rule-2">
            <a:extLst>
              <a:ext uri="{FF2B5EF4-FFF2-40B4-BE49-F238E27FC236}">
                <a16:creationId id="{C4FED241-D2C0-4330-941A-CA47B4E59E31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2">
            <a:extLst>
              <a:ext uri="{FF2B5EF4-FFF2-40B4-BE49-F238E27FC236}">
                <a16:creationId id="{BD909149-AD8E-44C5-A9F6-70A154E45C48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legacy_patient_contaminated</a:t>
            </a:r>
          </a:p>
        </p:txBody>
      </p:sp>
      <p:sp>
        <p:nvSpPr>
          <p:cNvPr id="6" name="page-2">
            <a:extLst>
              <a:ext uri="{FF2B5EF4-FFF2-40B4-BE49-F238E27FC236}">
                <a16:creationId id="{A483588F-6D05-40BD-AF9A-F8CECB6DFC0F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02</a:t>
            </a:r>
          </a:p>
        </p:txBody>
      </p:sp>
      <p:sp>
        <p:nvSpPr>
          <p:cNvPr id="7" name="s02-leakage-claim-mark">
            <a:extLst>
              <a:ext uri="{FF2B5EF4-FFF2-40B4-BE49-F238E27FC236}">
                <a16:creationId id="{61DCDC1F-9359-4C1D-ADFC-6202A5D00171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02-leakage-claim">
            <a:extLst>
              <a:ext uri="{FF2B5EF4-FFF2-40B4-BE49-F238E27FC236}">
                <a16:creationId id="{930432C4-5541-4F3D-98FD-6620EDC6D16D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Three patient identities and 13 rows crossed legacy split boundaries, so the old leaderboard became historical evidence rather than a scientific ranking.</a:t>
            </a:r>
          </a:p>
        </p:txBody>
      </p:sp>
      <p:sp>
        <p:nvSpPr>
          <p:cNvPr id="9" name="leakage-boundary">
            <a:extLst>
              <a:ext uri="{FF2B5EF4-FFF2-40B4-BE49-F238E27FC236}">
                <a16:creationId id="{6A46BD39-79D8-4679-AC7D-C5FA1C2086A6}"/>
              </a:ext>
            </a:extLst>
          </p:cNvPr>
          <p:cNvSpPr>
            <a:spLocks noGrp="1"/>
          </p:cNvSpPr>
          <p:nvPr/>
        </p:nvSpPr>
        <p:spPr>
          <a:xfrm>
            <a:off x="3905250" y="2647950"/>
            <a:ext cx="38100" cy="26670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0" name="leakage-cross-1">
            <a:extLst>
              <a:ext uri="{FF2B5EF4-FFF2-40B4-BE49-F238E27FC236}">
                <a16:creationId id="{59BF0C96-10B8-48E3-83F5-4583084CD0F8}"/>
              </a:ext>
            </a:extLst>
          </p:cNvPr>
          <p:cNvSpPr>
            <a:spLocks noGrp="1"/>
          </p:cNvSpPr>
          <p:nvPr/>
        </p:nvSpPr>
        <p:spPr>
          <a:xfrm>
            <a:off x="3467100" y="3219450"/>
            <a:ext cx="952500" cy="47625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1" name="leakage-cross-2">
            <a:extLst>
              <a:ext uri="{FF2B5EF4-FFF2-40B4-BE49-F238E27FC236}">
                <a16:creationId id="{93AC6C19-DE35-4BFC-9DD2-7B3B6528CC81}"/>
              </a:ext>
            </a:extLst>
          </p:cNvPr>
          <p:cNvSpPr>
            <a:spLocks noGrp="1"/>
          </p:cNvSpPr>
          <p:nvPr/>
        </p:nvSpPr>
        <p:spPr>
          <a:xfrm>
            <a:off x="3467100" y="4038600"/>
            <a:ext cx="952500" cy="47625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2" name="leakage-cross-3">
            <a:extLst>
              <a:ext uri="{FF2B5EF4-FFF2-40B4-BE49-F238E27FC236}">
                <a16:creationId id="{B784507B-0FEB-4FD5-B237-DC8DB12282BE}"/>
              </a:ext>
            </a:extLst>
          </p:cNvPr>
          <p:cNvSpPr>
            <a:spLocks noGrp="1"/>
          </p:cNvSpPr>
          <p:nvPr/>
        </p:nvSpPr>
        <p:spPr>
          <a:xfrm>
            <a:off x="3467100" y="4857750"/>
            <a:ext cx="952500" cy="47625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3" name="s02-leakage-crossing patient IDs-value">
            <a:extLst>
              <a:ext uri="{FF2B5EF4-FFF2-40B4-BE49-F238E27FC236}">
                <a16:creationId id="{C938818B-1BAA-4488-B664-C9A8AE862B6A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B54E36"/>
                </a:solidFill>
              </a:defRPr>
            </a:pPr>
            <a:r>
              <a:rPr sz="3375" b="1" i="0">
                <a:solidFill>
                  <a:srgbClr val="B54E36"/>
                </a:solidFill>
              </a:rPr>
              <a:t>3</a:t>
            </a:r>
          </a:p>
        </p:txBody>
      </p:sp>
      <p:sp>
        <p:nvSpPr>
          <p:cNvPr id="14" name="s02-leakage-crossing patient IDs-label">
            <a:extLst>
              <a:ext uri="{FF2B5EF4-FFF2-40B4-BE49-F238E27FC236}">
                <a16:creationId id="{9821EC54-51DD-47F4-8D35-2024F788C64D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66706B"/>
                </a:solidFill>
              </a:defRPr>
            </a:pPr>
            <a:r>
              <a:rPr sz="1125" b="1" i="0">
                <a:solidFill>
                  <a:srgbClr val="66706B"/>
                </a:solidFill>
              </a:rPr>
              <a:t>crossing patient IDs</a:t>
            </a:r>
          </a:p>
        </p:txBody>
      </p:sp>
      <p:sp>
        <p:nvSpPr>
          <p:cNvPr id="15" name="s02-leakage-cross-boundary rows-value">
            <a:extLst>
              <a:ext uri="{FF2B5EF4-FFF2-40B4-BE49-F238E27FC236}">
                <a16:creationId id="{10E16497-8257-49D6-959A-93280AC76A8A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B54E36"/>
                </a:solidFill>
              </a:defRPr>
            </a:pPr>
            <a:r>
              <a:rPr sz="3375" b="1" i="0">
                <a:solidFill>
                  <a:srgbClr val="B54E36"/>
                </a:solidFill>
              </a:rPr>
              <a:t>13</a:t>
            </a:r>
          </a:p>
        </p:txBody>
      </p:sp>
      <p:sp>
        <p:nvSpPr>
          <p:cNvPr id="16" name="s02-leakage-cross-boundary rows-label">
            <a:extLst>
              <a:ext uri="{FF2B5EF4-FFF2-40B4-BE49-F238E27FC236}">
                <a16:creationId id="{83063C8F-893A-492E-A6A7-D29F862F608F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66706B"/>
                </a:solidFill>
              </a:defRPr>
            </a:pPr>
            <a:r>
              <a:rPr sz="1125" b="1" i="0">
                <a:solidFill>
                  <a:srgbClr val="66706B"/>
                </a:solidFill>
              </a:rPr>
              <a:t>cross-boundary rows</a:t>
            </a:r>
          </a:p>
        </p:txBody>
      </p:sp>
      <p:sp>
        <p:nvSpPr>
          <p:cNvPr id="17" name="s02-leakage-bullet-0">
            <a:extLst>
              <a:ext uri="{FF2B5EF4-FFF2-40B4-BE49-F238E27FC236}">
                <a16:creationId id="{BBDB18FB-93B5-4847-9BBA-509B21B435E2}"/>
              </a:ext>
            </a:extLst>
          </p:cNvPr>
          <p:cNvSpPr>
            <a:spLocks noGrp="1"/>
          </p:cNvSpPr>
          <p:nvPr/>
        </p:nvSpPr>
        <p:spPr>
          <a:xfrm>
            <a:off x="4953000" y="2867025"/>
            <a:ext cx="76200" cy="76200"/>
          </a:xfrm>
          <a:prstGeom prst="ellipse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8" name="s02-leakage-body-0">
            <a:extLst>
              <a:ext uri="{FF2B5EF4-FFF2-40B4-BE49-F238E27FC236}">
                <a16:creationId id="{A11D2CBA-41DB-4F93-9D4D-F88237472EC9}"/>
              </a:ext>
            </a:extLst>
          </p:cNvPr>
          <p:cNvSpPr>
            <a:spLocks noGrp="1"/>
          </p:cNvSpPr>
          <p:nvPr/>
        </p:nvSpPr>
        <p:spPr>
          <a:xfrm>
            <a:off x="5162550" y="2781300"/>
            <a:ext cx="607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D211F"/>
                </a:solidFill>
              </a:defRPr>
            </a:pPr>
            <a:r>
              <a:rPr sz="1350" b="0" i="0">
                <a:solidFill>
                  <a:srgbClr val="1D211F"/>
                </a:solidFill>
              </a:rPr>
              <a:t>Patient overlap violates independent patient-level interpretation.</a:t>
            </a:r>
          </a:p>
        </p:txBody>
      </p:sp>
      <p:sp>
        <p:nvSpPr>
          <p:cNvPr id="19" name="s02-leakage-bullet-1">
            <a:extLst>
              <a:ext uri="{FF2B5EF4-FFF2-40B4-BE49-F238E27FC236}">
                <a16:creationId id="{0C3750C9-136E-446D-909A-B3F7FEC8430E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76200" cy="76200"/>
          </a:xfrm>
          <a:prstGeom prst="ellipse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0" name="s02-leakage-body-1">
            <a:extLst>
              <a:ext uri="{FF2B5EF4-FFF2-40B4-BE49-F238E27FC236}">
                <a16:creationId id="{863E1EB6-3AE5-4F1A-915B-9FE186F3A971}"/>
              </a:ext>
            </a:extLst>
          </p:cNvPr>
          <p:cNvSpPr>
            <a:spLocks noGrp="1"/>
          </p:cNvSpPr>
          <p:nvPr/>
        </p:nvSpPr>
        <p:spPr>
          <a:xfrm>
            <a:off x="5162550" y="3486150"/>
            <a:ext cx="607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D211F"/>
                </a:solidFill>
              </a:defRPr>
            </a:pPr>
            <a:r>
              <a:rPr sz="1350" b="0" i="0">
                <a:solidFill>
                  <a:srgbClr val="1D211F"/>
                </a:solidFill>
              </a:rPr>
              <a:t>Old test-v2 values remain visible only as contamination-aware history.</a:t>
            </a:r>
          </a:p>
        </p:txBody>
      </p:sp>
      <p:sp>
        <p:nvSpPr>
          <p:cNvPr id="21" name="s02-leakage-bullet-2">
            <a:extLst>
              <a:ext uri="{FF2B5EF4-FFF2-40B4-BE49-F238E27FC236}">
                <a16:creationId id="{FEAD488D-77DE-4D92-9ACD-D5F35D557706}"/>
              </a:ext>
            </a:extLst>
          </p:cNvPr>
          <p:cNvSpPr>
            <a:spLocks noGrp="1"/>
          </p:cNvSpPr>
          <p:nvPr/>
        </p:nvSpPr>
        <p:spPr>
          <a:xfrm>
            <a:off x="4953000" y="4276725"/>
            <a:ext cx="76200" cy="76200"/>
          </a:xfrm>
          <a:prstGeom prst="ellipse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2" name="s02-leakage-body-2">
            <a:extLst>
              <a:ext uri="{FF2B5EF4-FFF2-40B4-BE49-F238E27FC236}">
                <a16:creationId id="{931137ED-8559-482B-95AC-DC2DD2A373CB}"/>
              </a:ext>
            </a:extLst>
          </p:cNvPr>
          <p:cNvSpPr>
            <a:spLocks noGrp="1"/>
          </p:cNvSpPr>
          <p:nvPr/>
        </p:nvSpPr>
        <p:spPr>
          <a:xfrm>
            <a:off x="5162550" y="4191000"/>
            <a:ext cx="607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D211F"/>
                </a:solidFill>
              </a:defRPr>
            </a:pPr>
            <a:r>
              <a:rPr sz="1350" b="0" i="0">
                <a:solidFill>
                  <a:srgbClr val="1D211F"/>
                </a:solidFill>
              </a:rPr>
              <a:t>The repair starts with identity groups, not model tuning.</a:t>
            </a:r>
          </a:p>
        </p:txBody>
      </p:sp>
    </p:spTree>
    <p:extLst>
      <p:ext uri="{BB962C8B-B14F-4D97-AF65-F5344CB8AC3E}">
        <p14:creationId val="1804629107"/>
      </p:ext>
    </p:extLst>
  </p:cSld>
  <p:transition spd="med">
    <p:fade/>
  </p:transition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top-rule-3">
            <a:extLst>
              <a:ext uri="{FF2B5EF4-FFF2-40B4-BE49-F238E27FC236}">
                <a16:creationId id="{1B3E814C-A1AB-4107-A5E7-72F42D6D14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3">
            <a:extLst>
              <a:ext uri="{FF2B5EF4-FFF2-40B4-BE49-F238E27FC236}">
                <a16:creationId id="{0BBAD619-1C81-4ED6-9B5A-C4C7AD2A9EA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BOUNDED RESEARCH QUESTIONS</a:t>
            </a:r>
          </a:p>
        </p:txBody>
      </p:sp>
      <p:sp>
        <p:nvSpPr>
          <p:cNvPr id="3" name="slide-title-3">
            <a:extLst>
              <a:ext uri="{FF2B5EF4-FFF2-40B4-BE49-F238E27FC236}">
                <a16:creationId id="{DB85EB07-8E23-4D68-9812-9AAFB3FDFAEF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Two hypotheses, two evidence classes</a:t>
            </a:r>
          </a:p>
        </p:txBody>
      </p:sp>
      <p:sp>
        <p:nvSpPr>
          <p:cNvPr id="4" name="footer-rule-3">
            <a:extLst>
              <a:ext uri="{FF2B5EF4-FFF2-40B4-BE49-F238E27FC236}">
                <a16:creationId id="{9C277920-2E40-444C-991F-67DBD1B34A7F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3">
            <a:extLst>
              <a:ext uri="{FF2B5EF4-FFF2-40B4-BE49-F238E27FC236}">
                <a16:creationId id="{BF8E8DE2-EC72-4499-9740-685C8D60ABFF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adaptive development-validation + train_screen</a:t>
            </a:r>
          </a:p>
        </p:txBody>
      </p:sp>
      <p:sp>
        <p:nvSpPr>
          <p:cNvPr id="6" name="page-3">
            <a:extLst>
              <a:ext uri="{FF2B5EF4-FFF2-40B4-BE49-F238E27FC236}">
                <a16:creationId id="{64E326CB-04B6-427B-8C6B-FFD8F95A207C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03</a:t>
            </a:r>
          </a:p>
        </p:txBody>
      </p:sp>
      <p:sp>
        <p:nvSpPr>
          <p:cNvPr id="7" name="s03-questions-claim-mark">
            <a:extLst>
              <a:ext uri="{FF2B5EF4-FFF2-40B4-BE49-F238E27FC236}">
                <a16:creationId id="{A54105BB-1F54-48A7-879A-A5260D0A9D05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03-questions-claim">
            <a:extLst>
              <a:ext uri="{FF2B5EF4-FFF2-40B4-BE49-F238E27FC236}">
                <a16:creationId id="{821B59FE-D6D6-4D92-9B73-B34E4D8F2EC6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The architecture comparison and the contour-channel ablation answer different questions and must not be collapsed into one ranking.</a:t>
            </a:r>
          </a:p>
        </p:txBody>
      </p:sp>
      <p:sp>
        <p:nvSpPr>
          <p:cNvPr id="9" name="question-divider">
            <a:extLst>
              <a:ext uri="{FF2B5EF4-FFF2-40B4-BE49-F238E27FC236}">
                <a16:creationId id="{323F2A75-6492-4F94-8739-08B25567B20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19050" cy="26670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0" name="rq1-label">
            <a:extLst>
              <a:ext uri="{FF2B5EF4-FFF2-40B4-BE49-F238E27FC236}">
                <a16:creationId id="{91598D26-2D2F-410D-B2FF-BED132003296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77D76"/>
                </a:solidFill>
              </a:defRPr>
            </a:pPr>
            <a:r>
              <a:rPr sz="2850" b="1" i="0">
                <a:solidFill>
                  <a:srgbClr val="177D76"/>
                </a:solidFill>
              </a:rPr>
              <a:t>RQ1</a:t>
            </a:r>
          </a:p>
        </p:txBody>
      </p:sp>
      <p:sp>
        <p:nvSpPr>
          <p:cNvPr id="11" name="rq1-question">
            <a:extLst>
              <a:ext uri="{FF2B5EF4-FFF2-40B4-BE49-F238E27FC236}">
                <a16:creationId id="{76F9E92C-233D-4E27-8E2C-A6136950F95F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How do complete MiT-B3 and nnU-Net systems trade overlap, boundary quality, precision, and recall?</a:t>
            </a:r>
          </a:p>
        </p:txBody>
      </p:sp>
      <p:sp>
        <p:nvSpPr>
          <p:cNvPr id="12" name="rq1-contract">
            <a:extLst>
              <a:ext uri="{FF2B5EF4-FFF2-40B4-BE49-F238E27FC236}">
                <a16:creationId id="{8FA96F75-A9A7-47D1-B58C-71BF9B604005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System comparison</a:t>
            </a:r>
          </a:p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Single recorded run</a:t>
            </a:r>
          </a:p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Descriptive inference</a:t>
            </a:r>
          </a:p>
        </p:txBody>
      </p:sp>
      <p:sp>
        <p:nvSpPr>
          <p:cNvPr id="13" name="rq2-label">
            <a:extLst>
              <a:ext uri="{FF2B5EF4-FFF2-40B4-BE49-F238E27FC236}">
                <a16:creationId id="{0C432A69-AC3D-430F-8A23-C41723BA94C8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B54E36"/>
                </a:solidFill>
              </a:defRPr>
            </a:pPr>
            <a:r>
              <a:rPr sz="2850" b="1" i="0">
                <a:solidFill>
                  <a:srgbClr val="B54E36"/>
                </a:solidFill>
              </a:rPr>
              <a:t>RQ2</a:t>
            </a:r>
          </a:p>
        </p:txBody>
      </p:sp>
      <p:sp>
        <p:nvSpPr>
          <p:cNvPr id="14" name="rq2-question">
            <a:extLst>
              <a:ext uri="{FF2B5EF4-FFF2-40B4-BE49-F238E27FC236}">
                <a16:creationId id="{BE5D3E77-7ECB-4057-AF64-97C140C7A950}"/>
              </a:ext>
            </a:extLst>
          </p:cNvPr>
          <p:cNvSpPr>
            <a:spLocks noGrp="1"/>
          </p:cNvSpPr>
          <p:nvPr/>
        </p:nvSpPr>
        <p:spPr>
          <a:xfrm>
            <a:off x="6534150" y="33718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Does a saliency-constrained contour channel improve a matched MiT-B3 control?</a:t>
            </a:r>
          </a:p>
        </p:txBody>
      </p:sp>
      <p:sp>
        <p:nvSpPr>
          <p:cNvPr id="15" name="rq2-contract">
            <a:extLst>
              <a:ext uri="{FF2B5EF4-FFF2-40B4-BE49-F238E27FC236}">
                <a16:creationId id="{A1926893-72FE-49D5-8D6E-FB7FF0D6DCD1}"/>
              </a:ext>
            </a:extLst>
          </p:cNvPr>
          <p:cNvSpPr>
            <a:spLocks noGrp="1"/>
          </p:cNvSpPr>
          <p:nvPr/>
        </p:nvSpPr>
        <p:spPr>
          <a:xfrm>
            <a:off x="6534150" y="48958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Matched intervention</a:t>
            </a:r>
          </a:p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Three selected seeds</a:t>
            </a:r>
          </a:p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Conditional paired inference</a:t>
            </a:r>
          </a:p>
        </p:txBody>
      </p:sp>
    </p:spTree>
    <p:extLst>
      <p:ext uri="{BB962C8B-B14F-4D97-AF65-F5344CB8AC3E}">
        <p14:creationId val="255484439"/>
      </p:ext>
    </p:extLst>
  </p:cSld>
  <p:transition spd="med">
    <p:fade/>
  </p:transition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top-rule-4">
            <a:extLst>
              <a:ext uri="{FF2B5EF4-FFF2-40B4-BE49-F238E27FC236}">
                <a16:creationId id="{A037A87C-FF01-4FDE-BDF5-7567E818D1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4">
            <a:extLst>
              <a:ext uri="{FF2B5EF4-FFF2-40B4-BE49-F238E27FC236}">
                <a16:creationId id="{FA28A17E-C823-463B-90DB-10AE587224E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CLICK A MODULE TO INSPECT IT</a:t>
            </a:r>
          </a:p>
        </p:txBody>
      </p:sp>
      <p:sp>
        <p:nvSpPr>
          <p:cNvPr id="3" name="slide-title-4">
            <a:extLst>
              <a:ext uri="{FF2B5EF4-FFF2-40B4-BE49-F238E27FC236}">
                <a16:creationId id="{FB984DDE-432B-477C-B8F6-933B02547DC7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The claim can only be as strong as its weakest evidence boundary</a:t>
            </a:r>
          </a:p>
        </p:txBody>
      </p:sp>
      <p:sp>
        <p:nvSpPr>
          <p:cNvPr id="4" name="footer-rule-4">
            <a:extLst>
              <a:ext uri="{FF2B5EF4-FFF2-40B4-BE49-F238E27FC236}">
                <a16:creationId id="{3B35D6FE-0466-46D0-9D04-508675784E72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4">
            <a:extLst>
              <a:ext uri="{FF2B5EF4-FFF2-40B4-BE49-F238E27FC236}">
                <a16:creationId id="{AC336CB0-162C-4D10-BBD1-E6EFAE82C385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interactive evidence pipeline</a:t>
            </a:r>
          </a:p>
        </p:txBody>
      </p:sp>
      <p:sp>
        <p:nvSpPr>
          <p:cNvPr id="6" name="page-4">
            <a:extLst>
              <a:ext uri="{FF2B5EF4-FFF2-40B4-BE49-F238E27FC236}">
                <a16:creationId id="{5BEF484B-634C-4BFB-A9EB-40B3B03C6FC2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04</a:t>
            </a:r>
          </a:p>
        </p:txBody>
      </p:sp>
      <p:sp>
        <p:nvSpPr>
          <p:cNvPr id="7" name="s04-pipeline-claim-mark">
            <a:extLst>
              <a:ext uri="{FF2B5EF4-FFF2-40B4-BE49-F238E27FC236}">
                <a16:creationId id="{6C6C0802-B64C-490F-B4A6-DE389DD476D2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04-pipeline-claim">
            <a:extLst>
              <a:ext uri="{FF2B5EF4-FFF2-40B4-BE49-F238E27FC236}">
                <a16:creationId id="{0D13D617-FC9B-4A8A-92CD-DB445653A842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Every model output passes through data, protocol, metric, and claim gates before it reaches the paper or demo.</a:t>
            </a:r>
          </a:p>
        </p:txBody>
      </p:sp>
      <p:sp>
        <p:nvSpPr>
          <p:cNvPr id="9" name="pipeline-edge-0">
            <a:extLst>
              <a:ext uri="{FF2B5EF4-FFF2-40B4-BE49-F238E27FC236}">
                <a16:creationId id="{678AB754-33B0-40C9-9BE1-7CCE82068DAE}"/>
              </a:ext>
            </a:extLst>
          </p:cNvPr>
          <p:cNvSpPr>
            <a:spLocks noGrp="1"/>
          </p:cNvSpPr>
          <p:nvPr/>
        </p:nvSpPr>
        <p:spPr>
          <a:xfrm>
            <a:off x="2228850" y="3752850"/>
            <a:ext cx="24765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0" name="pipeline-edge-1">
            <a:extLst>
              <a:ext uri="{FF2B5EF4-FFF2-40B4-BE49-F238E27FC236}">
                <a16:creationId id="{F026233D-889E-4901-B364-0591D595F1EA}"/>
              </a:ext>
            </a:extLst>
          </p:cNvPr>
          <p:cNvSpPr>
            <a:spLocks noGrp="1"/>
          </p:cNvSpPr>
          <p:nvPr/>
        </p:nvSpPr>
        <p:spPr>
          <a:xfrm>
            <a:off x="4038600" y="3752850"/>
            <a:ext cx="24765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1" name="pipeline-edge-2">
            <a:extLst>
              <a:ext uri="{FF2B5EF4-FFF2-40B4-BE49-F238E27FC236}">
                <a16:creationId id="{29155409-5FFF-4F61-A5A5-28846BEB7ECA}"/>
              </a:ext>
            </a:extLst>
          </p:cNvPr>
          <p:cNvSpPr>
            <a:spLocks noGrp="1"/>
          </p:cNvSpPr>
          <p:nvPr/>
        </p:nvSpPr>
        <p:spPr>
          <a:xfrm>
            <a:off x="5848350" y="3752850"/>
            <a:ext cx="24765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2" name="pipeline-edge-3">
            <a:extLst>
              <a:ext uri="{FF2B5EF4-FFF2-40B4-BE49-F238E27FC236}">
                <a16:creationId id="{A1137830-12A7-4D4A-B2AC-7EEBD73DD004}"/>
              </a:ext>
            </a:extLst>
          </p:cNvPr>
          <p:cNvSpPr>
            <a:spLocks noGrp="1"/>
          </p:cNvSpPr>
          <p:nvPr/>
        </p:nvSpPr>
        <p:spPr>
          <a:xfrm>
            <a:off x="7658100" y="3752850"/>
            <a:ext cx="24765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3" name="pipeline-edge-4">
            <a:extLst>
              <a:ext uri="{FF2B5EF4-FFF2-40B4-BE49-F238E27FC236}">
                <a16:creationId id="{4D170CB0-1401-4103-B665-F02558874D61}"/>
              </a:ext>
            </a:extLst>
          </p:cNvPr>
          <p:cNvSpPr>
            <a:spLocks noGrp="1"/>
          </p:cNvSpPr>
          <p:nvPr/>
        </p:nvSpPr>
        <p:spPr>
          <a:xfrm>
            <a:off x="9467850" y="3752850"/>
            <a:ext cx="247650" cy="2857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4" name="pipeline-node-0">
            <a:extLst>
              <a:ext uri="{FF2B5EF4-FFF2-40B4-BE49-F238E27FC236}">
                <a16:creationId id="{1FE8F08D-697F-4D80-AFA2-4BF40E65A64D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66675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15" name="pipeline-number-0">
            <a:extLst>
              <a:ext uri="{FF2B5EF4-FFF2-40B4-BE49-F238E27FC236}">
                <a16:creationId id="{E27FD2FC-A94E-4BC0-838B-380B71046199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01</a:t>
            </a:r>
          </a:p>
        </p:txBody>
      </p:sp>
      <p:sp>
        <p:nvSpPr>
          <p:cNvPr id="16" name="pipeline-label-0">
            <a:extLst>
              <a:ext uri="{FF2B5EF4-FFF2-40B4-BE49-F238E27FC236}">
                <a16:creationId id="{455CB5F0-24A3-4E8E-BACC-782A9B45238A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D211F"/>
                </a:solidFill>
              </a:defRPr>
            </a:pPr>
            <a:r>
              <a:rPr sz="1200" b="1" i="0">
                <a:solidFill>
                  <a:srgbClr val="1D211F"/>
                </a:solidFill>
              </a:rPr>
              <a:t>Data Audit</a:t>
            </a:r>
          </a:p>
        </p:txBody>
      </p:sp>
      <p:sp>
        <p:nvSpPr>
          <p:cNvPr id="17" name="pipeline-node-1">
            <a:extLst>
              <a:ext uri="{FF2B5EF4-FFF2-40B4-BE49-F238E27FC236}">
                <a16:creationId id="{A6647633-3FB2-41AE-800E-72F077F9C84B}"/>
              </a:ext>
            </a:extLst>
            <a:hlinkClick r:id="rIdNav2" action="ppaction://hlinksldjump"/>
          </p:cNvPr>
          <p:cNvSpPr>
            <a:spLocks noGrp="1"/>
          </p:cNvSpPr>
          <p:nvPr/>
        </p:nvSpPr>
        <p:spPr>
          <a:xfrm>
            <a:off x="247650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D8C39D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18" name="pipeline-number-1">
            <a:extLst>
              <a:ext uri="{FF2B5EF4-FFF2-40B4-BE49-F238E27FC236}">
                <a16:creationId id="{95542FF4-95D2-4592-991E-F875D5CF51DE}"/>
              </a:ext>
            </a:extLst>
          </p:cNvPr>
          <p:cNvSpPr>
            <a:spLocks noGrp="1"/>
          </p:cNvSpPr>
          <p:nvPr/>
        </p:nvSpPr>
        <p:spPr>
          <a:xfrm>
            <a:off x="260985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02</a:t>
            </a:r>
          </a:p>
        </p:txBody>
      </p:sp>
      <p:sp>
        <p:nvSpPr>
          <p:cNvPr id="19" name="pipeline-label-1">
            <a:extLst>
              <a:ext uri="{FF2B5EF4-FFF2-40B4-BE49-F238E27FC236}">
                <a16:creationId id="{F19CBE35-C898-43EC-A26C-AD553B30BF08}"/>
              </a:ext>
            </a:extLst>
          </p:cNvPr>
          <p:cNvSpPr>
            <a:spLocks noGrp="1"/>
          </p:cNvSpPr>
          <p:nvPr/>
        </p:nvSpPr>
        <p:spPr>
          <a:xfrm>
            <a:off x="260985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D211F"/>
                </a:solidFill>
              </a:defRPr>
            </a:pPr>
            <a:r>
              <a:rPr sz="1200" b="1" i="0">
                <a:solidFill>
                  <a:srgbClr val="1D211F"/>
                </a:solidFill>
              </a:rPr>
              <a:t>Preprocessing</a:t>
            </a:r>
          </a:p>
        </p:txBody>
      </p:sp>
      <p:sp>
        <p:nvSpPr>
          <p:cNvPr id="20" name="pipeline-node-2">
            <a:extLst>
              <a:ext uri="{FF2B5EF4-FFF2-40B4-BE49-F238E27FC236}">
                <a16:creationId id="{5EB48361-E40A-4179-B84B-E171B0830532}"/>
              </a:ext>
            </a:extLst>
            <a:hlinkClick r:id="rIdNav2" action="ppaction://hlinksldjump"/>
          </p:cNvPr>
          <p:cNvSpPr>
            <a:spLocks noGrp="1"/>
          </p:cNvSpPr>
          <p:nvPr/>
        </p:nvSpPr>
        <p:spPr>
          <a:xfrm>
            <a:off x="428625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1D211F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21" name="pipeline-number-2">
            <a:extLst>
              <a:ext uri="{FF2B5EF4-FFF2-40B4-BE49-F238E27FC236}">
                <a16:creationId id="{1BFB1417-3A27-4280-B6A2-A77A1065488A}"/>
              </a:ext>
            </a:extLst>
          </p:cNvPr>
          <p:cNvSpPr>
            <a:spLocks noGrp="1"/>
          </p:cNvSpPr>
          <p:nvPr/>
        </p:nvSpPr>
        <p:spPr>
          <a:xfrm>
            <a:off x="441960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8C39D"/>
                </a:solidFill>
              </a:defRPr>
            </a:pPr>
            <a:r>
              <a:rPr sz="1050" b="1" i="0">
                <a:solidFill>
                  <a:srgbClr val="D8C39D"/>
                </a:solidFill>
              </a:rPr>
              <a:t>03</a:t>
            </a:r>
          </a:p>
        </p:txBody>
      </p:sp>
      <p:sp>
        <p:nvSpPr>
          <p:cNvPr id="22" name="pipeline-label-2">
            <a:extLst>
              <a:ext uri="{FF2B5EF4-FFF2-40B4-BE49-F238E27FC236}">
                <a16:creationId id="{D6A348F5-B3F7-4818-A129-81E1397294F1}"/>
              </a:ext>
            </a:extLst>
          </p:cNvPr>
          <p:cNvSpPr>
            <a:spLocks noGrp="1"/>
          </p:cNvSpPr>
          <p:nvPr/>
        </p:nvSpPr>
        <p:spPr>
          <a:xfrm>
            <a:off x="441960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4EFE4"/>
                </a:solidFill>
              </a:defRPr>
            </a:pPr>
            <a:r>
              <a:rPr sz="1200" b="1" i="0">
                <a:solidFill>
                  <a:srgbClr val="F4EFE4"/>
                </a:solidFill>
              </a:rPr>
              <a:t>Models</a:t>
            </a:r>
          </a:p>
        </p:txBody>
      </p:sp>
      <p:sp>
        <p:nvSpPr>
          <p:cNvPr id="23" name="pipeline-node-3">
            <a:extLst>
              <a:ext uri="{FF2B5EF4-FFF2-40B4-BE49-F238E27FC236}">
                <a16:creationId id="{B83920EC-72DF-43A7-9D50-78332CA0CB14}"/>
              </a:ext>
            </a:extLst>
            <a:hlinkClick r:id="rIdNav3" action="ppaction://hlinksldjump"/>
          </p:cNvPr>
          <p:cNvSpPr>
            <a:spLocks noGrp="1"/>
          </p:cNvSpPr>
          <p:nvPr/>
        </p:nvSpPr>
        <p:spPr>
          <a:xfrm>
            <a:off x="609600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24" name="pipeline-number-3">
            <a:extLst>
              <a:ext uri="{FF2B5EF4-FFF2-40B4-BE49-F238E27FC236}">
                <a16:creationId id="{EC1EA0D9-5A8B-4C54-B48F-18204BA4E472}"/>
              </a:ext>
            </a:extLst>
          </p:cNvPr>
          <p:cNvSpPr>
            <a:spLocks noGrp="1"/>
          </p:cNvSpPr>
          <p:nvPr/>
        </p:nvSpPr>
        <p:spPr>
          <a:xfrm>
            <a:off x="622935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04</a:t>
            </a:r>
          </a:p>
        </p:txBody>
      </p:sp>
      <p:sp>
        <p:nvSpPr>
          <p:cNvPr id="25" name="pipeline-label-3">
            <a:extLst>
              <a:ext uri="{FF2B5EF4-FFF2-40B4-BE49-F238E27FC236}">
                <a16:creationId id="{E0DF8278-F857-47F1-A8AF-9AC709B94744}"/>
              </a:ext>
            </a:extLst>
          </p:cNvPr>
          <p:cNvSpPr>
            <a:spLocks noGrp="1"/>
          </p:cNvSpPr>
          <p:nvPr/>
        </p:nvSpPr>
        <p:spPr>
          <a:xfrm>
            <a:off x="622935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D211F"/>
                </a:solidFill>
              </a:defRPr>
            </a:pPr>
            <a:r>
              <a:rPr sz="1200" b="1" i="0">
                <a:solidFill>
                  <a:srgbClr val="1D211F"/>
                </a:solidFill>
              </a:rPr>
              <a:t>Robust Evaluation</a:t>
            </a:r>
          </a:p>
        </p:txBody>
      </p:sp>
      <p:sp>
        <p:nvSpPr>
          <p:cNvPr id="26" name="pipeline-node-4">
            <a:extLst>
              <a:ext uri="{FF2B5EF4-FFF2-40B4-BE49-F238E27FC236}">
                <a16:creationId id="{2E533712-32EA-4A19-8BA0-EFC5C97CB77E}"/>
              </a:ext>
            </a:extLst>
            <a:hlinkClick r:id="rIdNav4" action="ppaction://hlinksldjump"/>
          </p:cNvPr>
          <p:cNvSpPr>
            <a:spLocks noGrp="1"/>
          </p:cNvSpPr>
          <p:nvPr/>
        </p:nvSpPr>
        <p:spPr>
          <a:xfrm>
            <a:off x="790575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EAD2C9"/>
          </a:solidFill>
          <a:ln w="9525">
            <a:solidFill>
              <a:srgbClr val="B54E36"/>
            </a:solidFill>
            <a:prstDash val="solid"/>
          </a:ln>
        </p:spPr>
      </p:sp>
      <p:sp>
        <p:nvSpPr>
          <p:cNvPr id="27" name="pipeline-number-4">
            <a:extLst>
              <a:ext uri="{FF2B5EF4-FFF2-40B4-BE49-F238E27FC236}">
                <a16:creationId id="{68EC84A1-6DFE-488F-B4F1-EE59D4DAB5F8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05</a:t>
            </a:r>
          </a:p>
        </p:txBody>
      </p:sp>
      <p:sp>
        <p:nvSpPr>
          <p:cNvPr id="28" name="pipeline-label-4">
            <a:extLst>
              <a:ext uri="{FF2B5EF4-FFF2-40B4-BE49-F238E27FC236}">
                <a16:creationId id="{7395E839-553D-49CB-A58B-906B3F2743CF}"/>
              </a:ext>
            </a:extLst>
          </p:cNvPr>
          <p:cNvSpPr>
            <a:spLocks noGrp="1"/>
          </p:cNvSpPr>
          <p:nvPr/>
        </p:nvSpPr>
        <p:spPr>
          <a:xfrm>
            <a:off x="803910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D211F"/>
                </a:solidFill>
              </a:defRPr>
            </a:pPr>
            <a:r>
              <a:rPr sz="1200" b="1" i="0">
                <a:solidFill>
                  <a:srgbClr val="1D211F"/>
                </a:solidFill>
              </a:rPr>
              <a:t>Loop206 Ablation</a:t>
            </a:r>
          </a:p>
        </p:txBody>
      </p:sp>
      <p:sp>
        <p:nvSpPr>
          <p:cNvPr id="29" name="pipeline-node-5">
            <a:extLst>
              <a:ext uri="{FF2B5EF4-FFF2-40B4-BE49-F238E27FC236}">
                <a16:creationId id="{B95F962E-9A10-42DC-89E1-783C1EB84955}"/>
              </a:ext>
            </a:extLst>
            <a:hlinkClick r:id="rIdNav5" action="ppaction://hlinksldjump"/>
          </p:cNvPr>
          <p:cNvSpPr>
            <a:spLocks noGrp="1"/>
          </p:cNvSpPr>
          <p:nvPr/>
        </p:nvSpPr>
        <p:spPr>
          <a:xfrm>
            <a:off x="9715500" y="323850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30" name="pipeline-number-5">
            <a:extLst>
              <a:ext uri="{FF2B5EF4-FFF2-40B4-BE49-F238E27FC236}">
                <a16:creationId id="{405BE8ED-06C6-4FFE-8540-DB5B0CF778BC}"/>
              </a:ext>
            </a:extLst>
          </p:cNvPr>
          <p:cNvSpPr>
            <a:spLocks noGrp="1"/>
          </p:cNvSpPr>
          <p:nvPr/>
        </p:nvSpPr>
        <p:spPr>
          <a:xfrm>
            <a:off x="9848850" y="3371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06</a:t>
            </a:r>
          </a:p>
        </p:txBody>
      </p:sp>
      <p:sp>
        <p:nvSpPr>
          <p:cNvPr id="31" name="pipeline-label-5">
            <a:extLst>
              <a:ext uri="{FF2B5EF4-FFF2-40B4-BE49-F238E27FC236}">
                <a16:creationId id="{0DC52539-F4E4-4950-AE4B-ABDA2FAA5089}"/>
              </a:ext>
            </a:extLst>
          </p:cNvPr>
          <p:cNvSpPr>
            <a:spLocks noGrp="1"/>
          </p:cNvSpPr>
          <p:nvPr/>
        </p:nvSpPr>
        <p:spPr>
          <a:xfrm>
            <a:off x="9848850" y="3676650"/>
            <a:ext cx="1295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D211F"/>
                </a:solidFill>
              </a:defRPr>
            </a:pPr>
            <a:r>
              <a:rPr sz="1200" b="1" i="0">
                <a:solidFill>
                  <a:srgbClr val="1D211F"/>
                </a:solidFill>
              </a:rPr>
              <a:t>Evidence-bound Demo</a:t>
            </a:r>
          </a:p>
        </p:txBody>
      </p:sp>
      <p:sp>
        <p:nvSpPr>
          <p:cNvPr id="32" name="pipeline-html-note">
            <a:extLst>
              <a:ext uri="{FF2B5EF4-FFF2-40B4-BE49-F238E27FC236}">
                <a16:creationId id="{193BC249-9DAE-4AED-B98A-87EDAB4CC46C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6706B"/>
                </a:solidFill>
              </a:defRPr>
            </a:pPr>
            <a:r>
              <a:rPr sz="1350" b="0" i="0">
                <a:solidFill>
                  <a:srgbClr val="66706B"/>
                </a:solidFill>
              </a:rPr>
              <a:t>Select a module for its evidence detail. Every detail slide returns here.</a:t>
            </a:r>
          </a:p>
        </p:txBody>
      </p:sp>
    </p:spTree>
    <p:extLst>
      <p:ext uri="{BB962C8B-B14F-4D97-AF65-F5344CB8AC3E}">
        <p14:creationId val="348025311"/>
      </p:ext>
    </p:extLst>
  </p:cSld>
  <p:transition spd="med">
    <p:fade/>
  </p:transition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top-rule-5">
            <a:extLst>
              <a:ext uri="{FF2B5EF4-FFF2-40B4-BE49-F238E27FC236}">
                <a16:creationId id="{29B2ADBC-A41B-431E-A0A0-1CB4614380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5">
            <a:extLst>
              <a:ext uri="{FF2B5EF4-FFF2-40B4-BE49-F238E27FC236}">
                <a16:creationId id="{CAB75259-0433-428F-8EE3-831E44F32B3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MODULE 01 | DATA AUDIT</a:t>
            </a:r>
          </a:p>
        </p:txBody>
      </p:sp>
      <p:sp>
        <p:nvSpPr>
          <p:cNvPr id="3" name="slide-title-5">
            <a:extLst>
              <a:ext uri="{FF2B5EF4-FFF2-40B4-BE49-F238E27FC236}">
                <a16:creationId id="{998C6FBA-7EC8-4CAB-8D18-3E9C109BFD93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Clean-v3 repairs identity leakage before model comparison</a:t>
            </a:r>
          </a:p>
        </p:txBody>
      </p:sp>
      <p:sp>
        <p:nvSpPr>
          <p:cNvPr id="4" name="footer-rule-5">
            <a:extLst>
              <a:ext uri="{FF2B5EF4-FFF2-40B4-BE49-F238E27FC236}">
                <a16:creationId id="{D29DB2B7-9AA2-40A2-9778-54D86EB53E99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5">
            <a:extLst>
              <a:ext uri="{FF2B5EF4-FFF2-40B4-BE49-F238E27FC236}">
                <a16:creationId id="{CE4FC2D3-10A4-4F78-9971-F17754C2F2B6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dataset audit | protected test sealed</a:t>
            </a:r>
          </a:p>
        </p:txBody>
      </p:sp>
      <p:sp>
        <p:nvSpPr>
          <p:cNvPr id="6" name="page-5">
            <a:extLst>
              <a:ext uri="{FF2B5EF4-FFF2-40B4-BE49-F238E27FC236}">
                <a16:creationId id="{A6EA6DA4-4720-4288-AD24-93F8C6598426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05</a:t>
            </a:r>
          </a:p>
        </p:txBody>
      </p:sp>
      <p:sp>
        <p:nvSpPr>
          <p:cNvPr id="7" name="s05-data-claim-mark">
            <a:extLst>
              <a:ext uri="{FF2B5EF4-FFF2-40B4-BE49-F238E27FC236}">
                <a16:creationId id="{F3C42022-CC10-4F03-AA19-FFB6D443D1CF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05-data-claim">
            <a:extLst>
              <a:ext uri="{FF2B5EF4-FFF2-40B4-BE49-F238E27FC236}">
                <a16:creationId id="{A9F475E5-26E4-4D4C-8D23-37A0D479AABA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The leakage-audited manifest contains 2,869 images with no detected cross-split identity-group overlap.</a:t>
            </a:r>
          </a:p>
        </p:txBody>
      </p:sp>
      <p:sp>
        <p:nvSpPr>
          <p:cNvPr id="9" name="data-total">
            <a:extLst>
              <a:ext uri="{FF2B5EF4-FFF2-40B4-BE49-F238E27FC236}">
                <a16:creationId id="{7A35F7AD-7F4C-410F-B8A9-F92E5DB84FF0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285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 i="0">
                <a:solidFill>
                  <a:srgbClr val="177D76"/>
                </a:solidFill>
              </a:defRPr>
            </a:pPr>
            <a:r>
              <a:rPr sz="5100" b="1" i="0">
                <a:solidFill>
                  <a:srgbClr val="177D76"/>
                </a:solidFill>
              </a:rPr>
              <a:t>2,869</a:t>
            </a:r>
          </a:p>
        </p:txBody>
      </p:sp>
      <p:sp>
        <p:nvSpPr>
          <p:cNvPr id="10" name="data-total-label">
            <a:extLst>
              <a:ext uri="{FF2B5EF4-FFF2-40B4-BE49-F238E27FC236}">
                <a16:creationId id="{0C23458F-BBDE-4533-943A-CA2499C082C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66706B"/>
                </a:solidFill>
              </a:defRPr>
            </a:pPr>
            <a:r>
              <a:rPr sz="1350" b="1" i="0">
                <a:solidFill>
                  <a:srgbClr val="66706B"/>
                </a:solidFill>
              </a:rPr>
              <a:t>leakage-audited images</a:t>
            </a:r>
          </a:p>
        </p:txBody>
      </p:sp>
      <p:sp>
        <p:nvSpPr>
          <p:cNvPr id="11" name="data-train-bar">
            <a:extLst>
              <a:ext uri="{FF2B5EF4-FFF2-40B4-BE49-F238E27FC236}">
                <a16:creationId id="{A351EBB4-E029-4A26-BBD9-D7C2D35A729E}"/>
              </a:ext>
            </a:extLst>
          </p:cNvPr>
          <p:cNvSpPr>
            <a:spLocks noGrp="1"/>
          </p:cNvSpPr>
          <p:nvPr/>
        </p:nvSpPr>
        <p:spPr>
          <a:xfrm>
            <a:off x="4248150" y="3028950"/>
            <a:ext cx="4772025" cy="6667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2" name="data-val-bar">
            <a:extLst>
              <a:ext uri="{FF2B5EF4-FFF2-40B4-BE49-F238E27FC236}">
                <a16:creationId id="{5D608EE9-D37E-4C9B-BB57-92C2A2DF9C9E}"/>
              </a:ext>
            </a:extLst>
          </p:cNvPr>
          <p:cNvSpPr>
            <a:spLocks noGrp="1"/>
          </p:cNvSpPr>
          <p:nvPr/>
        </p:nvSpPr>
        <p:spPr>
          <a:xfrm>
            <a:off x="9020175" y="3028950"/>
            <a:ext cx="1028700" cy="666750"/>
          </a:xfrm>
          <a:prstGeom prst="rect">
            <a:avLst/>
          </a:prstGeom>
          <a:solidFill>
            <a:srgbClr val="D8C39D"/>
          </a:solidFill>
          <a:ln w="0">
            <a:noFill/>
            <a:prstDash val="solid"/>
          </a:ln>
        </p:spPr>
      </p:sp>
      <p:sp>
        <p:nvSpPr>
          <p:cNvPr id="13" name="data-test-bar">
            <a:extLst>
              <a:ext uri="{FF2B5EF4-FFF2-40B4-BE49-F238E27FC236}">
                <a16:creationId id="{2EDA83B4-8A64-4F0B-B48A-896D60443457}"/>
              </a:ext>
            </a:extLst>
          </p:cNvPr>
          <p:cNvSpPr>
            <a:spLocks noGrp="1"/>
          </p:cNvSpPr>
          <p:nvPr/>
        </p:nvSpPr>
        <p:spPr>
          <a:xfrm>
            <a:off x="10048875" y="3028950"/>
            <a:ext cx="1019175" cy="6667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4" name="data-train-label">
            <a:extLst>
              <a:ext uri="{FF2B5EF4-FFF2-40B4-BE49-F238E27FC236}">
                <a16:creationId id="{7EADB7E1-299C-4B35-8791-14C1FA69FDCB}"/>
              </a:ext>
            </a:extLst>
          </p:cNvPr>
          <p:cNvSpPr>
            <a:spLocks noGrp="1"/>
          </p:cNvSpPr>
          <p:nvPr/>
        </p:nvSpPr>
        <p:spPr>
          <a:xfrm>
            <a:off x="4248150" y="3829050"/>
            <a:ext cx="47720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77D76"/>
                </a:solidFill>
              </a:defRPr>
            </a:pPr>
            <a:r>
              <a:rPr sz="1200" b="1" i="0">
                <a:solidFill>
                  <a:srgbClr val="177D76"/>
                </a:solidFill>
              </a:rPr>
              <a:t>TRAIN</a:t>
            </a:r>
          </a:p>
          <a:p>
            <a:pPr algn="l">
              <a:defRPr sz="1200" b="1" i="0">
                <a:solidFill>
                  <a:srgbClr val="177D76"/>
                </a:solidFill>
              </a:defRPr>
            </a:pPr>
            <a:r>
              <a:rPr sz="1200" b="1" i="0">
                <a:solidFill>
                  <a:srgbClr val="177D76"/>
                </a:solidFill>
              </a:rPr>
              <a:t>2,008</a:t>
            </a:r>
          </a:p>
        </p:txBody>
      </p:sp>
      <p:sp>
        <p:nvSpPr>
          <p:cNvPr id="15" name="data-val-label">
            <a:extLst>
              <a:ext uri="{FF2B5EF4-FFF2-40B4-BE49-F238E27FC236}">
                <a16:creationId id="{DC72CB48-1203-475A-9083-38D45C520086}"/>
              </a:ext>
            </a:extLst>
          </p:cNvPr>
          <p:cNvSpPr>
            <a:spLocks noGrp="1"/>
          </p:cNvSpPr>
          <p:nvPr/>
        </p:nvSpPr>
        <p:spPr>
          <a:xfrm>
            <a:off x="9020175" y="3829050"/>
            <a:ext cx="102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66706B"/>
                </a:solidFill>
              </a:defRPr>
            </a:pPr>
            <a:r>
              <a:rPr sz="1050" b="1" i="0">
                <a:solidFill>
                  <a:srgbClr val="66706B"/>
                </a:solidFill>
              </a:rPr>
              <a:t>ADAPTIVE VALIDATION</a:t>
            </a:r>
          </a:p>
          <a:p>
            <a:pPr algn="ctr">
              <a:defRPr sz="1050" b="1" i="0">
                <a:solidFill>
                  <a:srgbClr val="66706B"/>
                </a:solidFill>
              </a:defRPr>
            </a:pPr>
            <a:r>
              <a:rPr sz="1050" b="1" i="0">
                <a:solidFill>
                  <a:srgbClr val="66706B"/>
                </a:solidFill>
              </a:rPr>
              <a:t>431</a:t>
            </a:r>
          </a:p>
        </p:txBody>
      </p:sp>
      <p:sp>
        <p:nvSpPr>
          <p:cNvPr id="16" name="data-test-label">
            <a:extLst>
              <a:ext uri="{FF2B5EF4-FFF2-40B4-BE49-F238E27FC236}">
                <a16:creationId id="{C0C4CA6E-5BFD-4E99-9459-513A83E838A2}"/>
              </a:ext>
            </a:extLst>
          </p:cNvPr>
          <p:cNvSpPr>
            <a:spLocks noGrp="1"/>
          </p:cNvSpPr>
          <p:nvPr/>
        </p:nvSpPr>
        <p:spPr>
          <a:xfrm>
            <a:off x="10048875" y="3829050"/>
            <a:ext cx="10191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SEALED TEST</a:t>
            </a:r>
          </a:p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430</a:t>
            </a:r>
          </a:p>
        </p:txBody>
      </p:sp>
      <p:sp>
        <p:nvSpPr>
          <p:cNvPr id="17" name="data-audit-chain">
            <a:extLst>
              <a:ext uri="{FF2B5EF4-FFF2-40B4-BE49-F238E27FC236}">
                <a16:creationId id="{C2864941-3BAA-4C08-8CD7-281525E0A211}"/>
              </a:ext>
            </a:extLst>
          </p:cNvPr>
          <p:cNvSpPr>
            <a:spLocks noGrp="1"/>
          </p:cNvSpPr>
          <p:nvPr/>
        </p:nvSpPr>
        <p:spPr>
          <a:xfrm>
            <a:off x="4248150" y="4762500"/>
            <a:ext cx="681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IDENTITY  /  EXACT DUPLICATE  /  PERCEPTUAL DUPLICATE  /  SPLIT GROUP</a:t>
            </a:r>
          </a:p>
        </p:txBody>
      </p:sp>
      <p:sp>
        <p:nvSpPr>
          <p:cNvPr id="18" name="data-boundary">
            <a:extLst>
              <a:ext uri="{FF2B5EF4-FFF2-40B4-BE49-F238E27FC236}">
                <a16:creationId id="{4D663032-B683-4542-96B3-A7DB6F4CEC74}"/>
              </a:ext>
            </a:extLst>
          </p:cNvPr>
          <p:cNvSpPr>
            <a:spLocks noGrp="1"/>
          </p:cNvSpPr>
          <p:nvPr/>
        </p:nvSpPr>
        <p:spPr>
          <a:xfrm>
            <a:off x="4248150" y="5219700"/>
            <a:ext cx="681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B54E36"/>
                </a:solidFill>
              </a:defRPr>
            </a:pPr>
            <a:r>
              <a:rPr sz="1350" b="0" i="0">
                <a:solidFill>
                  <a:srgbClr val="B54E36"/>
                </a:solidFill>
              </a:rPr>
              <a:t>Validation was opened adaptively. The 430-row test partition remains sealed.</a:t>
            </a:r>
          </a:p>
        </p:txBody>
      </p:sp>
      <p:sp>
        <p:nvSpPr>
          <p:cNvPr id="19" name="back-to-pipeline">
            <a:extLst>
              <a:ext uri="{FF2B5EF4-FFF2-40B4-BE49-F238E27FC236}">
                <a16:creationId id="{B2302787-A6EE-42CD-B019-6FBA5A9DDC51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20" name="back-to-pipeline-label">
            <a:extLst>
              <a:ext uri="{FF2B5EF4-FFF2-40B4-BE49-F238E27FC236}">
                <a16:creationId id="{0B89C144-0CF5-48BB-B663-8B95C0ACD178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1972702683"/>
      </p:ext>
    </p:extLst>
  </p:cSld>
  <p:transition spd="med">
    <p:fade/>
  </p:transition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6">
            <a:extLst>
              <a:ext uri="{FF2B5EF4-FFF2-40B4-BE49-F238E27FC236}">
                <a16:creationId id="{B02D044F-B023-48E1-A40E-97F0A864C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6">
            <a:extLst>
              <a:ext uri="{FF2B5EF4-FFF2-40B4-BE49-F238E27FC236}">
                <a16:creationId id="{1CCA07E7-6892-4622-A0DC-09F48490456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MODULES 02-03 | PREPROCESSING + MODELS</a:t>
            </a:r>
          </a:p>
        </p:txBody>
      </p:sp>
      <p:sp>
        <p:nvSpPr>
          <p:cNvPr id="3" name="slide-title-6">
            <a:extLst>
              <a:ext uri="{FF2B5EF4-FFF2-40B4-BE49-F238E27FC236}">
                <a16:creationId id="{42D99717-6102-4275-A2F4-D05E3ADA8FA7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1D211F"/>
                </a:solidFill>
              </a:defRPr>
            </a:pPr>
            <a:r>
              <a:rPr sz="2625" b="1" i="0">
                <a:solidFill>
                  <a:srgbClr val="1D211F"/>
                </a:solidFill>
              </a:rPr>
              <a:t>The comparison is between complete systems, not isolated encoders</a:t>
            </a:r>
          </a:p>
        </p:txBody>
      </p:sp>
      <p:sp>
        <p:nvSpPr>
          <p:cNvPr id="4" name="footer-rule-6">
            <a:extLst>
              <a:ext uri="{FF2B5EF4-FFF2-40B4-BE49-F238E27FC236}">
                <a16:creationId id="{83F03DA8-4A49-4B4E-B254-58245899CAA3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6">
            <a:extLst>
              <a:ext uri="{FF2B5EF4-FFF2-40B4-BE49-F238E27FC236}">
                <a16:creationId id="{11DA2241-20BF-474A-925B-A8137947BE7C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adaptive development-validation | older geometry contract</a:t>
            </a:r>
          </a:p>
        </p:txBody>
      </p:sp>
      <p:sp>
        <p:nvSpPr>
          <p:cNvPr id="6" name="page-6">
            <a:extLst>
              <a:ext uri="{FF2B5EF4-FFF2-40B4-BE49-F238E27FC236}">
                <a16:creationId id="{D8B3C5B1-9484-4AE9-99AD-4B70AEEDAE5C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06</a:t>
            </a:r>
          </a:p>
        </p:txBody>
      </p:sp>
      <p:sp>
        <p:nvSpPr>
          <p:cNvPr id="7" name="s06-models-claim-mark">
            <a:extLst>
              <a:ext uri="{FF2B5EF4-FFF2-40B4-BE49-F238E27FC236}">
                <a16:creationId id="{984BC342-C5B4-4BCD-9D56-8CAFB8DB4E1D}"/>
              </a:ext>
            </a:extLst>
          </p:cNvPr>
          <p:cNvSpPr>
            <a:spLocks noGrp="1"/>
          </p:cNvSpPr>
          <p:nvPr/>
        </p:nvSpPr>
        <p:spPr>
          <a:xfrm>
            <a:off x="647700" y="17240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06-models-claim">
            <a:extLst>
              <a:ext uri="{FF2B5EF4-FFF2-40B4-BE49-F238E27FC236}">
                <a16:creationId id="{C1F198CE-C935-4D33-B901-CDF7AEA1259E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MiT-B3 uses a fixed preprocessing-aware 384x384 pipeline; nnU-Net v2 uses raw RGB and a self-configuring 256x256 system.</a:t>
            </a:r>
          </a:p>
        </p:txBody>
      </p:sp>
      <p:sp>
        <p:nvSpPr>
          <p:cNvPr id="9" name="models-divider">
            <a:extLst>
              <a:ext uri="{FF2B5EF4-FFF2-40B4-BE49-F238E27FC236}">
                <a16:creationId id="{DDF72307-0AA0-4C9B-8FD6-29818F9C27B8}"/>
              </a:ext>
            </a:extLst>
          </p:cNvPr>
          <p:cNvSpPr>
            <a:spLocks noGrp="1"/>
          </p:cNvSpPr>
          <p:nvPr/>
        </p:nvSpPr>
        <p:spPr>
          <a:xfrm>
            <a:off x="6076950" y="3086100"/>
            <a:ext cx="19050" cy="238125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0" name="models-mit-name">
            <a:extLst>
              <a:ext uri="{FF2B5EF4-FFF2-40B4-BE49-F238E27FC236}">
                <a16:creationId id="{EAF53317-C34A-47E9-BECF-62C38E43850B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7D76"/>
                </a:solidFill>
              </a:defRPr>
            </a:pPr>
            <a:r>
              <a:rPr sz="2550" b="1" i="0">
                <a:solidFill>
                  <a:srgbClr val="177D76"/>
                </a:solidFill>
              </a:rPr>
              <a:t>MiT-B3 U-Net</a:t>
            </a:r>
          </a:p>
        </p:txBody>
      </p:sp>
      <p:sp>
        <p:nvSpPr>
          <p:cNvPr id="11" name="models-mit-spec">
            <a:extLst>
              <a:ext uri="{FF2B5EF4-FFF2-40B4-BE49-F238E27FC236}">
                <a16:creationId id="{DDCA90DE-2B28-4575-B244-D846B9D968AC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48577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384 × 384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LAB-luminance CLAHE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Percentile stretch + median filter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Fixed preprocessing-aware system</a:t>
            </a:r>
          </a:p>
        </p:txBody>
      </p:sp>
      <p:sp>
        <p:nvSpPr>
          <p:cNvPr id="12" name="models-nnunet-name">
            <a:extLst>
              <a:ext uri="{FF2B5EF4-FFF2-40B4-BE49-F238E27FC236}">
                <a16:creationId id="{AAD4743D-6E28-4D03-A8C6-4E0FD3B18FA7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B54E36"/>
                </a:solidFill>
              </a:defRPr>
            </a:pPr>
            <a:r>
              <a:rPr sz="2550" b="1" i="0">
                <a:solidFill>
                  <a:srgbClr val="B54E36"/>
                </a:solidFill>
              </a:rPr>
              <a:t>nnU-Net v2</a:t>
            </a:r>
          </a:p>
        </p:txBody>
      </p:sp>
      <p:sp>
        <p:nvSpPr>
          <p:cNvPr id="13" name="models-nnunet-spec">
            <a:extLst>
              <a:ext uri="{FF2B5EF4-FFF2-40B4-BE49-F238E27FC236}">
                <a16:creationId id="{390276DB-0D0E-4DC7-8FBD-78AC8A43777C}"/>
              </a:ext>
            </a:extLst>
          </p:cNvPr>
          <p:cNvSpPr>
            <a:spLocks noGrp="1"/>
          </p:cNvSpPr>
          <p:nvPr/>
        </p:nvSpPr>
        <p:spPr>
          <a:xfrm>
            <a:off x="6572250" y="3695700"/>
            <a:ext cx="48577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256 × 256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Raw RGB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Generated plans</a:t>
            </a:r>
          </a:p>
          <a:p>
            <a:pPr algn="l">
              <a:defRPr sz="1500" b="0" i="0">
                <a:solidFill>
                  <a:srgbClr val="1D211F"/>
                </a:solidFill>
              </a:defRPr>
            </a:pPr>
            <a:r>
              <a:rPr sz="1500" b="0" i="0">
                <a:solidFill>
                  <a:srgbClr val="1D211F"/>
                </a:solidFill>
              </a:rPr>
              <a:t>Self-configuring 2D system</a:t>
            </a:r>
          </a:p>
        </p:txBody>
      </p:sp>
      <p:sp>
        <p:nvSpPr>
          <p:cNvPr id="14" name="models-caution">
            <a:extLst>
              <a:ext uri="{FF2B5EF4-FFF2-40B4-BE49-F238E27FC236}">
                <a16:creationId id="{4B8CE938-B8F4-4951-AB73-D4943077F3A1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10572750" cy="40005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5" name="models-caution-text">
            <a:extLst>
              <a:ext uri="{FF2B5EF4-FFF2-40B4-BE49-F238E27FC236}">
                <a16:creationId id="{2CF110B9-09F5-44E4-B0AB-7BD863395B2A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1024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F4EFE4"/>
                </a:solidFill>
              </a:defRPr>
            </a:pPr>
            <a:r>
              <a:rPr sz="1200" b="1" i="0">
                <a:solidFill>
                  <a:srgbClr val="F4EFE4"/>
                </a:solidFill>
              </a:rPr>
              <a:t>Different resolution, decoder, loss, augmentation, and policy: this is not an isolated encoder ablation.</a:t>
            </a:r>
          </a:p>
        </p:txBody>
      </p:sp>
      <p:sp>
        <p:nvSpPr>
          <p:cNvPr id="16" name="back-to-pipeline">
            <a:extLst>
              <a:ext uri="{FF2B5EF4-FFF2-40B4-BE49-F238E27FC236}">
                <a16:creationId id="{0B65FB19-E28B-42B6-A40E-048AB982C1D0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17" name="back-to-pipeline-label">
            <a:extLst>
              <a:ext uri="{FF2B5EF4-FFF2-40B4-BE49-F238E27FC236}">
                <a16:creationId id="{08E0407C-39C8-40C7-9EBF-4294C4045E6E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1665680899"/>
      </p:ext>
    </p:extLst>
  </p:cSld>
  <p:transition spd="med">
    <p:fade/>
  </p:transition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top-rule-7">
            <a:extLst>
              <a:ext uri="{FF2B5EF4-FFF2-40B4-BE49-F238E27FC236}">
                <a16:creationId id="{879E46F7-0BEB-4A9C-A674-4149F93CA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7">
            <a:extLst>
              <a:ext uri="{FF2B5EF4-FFF2-40B4-BE49-F238E27FC236}">
                <a16:creationId id="{41B47C76-FCD6-4588-A35B-503A6B9DC88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MODULE 04 | ROBUST EVALUATION</a:t>
            </a:r>
          </a:p>
        </p:txBody>
      </p:sp>
      <p:sp>
        <p:nvSpPr>
          <p:cNvPr id="3" name="slide-title-7">
            <a:extLst>
              <a:ext uri="{FF2B5EF4-FFF2-40B4-BE49-F238E27FC236}">
                <a16:creationId id="{1CA09811-23F0-4D25-8B74-F759492E3E82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 i="0">
                <a:solidFill>
                  <a:srgbClr val="1D211F"/>
                </a:solidFill>
              </a:defRPr>
            </a:pPr>
            <a:r>
              <a:rPr sz="2625" b="1" i="0">
                <a:solidFill>
                  <a:srgbClr val="1D211F"/>
                </a:solidFill>
              </a:rPr>
              <a:t>nnU-Net records higher point estimates, not statistical superiority</a:t>
            </a:r>
          </a:p>
        </p:txBody>
      </p:sp>
      <p:sp>
        <p:nvSpPr>
          <p:cNvPr id="4" name="footer-rule-7">
            <a:extLst>
              <a:ext uri="{FF2B5EF4-FFF2-40B4-BE49-F238E27FC236}">
                <a16:creationId id="{3A145E5A-BDCD-48E8-83D4-7F5174CF96D2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7">
            <a:extLst>
              <a:ext uri="{FF2B5EF4-FFF2-40B4-BE49-F238E27FC236}">
                <a16:creationId id="{23377C26-BF0E-4DE2-8AB2-CC404936073E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adaptive development-validation | single run | selection-optimistic</a:t>
            </a:r>
          </a:p>
        </p:txBody>
      </p:sp>
      <p:sp>
        <p:nvSpPr>
          <p:cNvPr id="6" name="page-7">
            <a:extLst>
              <a:ext uri="{FF2B5EF4-FFF2-40B4-BE49-F238E27FC236}">
                <a16:creationId id="{155AEA68-280B-43B4-B8C2-6DB5F59C173B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07</a:t>
            </a:r>
          </a:p>
        </p:txBody>
      </p:sp>
      <p:sp>
        <p:nvSpPr>
          <p:cNvPr id="7" name="s07-validation-claim-mark">
            <a:extLst>
              <a:ext uri="{FF2B5EF4-FFF2-40B4-BE49-F238E27FC236}">
                <a16:creationId id="{CF9743C9-B03C-417B-90F7-2F588C3C8F31}"/>
              </a:ext>
            </a:extLst>
          </p:cNvPr>
          <p:cNvSpPr>
            <a:spLocks noGrp="1"/>
          </p:cNvSpPr>
          <p:nvPr/>
        </p:nvSpPr>
        <p:spPr>
          <a:xfrm>
            <a:off x="647700" y="17240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07-validation-claim">
            <a:extLst>
              <a:ext uri="{FF2B5EF4-FFF2-40B4-BE49-F238E27FC236}">
                <a16:creationId id="{F2CED05E-AC3F-4C19-80FF-E639070313D1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On adaptive development-validation, nnU-Net v2 has higher robust Dice and boundary F1 point estimates; MiT-B3 retains slightly higher precision.</a:t>
            </a:r>
          </a:p>
        </p:txBody>
      </p:sp>
      <p:sp>
        <p:nvSpPr>
          <p:cNvPr id="9" name="validation-label-0">
            <a:extLst>
              <a:ext uri="{FF2B5EF4-FFF2-40B4-BE49-F238E27FC236}">
                <a16:creationId id="{B9F3DE69-BB84-4556-8DCD-5A814E85CF47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D211F"/>
                </a:solidFill>
              </a:defRPr>
            </a:pPr>
            <a:r>
              <a:rPr sz="1425" b="1" i="0">
                <a:solidFill>
                  <a:srgbClr val="1D211F"/>
                </a:solidFill>
              </a:rPr>
              <a:t>Robust Dice</a:t>
            </a:r>
          </a:p>
        </p:txBody>
      </p:sp>
      <p:sp>
        <p:nvSpPr>
          <p:cNvPr id="10" name="validation-a-value-0">
            <a:extLst>
              <a:ext uri="{FF2B5EF4-FFF2-40B4-BE49-F238E27FC236}">
                <a16:creationId id="{3D942773-EE2D-44EC-AD30-10A31FCB0109}"/>
              </a:ext>
            </a:extLst>
          </p:cNvPr>
          <p:cNvSpPr>
            <a:spLocks noGrp="1"/>
          </p:cNvSpPr>
          <p:nvPr/>
        </p:nvSpPr>
        <p:spPr>
          <a:xfrm>
            <a:off x="2876550" y="295275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177D76"/>
                </a:solidFill>
              </a:defRPr>
            </a:pPr>
            <a:r>
              <a:rPr sz="1350" b="1" i="0">
                <a:solidFill>
                  <a:srgbClr val="177D76"/>
                </a:solidFill>
              </a:rPr>
              <a:t>0.8959</a:t>
            </a:r>
          </a:p>
        </p:txBody>
      </p:sp>
      <p:sp>
        <p:nvSpPr>
          <p:cNvPr id="11" name="validation-a-bar-0">
            <a:extLst>
              <a:ext uri="{FF2B5EF4-FFF2-40B4-BE49-F238E27FC236}">
                <a16:creationId id="{A7780D9B-56C8-4110-BF56-88D6AF141301}"/>
              </a:ext>
            </a:extLst>
          </p:cNvPr>
          <p:cNvSpPr>
            <a:spLocks noGrp="1"/>
          </p:cNvSpPr>
          <p:nvPr/>
        </p:nvSpPr>
        <p:spPr>
          <a:xfrm>
            <a:off x="3962400" y="3048000"/>
            <a:ext cx="4438650" cy="2286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2" name="validation-b-value-0">
            <a:extLst>
              <a:ext uri="{FF2B5EF4-FFF2-40B4-BE49-F238E27FC236}">
                <a16:creationId id="{FFC3662E-1A15-4C3B-94FB-DC3C33494994}"/>
              </a:ext>
            </a:extLst>
          </p:cNvPr>
          <p:cNvSpPr>
            <a:spLocks noGrp="1"/>
          </p:cNvSpPr>
          <p:nvPr/>
        </p:nvSpPr>
        <p:spPr>
          <a:xfrm>
            <a:off x="2876550" y="337185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B54E36"/>
                </a:solidFill>
              </a:defRPr>
            </a:pPr>
            <a:r>
              <a:rPr sz="1350" b="1" i="0">
                <a:solidFill>
                  <a:srgbClr val="B54E36"/>
                </a:solidFill>
              </a:rPr>
              <a:t>0.9019</a:t>
            </a:r>
          </a:p>
        </p:txBody>
      </p:sp>
      <p:sp>
        <p:nvSpPr>
          <p:cNvPr id="13" name="validation-b-bar-0">
            <a:extLst>
              <a:ext uri="{FF2B5EF4-FFF2-40B4-BE49-F238E27FC236}">
                <a16:creationId id="{03A51909-0733-42E1-8CA8-522B9AF509F1}"/>
              </a:ext>
            </a:extLst>
          </p:cNvPr>
          <p:cNvSpPr>
            <a:spLocks noGrp="1"/>
          </p:cNvSpPr>
          <p:nvPr/>
        </p:nvSpPr>
        <p:spPr>
          <a:xfrm>
            <a:off x="3962400" y="3467100"/>
            <a:ext cx="4467225" cy="2286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4" name="validation-label-1">
            <a:extLst>
              <a:ext uri="{FF2B5EF4-FFF2-40B4-BE49-F238E27FC236}">
                <a16:creationId id="{EE95B0A6-7300-4861-84F5-EE961C1BF4C0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D211F"/>
                </a:solidFill>
              </a:defRPr>
            </a:pPr>
            <a:r>
              <a:rPr sz="1425" b="1" i="0">
                <a:solidFill>
                  <a:srgbClr val="1D211F"/>
                </a:solidFill>
              </a:rPr>
              <a:t>Boundary F1</a:t>
            </a:r>
          </a:p>
        </p:txBody>
      </p:sp>
      <p:sp>
        <p:nvSpPr>
          <p:cNvPr id="15" name="validation-a-value-1">
            <a:extLst>
              <a:ext uri="{FF2B5EF4-FFF2-40B4-BE49-F238E27FC236}">
                <a16:creationId id="{ABF23E53-9C0E-4362-B21E-6A41FAF963E4}"/>
              </a:ext>
            </a:extLst>
          </p:cNvPr>
          <p:cNvSpPr>
            <a:spLocks noGrp="1"/>
          </p:cNvSpPr>
          <p:nvPr/>
        </p:nvSpPr>
        <p:spPr>
          <a:xfrm>
            <a:off x="2876550" y="434340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177D76"/>
                </a:solidFill>
              </a:defRPr>
            </a:pPr>
            <a:r>
              <a:rPr sz="1350" b="1" i="0">
                <a:solidFill>
                  <a:srgbClr val="177D76"/>
                </a:solidFill>
              </a:rPr>
              <a:t>0.4145</a:t>
            </a:r>
          </a:p>
        </p:txBody>
      </p:sp>
      <p:sp>
        <p:nvSpPr>
          <p:cNvPr id="16" name="validation-a-bar-1">
            <a:extLst>
              <a:ext uri="{FF2B5EF4-FFF2-40B4-BE49-F238E27FC236}">
                <a16:creationId id="{A9AA112B-BA9D-4AF3-BE9C-2BEC8D61DD65}"/>
              </a:ext>
            </a:extLst>
          </p:cNvPr>
          <p:cNvSpPr>
            <a:spLocks noGrp="1"/>
          </p:cNvSpPr>
          <p:nvPr/>
        </p:nvSpPr>
        <p:spPr>
          <a:xfrm>
            <a:off x="3962400" y="4438650"/>
            <a:ext cx="2057400" cy="2286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7" name="validation-b-value-1">
            <a:extLst>
              <a:ext uri="{FF2B5EF4-FFF2-40B4-BE49-F238E27FC236}">
                <a16:creationId id="{3FB737C3-F6C1-4FC2-A0DA-90E993A598DA}"/>
              </a:ext>
            </a:extLst>
          </p:cNvPr>
          <p:cNvSpPr>
            <a:spLocks noGrp="1"/>
          </p:cNvSpPr>
          <p:nvPr/>
        </p:nvSpPr>
        <p:spPr>
          <a:xfrm>
            <a:off x="2876550" y="476250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B54E36"/>
                </a:solidFill>
              </a:defRPr>
            </a:pPr>
            <a:r>
              <a:rPr sz="1350" b="1" i="0">
                <a:solidFill>
                  <a:srgbClr val="B54E36"/>
                </a:solidFill>
              </a:rPr>
              <a:t>0.4369</a:t>
            </a:r>
          </a:p>
        </p:txBody>
      </p:sp>
      <p:sp>
        <p:nvSpPr>
          <p:cNvPr id="18" name="validation-b-bar-1">
            <a:extLst>
              <a:ext uri="{FF2B5EF4-FFF2-40B4-BE49-F238E27FC236}">
                <a16:creationId id="{C331A572-9FDA-47A4-BEE9-FA73F5EB1DD4}"/>
              </a:ext>
            </a:extLst>
          </p:cNvPr>
          <p:cNvSpPr>
            <a:spLocks noGrp="1"/>
          </p:cNvSpPr>
          <p:nvPr/>
        </p:nvSpPr>
        <p:spPr>
          <a:xfrm>
            <a:off x="3962400" y="4857750"/>
            <a:ext cx="2162175" cy="2286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9" name="validation-legend">
            <a:extLst>
              <a:ext uri="{FF2B5EF4-FFF2-40B4-BE49-F238E27FC236}">
                <a16:creationId id="{310BDBEE-9E94-4F45-9923-9B1FBC730B12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66706B"/>
                </a:solidFill>
              </a:defRPr>
            </a:pPr>
            <a:r>
              <a:rPr sz="1200" b="1" i="0">
                <a:solidFill>
                  <a:srgbClr val="66706B"/>
                </a:solidFill>
              </a:rPr>
              <a:t>MiT-B3     nnU-Net v2</a:t>
            </a:r>
          </a:p>
        </p:txBody>
      </p:sp>
      <p:sp>
        <p:nvSpPr>
          <p:cNvPr id="20" name="validation-limit">
            <a:extLst>
              <a:ext uri="{FF2B5EF4-FFF2-40B4-BE49-F238E27FC236}">
                <a16:creationId id="{3B7AC569-D737-4F6A-8BEF-04235459FFE0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2000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B54E36"/>
                </a:solidFill>
              </a:defRPr>
            </a:pPr>
            <a:r>
              <a:rPr sz="1575" b="1" i="0">
                <a:solidFill>
                  <a:srgbClr val="B54E36"/>
                </a:solidFill>
              </a:rPr>
              <a:t>Point estimates only</a:t>
            </a:r>
          </a:p>
          <a:p>
            <a:pPr algn="l">
              <a:defRPr sz="1575" b="1" i="0">
                <a:solidFill>
                  <a:srgbClr val="B54E36"/>
                </a:solidFill>
              </a:defRPr>
            </a:pPr>
            <a:r>
              <a:rPr sz="1575" b="1" i="0">
                <a:solidFill>
                  <a:srgbClr val="B54E36"/>
                </a:solidFill>
              </a:rPr>
              <a:t>Single recorded run</a:t>
            </a:r>
          </a:p>
          <a:p>
            <a:pPr algn="l">
              <a:defRPr sz="1575" b="1" i="0">
                <a:solidFill>
                  <a:srgbClr val="B54E36"/>
                </a:solidFill>
              </a:defRPr>
            </a:pPr>
            <a:r>
              <a:rPr sz="1575" b="1" i="0">
                <a:solidFill>
                  <a:srgbClr val="B54E36"/>
                </a:solidFill>
              </a:rPr>
              <a:t>No paired confidence interval</a:t>
            </a:r>
          </a:p>
        </p:txBody>
      </p:sp>
      <p:sp>
        <p:nvSpPr>
          <p:cNvPr id="21" name="validation-precision">
            <a:extLst>
              <a:ext uri="{FF2B5EF4-FFF2-40B4-BE49-F238E27FC236}">
                <a16:creationId id="{6398A209-48B8-4E11-8855-F56E0E564BE2}"/>
              </a:ext>
            </a:extLst>
          </p:cNvPr>
          <p:cNvSpPr>
            <a:spLocks noGrp="1"/>
          </p:cNvSpPr>
          <p:nvPr/>
        </p:nvSpPr>
        <p:spPr>
          <a:xfrm>
            <a:off x="9410700" y="4629150"/>
            <a:ext cx="2000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66706B"/>
                </a:solidFill>
              </a:defRPr>
            </a:pPr>
            <a:r>
              <a:rPr sz="1200" b="0" i="0">
                <a:solidFill>
                  <a:srgbClr val="66706B"/>
                </a:solidFill>
              </a:rPr>
              <a:t>MiT-B3 retains slightly higher precision; metric trade-offs remain material.</a:t>
            </a:r>
          </a:p>
        </p:txBody>
      </p:sp>
      <p:sp>
        <p:nvSpPr>
          <p:cNvPr id="22" name="back-to-pipeline">
            <a:extLst>
              <a:ext uri="{FF2B5EF4-FFF2-40B4-BE49-F238E27FC236}">
                <a16:creationId id="{333E5D92-9231-47E5-BBFF-6A353B1076BD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23" name="back-to-pipeline-label">
            <a:extLst>
              <a:ext uri="{FF2B5EF4-FFF2-40B4-BE49-F238E27FC236}">
                <a16:creationId id="{C3CBC959-FA68-40DB-96B8-01FDBC536044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1567750806"/>
      </p:ext>
    </p:extLst>
  </p:cSld>
  <p:transition spd="med">
    <p:fade/>
  </p:transition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top-rule-8">
            <a:extLst>
              <a:ext uri="{FF2B5EF4-FFF2-40B4-BE49-F238E27FC236}">
                <a16:creationId id="{0AB2FD16-B1BF-4AF6-9BE4-8570076D6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8">
            <a:extLst>
              <a:ext uri="{FF2B5EF4-FFF2-40B4-BE49-F238E27FC236}">
                <a16:creationId id="{9C4BAFEB-3F54-4BC3-8142-64CA63CC3EE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MODULE 05 | LOOP206 DESIGN</a:t>
            </a:r>
          </a:p>
        </p:txBody>
      </p:sp>
      <p:sp>
        <p:nvSpPr>
          <p:cNvPr id="3" name="slide-title-8">
            <a:extLst>
              <a:ext uri="{FF2B5EF4-FFF2-40B4-BE49-F238E27FC236}">
                <a16:creationId id="{597D168A-4468-4D91-AA3E-B6882E31194F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Loop206 isolates one intervention: the fourth input channel</a:t>
            </a:r>
          </a:p>
        </p:txBody>
      </p:sp>
      <p:sp>
        <p:nvSpPr>
          <p:cNvPr id="4" name="footer-rule-8">
            <a:extLst>
              <a:ext uri="{FF2B5EF4-FFF2-40B4-BE49-F238E27FC236}">
                <a16:creationId id="{8D6FC278-87B1-4CF4-937E-F2E16D4A48F8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8">
            <a:extLst>
              <a:ext uri="{FF2B5EF4-FFF2-40B4-BE49-F238E27FC236}">
                <a16:creationId id="{32F4E99E-BC23-433B-ABA6-38F8CC45464C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train_screen | three selected seeds | 76 groups</a:t>
            </a:r>
          </a:p>
        </p:txBody>
      </p:sp>
      <p:sp>
        <p:nvSpPr>
          <p:cNvPr id="6" name="page-8">
            <a:extLst>
              <a:ext uri="{FF2B5EF4-FFF2-40B4-BE49-F238E27FC236}">
                <a16:creationId id="{C528FB72-E0B5-470F-AAD7-5EE92DBCD779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08</a:t>
            </a:r>
          </a:p>
        </p:txBody>
      </p:sp>
      <p:sp>
        <p:nvSpPr>
          <p:cNvPr id="7" name="s08-ablation-design-claim-mark">
            <a:extLst>
              <a:ext uri="{FF2B5EF4-FFF2-40B4-BE49-F238E27FC236}">
                <a16:creationId id="{4E010BB6-88DD-4CC5-B27F-9F18C5575AF0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08-ablation-design-claim">
            <a:extLst>
              <a:ext uri="{FF2B5EF4-FFF2-40B4-BE49-F238E27FC236}">
                <a16:creationId id="{B1A1A929-9F63-4381-B185-07EBEF2EC04C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Control and candidate share architecture, preprocessing, seeds, budget, and loss; only the zero versus contour channel changes.</a:t>
            </a:r>
          </a:p>
        </p:txBody>
      </p:sp>
      <p:sp>
        <p:nvSpPr>
          <p:cNvPr id="9" name="ablation-input-stem">
            <a:extLst>
              <a:ext uri="{FF2B5EF4-FFF2-40B4-BE49-F238E27FC236}">
                <a16:creationId id="{841293B7-E449-49EC-9379-403F288A52FA}"/>
              </a:ext>
            </a:extLst>
          </p:cNvPr>
          <p:cNvSpPr>
            <a:spLocks noGrp="1"/>
          </p:cNvSpPr>
          <p:nvPr/>
        </p:nvSpPr>
        <p:spPr>
          <a:xfrm>
            <a:off x="1524000" y="3200400"/>
            <a:ext cx="1381125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0" name="ablation-control-edge">
            <a:extLst>
              <a:ext uri="{FF2B5EF4-FFF2-40B4-BE49-F238E27FC236}">
                <a16:creationId id="{212C6A98-3F93-4822-A47B-F16E9ECE7A18}"/>
              </a:ext>
            </a:extLst>
          </p:cNvPr>
          <p:cNvSpPr>
            <a:spLocks noGrp="1"/>
          </p:cNvSpPr>
          <p:nvPr/>
        </p:nvSpPr>
        <p:spPr>
          <a:xfrm>
            <a:off x="2905125" y="2705100"/>
            <a:ext cx="38100" cy="10668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1" name="ablation-control-out">
            <a:extLst>
              <a:ext uri="{FF2B5EF4-FFF2-40B4-BE49-F238E27FC236}">
                <a16:creationId id="{05955F1D-2BB6-4CEA-9828-A3D513B0CCC2}"/>
              </a:ext>
            </a:extLst>
          </p:cNvPr>
          <p:cNvSpPr>
            <a:spLocks noGrp="1"/>
          </p:cNvSpPr>
          <p:nvPr/>
        </p:nvSpPr>
        <p:spPr>
          <a:xfrm>
            <a:off x="2905125" y="2705100"/>
            <a:ext cx="1047750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2" name="ablation-candidate-out">
            <a:extLst>
              <a:ext uri="{FF2B5EF4-FFF2-40B4-BE49-F238E27FC236}">
                <a16:creationId id="{F33B5C2E-4052-4023-A409-22D64D0340CA}"/>
              </a:ext>
            </a:extLst>
          </p:cNvPr>
          <p:cNvSpPr>
            <a:spLocks noGrp="1"/>
          </p:cNvSpPr>
          <p:nvPr/>
        </p:nvSpPr>
        <p:spPr>
          <a:xfrm>
            <a:off x="2905125" y="3733800"/>
            <a:ext cx="1047750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3" name="ablation-merge-a">
            <a:extLst>
              <a:ext uri="{FF2B5EF4-FFF2-40B4-BE49-F238E27FC236}">
                <a16:creationId id="{71FD9FB7-C515-4D91-83F2-52429CAAEA62}"/>
              </a:ext>
            </a:extLst>
          </p:cNvPr>
          <p:cNvSpPr>
            <a:spLocks noGrp="1"/>
          </p:cNvSpPr>
          <p:nvPr/>
        </p:nvSpPr>
        <p:spPr>
          <a:xfrm>
            <a:off x="6334125" y="2705100"/>
            <a:ext cx="857250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4" name="ablation-merge-b">
            <a:extLst>
              <a:ext uri="{FF2B5EF4-FFF2-40B4-BE49-F238E27FC236}">
                <a16:creationId id="{0C9FE152-D52B-4893-8732-C4BFAF7DFB53}"/>
              </a:ext>
            </a:extLst>
          </p:cNvPr>
          <p:cNvSpPr>
            <a:spLocks noGrp="1"/>
          </p:cNvSpPr>
          <p:nvPr/>
        </p:nvSpPr>
        <p:spPr>
          <a:xfrm>
            <a:off x="6334125" y="3733800"/>
            <a:ext cx="857250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5" name="ablation-merge-v">
            <a:extLst>
              <a:ext uri="{FF2B5EF4-FFF2-40B4-BE49-F238E27FC236}">
                <a16:creationId id="{E31EEDC1-7EE3-440D-8F4F-DE2D4D3057BA}"/>
              </a:ext>
            </a:extLst>
          </p:cNvPr>
          <p:cNvSpPr>
            <a:spLocks noGrp="1"/>
          </p:cNvSpPr>
          <p:nvPr/>
        </p:nvSpPr>
        <p:spPr>
          <a:xfrm>
            <a:off x="7191375" y="2705100"/>
            <a:ext cx="38100" cy="10668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6" name="ablation-merge-out">
            <a:extLst>
              <a:ext uri="{FF2B5EF4-FFF2-40B4-BE49-F238E27FC236}">
                <a16:creationId id="{961D2D12-0A6B-42F5-8CF3-8F611AFBF859}"/>
              </a:ext>
            </a:extLst>
          </p:cNvPr>
          <p:cNvSpPr>
            <a:spLocks noGrp="1"/>
          </p:cNvSpPr>
          <p:nvPr/>
        </p:nvSpPr>
        <p:spPr>
          <a:xfrm>
            <a:off x="7191375" y="3219450"/>
            <a:ext cx="1000125" cy="381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7" name="ablation-input">
            <a:extLst>
              <a:ext uri="{FF2B5EF4-FFF2-40B4-BE49-F238E27FC236}">
                <a16:creationId id="{851890C4-8466-416B-9382-BA14649EE94E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562100" cy="914400"/>
          </a:xfrm>
          <a:prstGeom prst="roundRect">
            <a:avLst>
              <a:gd name="adj" fmla="val 125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18" name="ablation-input-text">
            <a:extLst>
              <a:ext uri="{FF2B5EF4-FFF2-40B4-BE49-F238E27FC236}">
                <a16:creationId id="{67623EA3-A4DD-4D3C-832B-D18923FEB64B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1219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1D211F"/>
                </a:solidFill>
              </a:defRPr>
            </a:pPr>
            <a:r>
              <a:rPr sz="1275" b="1" i="0">
                <a:solidFill>
                  <a:srgbClr val="1D211F"/>
                </a:solidFill>
              </a:rPr>
              <a:t>SAME INPUT</a:t>
            </a:r>
          </a:p>
          <a:p>
            <a:pPr algn="ctr">
              <a:defRPr sz="1275" b="1" i="0">
                <a:solidFill>
                  <a:srgbClr val="1D211F"/>
                </a:solidFill>
              </a:defRPr>
            </a:pPr>
            <a:r>
              <a:rPr sz="1275" b="1" i="0">
                <a:solidFill>
                  <a:srgbClr val="1D211F"/>
                </a:solidFill>
              </a:rPr>
              <a:t>SAME SEED</a:t>
            </a:r>
          </a:p>
        </p:txBody>
      </p:sp>
      <p:sp>
        <p:nvSpPr>
          <p:cNvPr id="19" name="ablation-control">
            <a:extLst>
              <a:ext uri="{FF2B5EF4-FFF2-40B4-BE49-F238E27FC236}">
                <a16:creationId id="{E07B1FF4-92C8-4908-A4FA-65EADBFE2C2A}"/>
              </a:ext>
            </a:extLst>
          </p:cNvPr>
          <p:cNvSpPr>
            <a:spLocks noGrp="1"/>
          </p:cNvSpPr>
          <p:nvPr/>
        </p:nvSpPr>
        <p:spPr>
          <a:xfrm>
            <a:off x="3943350" y="234315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D6E7E1"/>
          </a:solidFill>
          <a:ln w="0">
            <a:noFill/>
            <a:prstDash val="solid"/>
          </a:ln>
        </p:spPr>
      </p:sp>
      <p:sp>
        <p:nvSpPr>
          <p:cNvPr id="20" name="ablation-control-text">
            <a:extLst>
              <a:ext uri="{FF2B5EF4-FFF2-40B4-BE49-F238E27FC236}">
                <a16:creationId id="{1BD5B13E-7A6A-4863-87B1-6206A2FE2B10}"/>
              </a:ext>
            </a:extLst>
          </p:cNvPr>
          <p:cNvSpPr>
            <a:spLocks noGrp="1"/>
          </p:cNvSpPr>
          <p:nvPr/>
        </p:nvSpPr>
        <p:spPr>
          <a:xfrm>
            <a:off x="4133850" y="24765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77D76"/>
                </a:solidFill>
              </a:defRPr>
            </a:pPr>
            <a:r>
              <a:rPr sz="1350" b="1" i="0">
                <a:solidFill>
                  <a:srgbClr val="177D76"/>
                </a:solidFill>
              </a:rPr>
              <a:t>CONTROL</a:t>
            </a:r>
          </a:p>
          <a:p>
            <a:pPr algn="ctr">
              <a:defRPr sz="1350" b="1" i="0">
                <a:solidFill>
                  <a:srgbClr val="177D76"/>
                </a:solidFill>
              </a:defRPr>
            </a:pPr>
            <a:r>
              <a:rPr sz="1350" b="1" i="0">
                <a:solidFill>
                  <a:srgbClr val="177D76"/>
                </a:solidFill>
              </a:rPr>
              <a:t>zero fourth channel</a:t>
            </a:r>
          </a:p>
        </p:txBody>
      </p:sp>
      <p:sp>
        <p:nvSpPr>
          <p:cNvPr id="21" name="ablation-candidate">
            <a:extLst>
              <a:ext uri="{FF2B5EF4-FFF2-40B4-BE49-F238E27FC236}">
                <a16:creationId id="{A0182752-11F2-4CAF-A574-115E3810EF02}"/>
              </a:ext>
            </a:extLst>
          </p:cNvPr>
          <p:cNvSpPr>
            <a:spLocks noGrp="1"/>
          </p:cNvSpPr>
          <p:nvPr/>
        </p:nvSpPr>
        <p:spPr>
          <a:xfrm>
            <a:off x="3943350" y="3371850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EAD2C9"/>
          </a:solidFill>
          <a:ln w="0">
            <a:noFill/>
            <a:prstDash val="solid"/>
          </a:ln>
        </p:spPr>
      </p:sp>
      <p:sp>
        <p:nvSpPr>
          <p:cNvPr id="22" name="ablation-candidate-text">
            <a:extLst>
              <a:ext uri="{FF2B5EF4-FFF2-40B4-BE49-F238E27FC236}">
                <a16:creationId id="{63E00DC3-F2A1-4FBC-8FB4-A301E5431CC0}"/>
              </a:ext>
            </a:extLst>
          </p:cNvPr>
          <p:cNvSpPr>
            <a:spLocks noGrp="1"/>
          </p:cNvSpPr>
          <p:nvPr/>
        </p:nvSpPr>
        <p:spPr>
          <a:xfrm>
            <a:off x="4133850" y="35052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B54E36"/>
                </a:solidFill>
              </a:defRPr>
            </a:pPr>
            <a:r>
              <a:rPr sz="1350" b="1" i="0">
                <a:solidFill>
                  <a:srgbClr val="B54E36"/>
                </a:solidFill>
              </a:rPr>
              <a:t>CANDIDATE</a:t>
            </a:r>
          </a:p>
          <a:p>
            <a:pPr algn="ctr">
              <a:defRPr sz="1350" b="1" i="0">
                <a:solidFill>
                  <a:srgbClr val="B54E36"/>
                </a:solidFill>
              </a:defRPr>
            </a:pPr>
            <a:r>
              <a:rPr sz="1350" b="1" i="0">
                <a:solidFill>
                  <a:srgbClr val="B54E36"/>
                </a:solidFill>
              </a:rPr>
              <a:t>contour fourth channel</a:t>
            </a:r>
          </a:p>
        </p:txBody>
      </p:sp>
      <p:sp>
        <p:nvSpPr>
          <p:cNvPr id="23" name="ablation-compare">
            <a:extLst>
              <a:ext uri="{FF2B5EF4-FFF2-40B4-BE49-F238E27FC236}">
                <a16:creationId id="{C3DA95D7-8C92-452F-B512-2860109F76DB}"/>
              </a:ext>
            </a:extLst>
          </p:cNvPr>
          <p:cNvSpPr>
            <a:spLocks noGrp="1"/>
          </p:cNvSpPr>
          <p:nvPr/>
        </p:nvSpPr>
        <p:spPr>
          <a:xfrm>
            <a:off x="8191500" y="2781300"/>
            <a:ext cx="3143250" cy="914400"/>
          </a:xfrm>
          <a:prstGeom prst="roundRect">
            <a:avLst>
              <a:gd name="adj" fmla="val 12500"/>
            </a:avLst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24" name="ablation-compare-text">
            <a:extLst>
              <a:ext uri="{FF2B5EF4-FFF2-40B4-BE49-F238E27FC236}">
                <a16:creationId id="{5C98C479-E37A-4207-9AC3-43FEF82E7264}"/>
              </a:ext>
            </a:extLst>
          </p:cNvPr>
          <p:cNvSpPr>
            <a:spLocks noGrp="1"/>
          </p:cNvSpPr>
          <p:nvPr/>
        </p:nvSpPr>
        <p:spPr>
          <a:xfrm>
            <a:off x="8382000" y="300990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4"/>
                </a:solidFill>
              </a:defRPr>
            </a:pPr>
            <a:r>
              <a:rPr sz="1275" b="1" i="0">
                <a:solidFill>
                  <a:srgbClr val="F4EFE4"/>
                </a:solidFill>
              </a:rPr>
              <a:t>PAIRED GROUP BOOTSTRAP</a:t>
            </a:r>
          </a:p>
          <a:p>
            <a:pPr algn="ctr">
              <a:defRPr sz="1275" b="1" i="0">
                <a:solidFill>
                  <a:srgbClr val="F4EFE4"/>
                </a:solidFill>
              </a:defRPr>
            </a:pPr>
            <a:r>
              <a:rPr sz="1275" b="1" i="0">
                <a:solidFill>
                  <a:srgbClr val="F4EFE4"/>
                </a:solidFill>
              </a:rPr>
              <a:t>seeds + views averaged first</a:t>
            </a:r>
          </a:p>
        </p:txBody>
      </p:sp>
      <p:sp>
        <p:nvSpPr>
          <p:cNvPr id="25" name="s08-ablation-design-fit groups-value">
            <a:extLst>
              <a:ext uri="{FF2B5EF4-FFF2-40B4-BE49-F238E27FC236}">
                <a16:creationId id="{E6C9060B-9604-417D-AC90-B58DF1EAAC65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177D76"/>
                </a:solidFill>
              </a:defRPr>
            </a:pPr>
            <a:r>
              <a:rPr sz="3375" b="1" i="0">
                <a:solidFill>
                  <a:srgbClr val="177D76"/>
                </a:solidFill>
              </a:rPr>
              <a:t>308</a:t>
            </a:r>
          </a:p>
        </p:txBody>
      </p:sp>
      <p:sp>
        <p:nvSpPr>
          <p:cNvPr id="26" name="s08-ablation-design-fit groups-label">
            <a:extLst>
              <a:ext uri="{FF2B5EF4-FFF2-40B4-BE49-F238E27FC236}">
                <a16:creationId id="{87981DE5-2969-4CD7-AF91-0BE343FBBBD1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66706B"/>
                </a:solidFill>
              </a:defRPr>
            </a:pPr>
            <a:r>
              <a:rPr sz="1125" b="1" i="0">
                <a:solidFill>
                  <a:srgbClr val="66706B"/>
                </a:solidFill>
              </a:rPr>
              <a:t>fit groups</a:t>
            </a:r>
          </a:p>
        </p:txBody>
      </p:sp>
      <p:sp>
        <p:nvSpPr>
          <p:cNvPr id="27" name="s08-ablation-design-holdout groups-value">
            <a:extLst>
              <a:ext uri="{FF2B5EF4-FFF2-40B4-BE49-F238E27FC236}">
                <a16:creationId id="{300216A9-9FEE-41AE-B9B1-BCDB853D6B10}"/>
              </a:ext>
            </a:extLst>
          </p:cNvPr>
          <p:cNvSpPr>
            <a:spLocks noGrp="1"/>
          </p:cNvSpPr>
          <p:nvPr/>
        </p:nvSpPr>
        <p:spPr>
          <a:xfrm>
            <a:off x="4248150" y="46291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B54E36"/>
                </a:solidFill>
              </a:defRPr>
            </a:pPr>
            <a:r>
              <a:rPr sz="3375" b="1" i="0">
                <a:solidFill>
                  <a:srgbClr val="B54E36"/>
                </a:solidFill>
              </a:rPr>
              <a:t>76</a:t>
            </a:r>
          </a:p>
        </p:txBody>
      </p:sp>
      <p:sp>
        <p:nvSpPr>
          <p:cNvPr id="28" name="s08-ablation-design-holdout groups-label">
            <a:extLst>
              <a:ext uri="{FF2B5EF4-FFF2-40B4-BE49-F238E27FC236}">
                <a16:creationId id="{333B7BD3-A5BE-4B87-B810-1D59FF83D28F}"/>
              </a:ext>
            </a:extLst>
          </p:cNvPr>
          <p:cNvSpPr>
            <a:spLocks noGrp="1"/>
          </p:cNvSpPr>
          <p:nvPr/>
        </p:nvSpPr>
        <p:spPr>
          <a:xfrm>
            <a:off x="4248150" y="51816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66706B"/>
                </a:solidFill>
              </a:defRPr>
            </a:pPr>
            <a:r>
              <a:rPr sz="1125" b="1" i="0">
                <a:solidFill>
                  <a:srgbClr val="66706B"/>
                </a:solidFill>
              </a:rPr>
              <a:t>holdout groups</a:t>
            </a:r>
          </a:p>
        </p:txBody>
      </p:sp>
      <p:sp>
        <p:nvSpPr>
          <p:cNvPr id="29" name="s08-ablation-design-paired seeds-value">
            <a:extLst>
              <a:ext uri="{FF2B5EF4-FFF2-40B4-BE49-F238E27FC236}">
                <a16:creationId id="{8098E165-F503-436C-A829-669A0688B2FC}"/>
              </a:ext>
            </a:extLst>
          </p:cNvPr>
          <p:cNvSpPr>
            <a:spLocks noGrp="1"/>
          </p:cNvSpPr>
          <p:nvPr/>
        </p:nvSpPr>
        <p:spPr>
          <a:xfrm>
            <a:off x="7715250" y="46291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 i="0">
                <a:solidFill>
                  <a:srgbClr val="1D211F"/>
                </a:solidFill>
              </a:defRPr>
            </a:pPr>
            <a:r>
              <a:rPr sz="3375" b="1" i="0">
                <a:solidFill>
                  <a:srgbClr val="1D211F"/>
                </a:solidFill>
              </a:rPr>
              <a:t>3</a:t>
            </a:r>
          </a:p>
        </p:txBody>
      </p:sp>
      <p:sp>
        <p:nvSpPr>
          <p:cNvPr id="30" name="s08-ablation-design-paired seeds-label">
            <a:extLst>
              <a:ext uri="{FF2B5EF4-FFF2-40B4-BE49-F238E27FC236}">
                <a16:creationId id="{B9BA91D0-BAD0-4404-BFDC-1E27FC29CF3B}"/>
              </a:ext>
            </a:extLst>
          </p:cNvPr>
          <p:cNvSpPr>
            <a:spLocks noGrp="1"/>
          </p:cNvSpPr>
          <p:nvPr/>
        </p:nvSpPr>
        <p:spPr>
          <a:xfrm>
            <a:off x="7715250" y="51816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66706B"/>
                </a:solidFill>
              </a:defRPr>
            </a:pPr>
            <a:r>
              <a:rPr sz="1125" b="1" i="0">
                <a:solidFill>
                  <a:srgbClr val="66706B"/>
                </a:solidFill>
              </a:rPr>
              <a:t>paired seeds</a:t>
            </a:r>
          </a:p>
        </p:txBody>
      </p:sp>
      <p:sp>
        <p:nvSpPr>
          <p:cNvPr id="31" name="back-to-pipeline">
            <a:extLst>
              <a:ext uri="{FF2B5EF4-FFF2-40B4-BE49-F238E27FC236}">
                <a16:creationId id="{CDC8832D-29E3-4200-8584-721474B43F57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32" name="back-to-pipeline-label">
            <a:extLst>
              <a:ext uri="{FF2B5EF4-FFF2-40B4-BE49-F238E27FC236}">
                <a16:creationId id="{709BCCCC-0422-4936-89D8-4A57FA1C77FE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503278151"/>
      </p:ext>
    </p:extLst>
  </p:cSld>
  <p:transition spd="med">
    <p:fade/>
  </p:transition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top-rule-9">
            <a:extLst>
              <a:ext uri="{FF2B5EF4-FFF2-40B4-BE49-F238E27FC236}">
                <a16:creationId id="{937E6759-8438-4805-9D24-909F983E57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9">
            <a:extLst>
              <a:ext uri="{FF2B5EF4-FFF2-40B4-BE49-F238E27FC236}">
                <a16:creationId id="{094FE8A2-00B8-43F8-9D42-2A3D9436043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MODULE 05 | DECISION</a:t>
            </a:r>
          </a:p>
        </p:txBody>
      </p:sp>
      <p:sp>
        <p:nvSpPr>
          <p:cNvPr id="3" name="slide-title-9">
            <a:extLst>
              <a:ext uri="{FF2B5EF4-FFF2-40B4-BE49-F238E27FC236}">
                <a16:creationId id="{E165D05B-B530-4B23-A55E-0454F2FAB249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The contour channel fails the primary gate</a:t>
            </a:r>
          </a:p>
        </p:txBody>
      </p:sp>
      <p:sp>
        <p:nvSpPr>
          <p:cNvPr id="4" name="footer-rule-9">
            <a:extLst>
              <a:ext uri="{FF2B5EF4-FFF2-40B4-BE49-F238E27FC236}">
                <a16:creationId id="{8C53294B-EF6B-4D15-A2E3-A2BA2C375C98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9">
            <a:extLst>
              <a:ext uri="{FF2B5EF4-FFF2-40B4-BE49-F238E27FC236}">
                <a16:creationId id="{C6931500-8FE6-4A22-9727-19FC294B49DD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train_screen | conditional on the selected seeds</a:t>
            </a:r>
          </a:p>
        </p:txBody>
      </p:sp>
      <p:sp>
        <p:nvSpPr>
          <p:cNvPr id="6" name="page-9">
            <a:extLst>
              <a:ext uri="{FF2B5EF4-FFF2-40B4-BE49-F238E27FC236}">
                <a16:creationId id="{BDFF5A06-104F-4C40-95CA-3E1B13B20798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09</a:t>
            </a:r>
          </a:p>
        </p:txBody>
      </p:sp>
      <p:sp>
        <p:nvSpPr>
          <p:cNvPr id="7" name="s09-negative-result-claim-mark">
            <a:extLst>
              <a:ext uri="{FF2B5EF4-FFF2-40B4-BE49-F238E27FC236}">
                <a16:creationId id="{85112AD8-A65B-4E66-90E4-AEA2F266E9A3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09-negative-result-claim">
            <a:extLst>
              <a:ext uri="{FF2B5EF4-FFF2-40B4-BE49-F238E27FC236}">
                <a16:creationId id="{CDB33AF4-52B9-4872-8EC8-679C84E4E75D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Seed-and-view-averaged robust Dice changes by -0.0313; its conditional 95% interval lies entirely below zero.</a:t>
            </a:r>
          </a:p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57cbee66eb3d41a2"/>
          <a:stretch/>
        </p:blipFill>
        <p:spPr>
          <a:xfrm>
            <a:off x="666750" y="2799860"/>
            <a:ext cx="7334250" cy="2534631"/>
          </a:xfrm>
          <a:prstGeom prst="rect">
            <a:avLst/>
          </a:prstGeom>
        </p:spPr>
      </p:pic>
      <p:sp>
        <p:nvSpPr>
          <p:cNvPr id="10" name="negative-gate">
            <a:extLst>
              <a:ext uri="{FF2B5EF4-FFF2-40B4-BE49-F238E27FC236}">
                <a16:creationId id="{A56A6223-3FF8-4D79-B925-5BA658907121}"/>
              </a:ext>
            </a:extLst>
          </p:cNvPr>
          <p:cNvSpPr>
            <a:spLocks noGrp="1"/>
          </p:cNvSpPr>
          <p:nvPr/>
        </p:nvSpPr>
        <p:spPr>
          <a:xfrm>
            <a:off x="8553450" y="28194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B54E36"/>
                </a:solidFill>
              </a:defRPr>
            </a:pPr>
            <a:r>
              <a:rPr sz="3900" b="1" i="0">
                <a:solidFill>
                  <a:srgbClr val="B54E36"/>
                </a:solidFill>
              </a:rPr>
              <a:t>REJECT</a:t>
            </a:r>
          </a:p>
        </p:txBody>
      </p:sp>
      <p:sp>
        <p:nvSpPr>
          <p:cNvPr id="11" name="negative-dice">
            <a:extLst>
              <a:ext uri="{FF2B5EF4-FFF2-40B4-BE49-F238E27FC236}">
                <a16:creationId id="{97C0300F-243B-40FF-AE6B-82022B22A3D6}"/>
              </a:ext>
            </a:extLst>
          </p:cNvPr>
          <p:cNvSpPr>
            <a:spLocks noGrp="1"/>
          </p:cNvSpPr>
          <p:nvPr/>
        </p:nvSpPr>
        <p:spPr>
          <a:xfrm>
            <a:off x="8401050" y="3600450"/>
            <a:ext cx="2876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D211F"/>
                </a:solidFill>
              </a:defRPr>
            </a:pPr>
            <a:r>
              <a:rPr sz="1500" b="1" i="0">
                <a:solidFill>
                  <a:srgbClr val="1D211F"/>
                </a:solidFill>
              </a:rPr>
              <a:t>Dice Δ  -0.0313</a:t>
            </a:r>
          </a:p>
          <a:p>
            <a:pPr algn="ctr">
              <a:defRPr sz="1500" b="1" i="0">
                <a:solidFill>
                  <a:srgbClr val="1D211F"/>
                </a:solidFill>
              </a:defRPr>
            </a:pPr>
            <a:r>
              <a:rPr sz="1500" b="1" i="0">
                <a:solidFill>
                  <a:srgbClr val="1D211F"/>
                </a:solidFill>
              </a:rPr>
              <a:t>95% CI [-0.0491, -0.0156]</a:t>
            </a:r>
          </a:p>
        </p:txBody>
      </p:sp>
      <p:sp>
        <p:nvSpPr>
          <p:cNvPr id="12" name="negative-bf1">
            <a:extLst>
              <a:ext uri="{FF2B5EF4-FFF2-40B4-BE49-F238E27FC236}">
                <a16:creationId id="{E973858F-BFB9-494B-9B30-A92ECD1F0D61}"/>
              </a:ext>
            </a:extLst>
          </p:cNvPr>
          <p:cNvSpPr>
            <a:spLocks noGrp="1"/>
          </p:cNvSpPr>
          <p:nvPr/>
        </p:nvSpPr>
        <p:spPr>
          <a:xfrm>
            <a:off x="8401050" y="4591050"/>
            <a:ext cx="28765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66706B"/>
                </a:solidFill>
              </a:defRPr>
            </a:pPr>
            <a:r>
              <a:rPr sz="1350" b="0" i="0">
                <a:solidFill>
                  <a:srgbClr val="66706B"/>
                </a:solidFill>
              </a:rPr>
              <a:t>BF1 Δ  -0.0147</a:t>
            </a:r>
          </a:p>
          <a:p>
            <a:pPr algn="ctr">
              <a:defRPr sz="1350" b="0" i="0">
                <a:solidFill>
                  <a:srgbClr val="66706B"/>
                </a:solidFill>
              </a:defRPr>
            </a:pPr>
            <a:r>
              <a:rPr sz="1350" b="0" i="0">
                <a:solidFill>
                  <a:srgbClr val="66706B"/>
                </a:solidFill>
              </a:rPr>
              <a:t>95% CI [-0.0308, 0.0010]</a:t>
            </a:r>
          </a:p>
        </p:txBody>
      </p:sp>
      <p:sp>
        <p:nvSpPr>
          <p:cNvPr id="13" name="negative-boundary">
            <a:extLst>
              <a:ext uri="{FF2B5EF4-FFF2-40B4-BE49-F238E27FC236}">
                <a16:creationId id="{28FCA1F9-A241-4595-BF38-0BCF24B3617B}"/>
              </a:ext>
            </a:extLst>
          </p:cNvPr>
          <p:cNvSpPr>
            <a:spLocks noGrp="1"/>
          </p:cNvSpPr>
          <p:nvPr/>
        </p:nvSpPr>
        <p:spPr>
          <a:xfrm>
            <a:off x="8096250" y="54483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B54E36"/>
                </a:solidFill>
              </a:defRPr>
            </a:pPr>
            <a:r>
              <a:rPr sz="975" b="1" i="0">
                <a:solidFill>
                  <a:srgbClr val="B54E36"/>
                </a:solidFill>
              </a:rPr>
              <a:t>Candidate rejected before protected evaluation.</a:t>
            </a:r>
          </a:p>
        </p:txBody>
      </p:sp>
      <p:sp>
        <p:nvSpPr>
          <p:cNvPr id="14" name="back-to-pipeline">
            <a:extLst>
              <a:ext uri="{FF2B5EF4-FFF2-40B4-BE49-F238E27FC236}">
                <a16:creationId id="{5C02E10C-3D43-420B-9657-AD15C185CC5C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15" name="back-to-pipeline-label">
            <a:extLst>
              <a:ext uri="{FF2B5EF4-FFF2-40B4-BE49-F238E27FC236}">
                <a16:creationId id="{E5EA459D-0F4A-45BF-977E-21999D742B3F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1103710722"/>
      </p:ext>
    </p:extLst>
  </p:cSld>
  <p:transition spd="med">
    <p:fade/>
  </p:transition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top-rule-10">
            <a:extLst>
              <a:ext uri="{FF2B5EF4-FFF2-40B4-BE49-F238E27FC236}">
                <a16:creationId id="{E7E0F0B4-B4AE-4D58-B2CA-6882DA1299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10">
            <a:extLst>
              <a:ext uri="{FF2B5EF4-FFF2-40B4-BE49-F238E27FC236}">
                <a16:creationId id="{A0D2B920-15DD-4AD4-97C1-0205C1E2641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MODULE 06 | EVIDENCE-BOUND DEMO</a:t>
            </a:r>
          </a:p>
        </p:txBody>
      </p:sp>
      <p:sp>
        <p:nvSpPr>
          <p:cNvPr id="3" name="slide-title-10">
            <a:extLst>
              <a:ext uri="{FF2B5EF4-FFF2-40B4-BE49-F238E27FC236}">
                <a16:creationId id="{CC51D9A9-1FFE-4C38-9722-F2D8FDC9F373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Two demo lanes answer different questions</a:t>
            </a:r>
          </a:p>
        </p:txBody>
      </p:sp>
      <p:sp>
        <p:nvSpPr>
          <p:cNvPr id="4" name="footer-rule-10">
            <a:extLst>
              <a:ext uri="{FF2B5EF4-FFF2-40B4-BE49-F238E27FC236}">
                <a16:creationId id="{2F07A388-25A5-40E9-86FA-FC9020085745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0">
            <a:extLst>
              <a:ext uri="{FF2B5EF4-FFF2-40B4-BE49-F238E27FC236}">
                <a16:creationId id="{C0E91181-703D-4203-9F26-25D1BB9464B6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live public/synthetic illustrative lane + audited fixed L206 lane | non-clinical</a:t>
            </a:r>
          </a:p>
        </p:txBody>
      </p:sp>
      <p:sp>
        <p:nvSpPr>
          <p:cNvPr id="6" name="page-10">
            <a:extLst>
              <a:ext uri="{FF2B5EF4-FFF2-40B4-BE49-F238E27FC236}">
                <a16:creationId id="{B62F7353-CD95-4C9F-8561-7758DFE77F95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10</a:t>
            </a:r>
          </a:p>
        </p:txBody>
      </p:sp>
      <p:sp>
        <p:nvSpPr>
          <p:cNvPr id="7" name="s10-demo-claim-mark">
            <a:extLst>
              <a:ext uri="{FF2B5EF4-FFF2-40B4-BE49-F238E27FC236}">
                <a16:creationId id="{37D72DCF-BC24-4C61-99E4-6FFE04A86C24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10-demo-claim">
            <a:extLst>
              <a:ext uri="{FF2B5EF4-FFF2-40B4-BE49-F238E27FC236}">
                <a16:creationId id="{DBEA85BD-6DA5-4261-B99E-59DBCF69018F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Live public/synthetic RGB runs L206-control-s206 then reconstructed L192 nnU-Net; audited fixed samples compare the two Loop206 arms. Live output is not paper RQ1.</a:t>
            </a:r>
          </a:p>
        </p:txBody>
      </p:sp>
      <p:sp>
        <p:nvSpPr>
          <p:cNvPr id="9" name="demo-fixed-caption">
            <a:extLst>
              <a:ext uri="{FF2B5EF4-FFF2-40B4-BE49-F238E27FC236}">
                <a16:creationId id="{05FC2660-30E7-4638-85E3-0C48B7F4E2E6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582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AUDITED FIXED L206 LANE</a:t>
            </a:r>
          </a:p>
        </p:txBody>
      </p:sp>
      <p:sp>
        <p:nvSpPr>
          <p:cNvPr id="10" name="demo-fixed-evidence">
            <a:extLst>
              <a:ext uri="{FF2B5EF4-FFF2-40B4-BE49-F238E27FC236}">
                <a16:creationId id="{AE345DC2-C9D0-482E-A90F-86384BBEA109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1D211F"/>
                </a:solidFill>
              </a:defRPr>
            </a:pPr>
            <a:r>
              <a:rPr sz="975" b="1" i="0">
                <a:solidFill>
                  <a:srgbClr val="1D211F"/>
                </a:solidFill>
              </a:rPr>
              <a:t>Fixed-cache sample: original + control mask + candidate mask</a:t>
            </a:r>
          </a:p>
        </p:txBody>
      </p:sp>
      <p:sp>
        <p:nvSpPr>
          <p:cNvPr id="11" name="demo-fixed-samples">
            <a:extLst>
              <a:ext uri="{FF2B5EF4-FFF2-40B4-BE49-F238E27FC236}">
                <a16:creationId id="{643ECDCF-11E5-4C5F-9672-D642DE6D5ECA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52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66706B"/>
                </a:solidFill>
              </a:defRPr>
            </a:pPr>
            <a:r>
              <a:rPr sz="900" b="1" i="0">
                <a:solidFill>
                  <a:srgbClr val="66706B"/>
                </a:solidFill>
              </a:rPr>
              <a:t>ISIC_0000050  |  ISIC_0012690</a:t>
            </a:r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 r:embed="R2101cdd761054b76"/>
          <a:stretch/>
        </p:blipFill>
        <p:spPr>
          <a:xfrm>
            <a:off x="666750" y="3463790"/>
            <a:ext cx="5829300" cy="1111519"/>
          </a:xfrm>
          <a:prstGeom prst="rect">
            <a:avLst/>
          </a:prstGeom>
        </p:spPr>
      </p:pic>
      <p:sp>
        <p:nvSpPr>
          <p:cNvPr id="13" name="demo-fixed-boundary">
            <a:extLst>
              <a:ext uri="{FF2B5EF4-FFF2-40B4-BE49-F238E27FC236}">
                <a16:creationId id="{47A7E0A4-C8E4-4882-8447-881D996ADDD7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582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B54E36"/>
                </a:solidFill>
              </a:defRPr>
            </a:pPr>
            <a:r>
              <a:rPr sz="975" b="1" i="0">
                <a:solidFill>
                  <a:srgbClr val="B54E36"/>
                </a:solidFill>
              </a:rPr>
              <a:t>illustrative fixed-cache examples; not protected-test evidence</a:t>
            </a:r>
          </a:p>
        </p:txBody>
      </p:sp>
      <p:sp>
        <p:nvSpPr>
          <p:cNvPr id="14" name="demo-fixed-detail">
            <a:extLst>
              <a:ext uri="{FF2B5EF4-FFF2-40B4-BE49-F238E27FC236}">
                <a16:creationId id="{AB7AF58C-6AE2-4683-8D67-83E2E5E915E4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582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Ground truth is authorized only in the audited fixed lane.</a:t>
            </a:r>
          </a:p>
        </p:txBody>
      </p:sp>
      <p:sp>
        <p:nvSpPr>
          <p:cNvPr id="15" name="demo-lane-divider">
            <a:extLst>
              <a:ext uri="{FF2B5EF4-FFF2-40B4-BE49-F238E27FC236}">
                <a16:creationId id="{457DC0D9-18BB-4CFA-9A47-680B7E72CCE7}"/>
              </a:ext>
            </a:extLst>
          </p:cNvPr>
          <p:cNvSpPr>
            <a:spLocks noGrp="1"/>
          </p:cNvSpPr>
          <p:nvPr/>
        </p:nvSpPr>
        <p:spPr>
          <a:xfrm>
            <a:off x="6896100" y="2609850"/>
            <a:ext cx="19050" cy="3162300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16" name="demo-live-caption">
            <a:extLst>
              <a:ext uri="{FF2B5EF4-FFF2-40B4-BE49-F238E27FC236}">
                <a16:creationId id="{8E5E2016-5E7A-474D-80F2-DA0E3EE170B5}"/>
              </a:ext>
            </a:extLst>
          </p:cNvPr>
          <p:cNvSpPr>
            <a:spLocks noGrp="1"/>
          </p:cNvSpPr>
          <p:nvPr/>
        </p:nvSpPr>
        <p:spPr>
          <a:xfrm>
            <a:off x="7181850" y="262890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177D76"/>
                </a:solidFill>
              </a:defRPr>
            </a:pPr>
            <a:r>
              <a:rPr sz="1200" b="1" i="0">
                <a:solidFill>
                  <a:srgbClr val="177D76"/>
                </a:solidFill>
              </a:rPr>
              <a:t>LIVE PUBLIC/SYNTHETIC LANE</a:t>
            </a:r>
          </a:p>
        </p:txBody>
      </p:sp>
      <p:sp>
        <p:nvSpPr>
          <p:cNvPr id="17" name="demo-live-flow">
            <a:extLst>
              <a:ext uri="{FF2B5EF4-FFF2-40B4-BE49-F238E27FC236}">
                <a16:creationId id="{219112BA-33A4-4508-AF0D-235CD5BD9B94}"/>
              </a:ext>
            </a:extLst>
          </p:cNvPr>
          <p:cNvSpPr>
            <a:spLocks noGrp="1"/>
          </p:cNvSpPr>
          <p:nvPr/>
        </p:nvSpPr>
        <p:spPr>
          <a:xfrm>
            <a:off x="7181850" y="3105150"/>
            <a:ext cx="3943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D211F"/>
                </a:solidFill>
              </a:defRPr>
            </a:pPr>
            <a:r>
              <a:rPr sz="1500" b="1" i="0">
                <a:solidFill>
                  <a:srgbClr val="1D211F"/>
                </a:solidFill>
              </a:rPr>
              <a:t>SAME RGB, SEQUENTIAL</a:t>
            </a:r>
          </a:p>
          <a:p>
            <a:pPr algn="ctr">
              <a:defRPr sz="1500" b="1" i="0">
                <a:solidFill>
                  <a:srgbClr val="1D211F"/>
                </a:solidFill>
              </a:defRPr>
            </a:pPr>
            <a:r>
              <a:rPr sz="1500" b="1" i="0">
                <a:solidFill>
                  <a:srgbClr val="1D211F"/>
                </a:solidFill>
              </a:rPr>
              <a:t>L206-control-s206</a:t>
            </a:r>
          </a:p>
          <a:p>
            <a:pPr algn="ctr">
              <a:defRPr sz="1500" b="1" i="0">
                <a:solidFill>
                  <a:srgbClr val="1D211F"/>
                </a:solidFill>
              </a:defRPr>
            </a:pPr>
            <a:r>
              <a:rPr sz="1500" b="1" i="0">
                <a:solidFill>
                  <a:srgbClr val="1D211F"/>
                </a:solidFill>
              </a:rPr>
              <a:t>L192-nnUNet-v2-raw-100ep</a:t>
            </a:r>
          </a:p>
        </p:txBody>
      </p:sp>
      <p:sp>
        <p:nvSpPr>
          <p:cNvPr id="18" name="demo-live-limit">
            <a:extLst>
              <a:ext uri="{FF2B5EF4-FFF2-40B4-BE49-F238E27FC236}">
                <a16:creationId id="{DA393C65-64C5-45FE-ABA8-08CD29DC63E1}"/>
              </a:ext>
            </a:extLst>
          </p:cNvPr>
          <p:cNvSpPr>
            <a:spLocks noGrp="1"/>
          </p:cNvSpPr>
          <p:nvPr/>
        </p:nvSpPr>
        <p:spPr>
          <a:xfrm>
            <a:off x="7181850" y="4533900"/>
            <a:ext cx="3943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B54E36"/>
                </a:solidFill>
              </a:defRPr>
            </a:pPr>
            <a:r>
              <a:rPr sz="1275" b="1" i="0">
                <a:solidFill>
                  <a:srgbClr val="B54E36"/>
                </a:solidFill>
              </a:rPr>
              <a:t>2 public samples: illustrative masks + hash receipts</a:t>
            </a:r>
          </a:p>
          <a:p>
            <a:pPr algn="ctr">
              <a:defRPr sz="1275" b="1" i="0">
                <a:solidFill>
                  <a:srgbClr val="B54E36"/>
                </a:solidFill>
              </a:defRPr>
            </a:pPr>
            <a:r>
              <a:rPr sz="1275" b="1" i="0">
                <a:solidFill>
                  <a:srgbClr val="B54E36"/>
                </a:solidFill>
              </a:rPr>
              <a:t>No ground truth. No accuracy. Not paper RQ1.</a:t>
            </a:r>
          </a:p>
        </p:txBody>
      </p:sp>
      <p:sp>
        <p:nvSpPr>
          <p:cNvPr id="19" name="demo-clinical">
            <a:extLst>
              <a:ext uri="{FF2B5EF4-FFF2-40B4-BE49-F238E27FC236}">
                <a16:creationId id="{226F6D73-18C4-41FE-A61D-4FB67BE41B51}"/>
              </a:ext>
            </a:extLst>
          </p:cNvPr>
          <p:cNvSpPr>
            <a:spLocks noGrp="1"/>
          </p:cNvSpPr>
          <p:nvPr/>
        </p:nvSpPr>
        <p:spPr>
          <a:xfrm>
            <a:off x="7181850" y="5467350"/>
            <a:ext cx="394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 i="0">
                <a:solidFill>
                  <a:srgbClr val="66706B"/>
                </a:solidFill>
              </a:defRPr>
            </a:pPr>
            <a:r>
              <a:rPr sz="1050" b="0" i="0">
                <a:solidFill>
                  <a:srgbClr val="66706B"/>
                </a:solidFill>
              </a:rPr>
              <a:t>Non-clinical research demo; not a diagnosis.</a:t>
            </a:r>
          </a:p>
        </p:txBody>
      </p:sp>
      <p:sp>
        <p:nvSpPr>
          <p:cNvPr id="20" name="back-to-pipeline">
            <a:extLst>
              <a:ext uri="{FF2B5EF4-FFF2-40B4-BE49-F238E27FC236}">
                <a16:creationId id="{9824A9A0-CBEB-4929-8579-FF10612E51D9}"/>
              </a:ext>
            </a:extLst>
            <a:hlinkClick r:id="rIdNav1" action="ppaction://hlinksldjump"/>
          </p:cNvPr>
          <p:cNvSpPr>
            <a:spLocks noGrp="1"/>
          </p:cNvSpPr>
          <p:nvPr/>
        </p:nvSpPr>
        <p:spPr>
          <a:xfrm>
            <a:off x="9410700" y="5772150"/>
            <a:ext cx="1847850" cy="285750"/>
          </a:xfrm>
          <a:prstGeom prst="roundRect">
            <a:avLst>
              <a:gd name="adj" fmla="val 40000"/>
            </a:avLst>
          </a:prstGeom>
          <a:solidFill>
            <a:srgbClr val="D6E7E1"/>
          </a:solidFill>
          <a:ln w="9525">
            <a:solidFill>
              <a:srgbClr val="177D76"/>
            </a:solidFill>
            <a:prstDash val="solid"/>
          </a:ln>
        </p:spPr>
      </p:sp>
      <p:sp>
        <p:nvSpPr>
          <p:cNvPr id="21" name="back-to-pipeline-label">
            <a:extLst>
              <a:ext uri="{FF2B5EF4-FFF2-40B4-BE49-F238E27FC236}">
                <a16:creationId id="{A250F2C6-85AF-4BF5-BC84-31D8AB2C7957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Back to Pipeline</a:t>
            </a:r>
          </a:p>
        </p:txBody>
      </p:sp>
    </p:spTree>
    <p:extLst>
      <p:ext uri="{BB962C8B-B14F-4D97-AF65-F5344CB8AC3E}">
        <p14:creationId val="859236317"/>
      </p:ext>
    </p:extLst>
  </p:cSld>
  <p:transition spd="med">
    <p:fade/>
  </p:transition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1">
            <a:extLst>
              <a:ext uri="{FF2B5EF4-FFF2-40B4-BE49-F238E27FC236}">
                <a16:creationId id="{29A86E51-2B1E-430D-842F-7A934680B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1">
            <a:extLst>
              <a:ext uri="{FF2B5EF4-FFF2-40B4-BE49-F238E27FC236}">
                <a16:creationId id="{17CD0076-A530-4276-931D-681E1E969CA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CHALLENGE 01 | LEAKAGE</a:t>
            </a:r>
          </a:p>
        </p:txBody>
      </p:sp>
      <p:sp>
        <p:nvSpPr>
          <p:cNvPr id="3" name="slide-title-11">
            <a:extLst>
              <a:ext uri="{FF2B5EF4-FFF2-40B4-BE49-F238E27FC236}">
                <a16:creationId id="{F6056585-778E-4487-8F96-EAE87C12D1E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1D211F"/>
                </a:solidFill>
              </a:defRPr>
            </a:pPr>
            <a:r>
              <a:rPr sz="2475" b="1" i="0">
                <a:solidFill>
                  <a:srgbClr val="1D211F"/>
                </a:solidFill>
              </a:rPr>
              <a:t>Can a clean score survive an invalid split?</a:t>
            </a:r>
          </a:p>
        </p:txBody>
      </p:sp>
      <p:sp>
        <p:nvSpPr>
          <p:cNvPr id="4" name="footer-rule-11">
            <a:extLst>
              <a:ext uri="{FF2B5EF4-FFF2-40B4-BE49-F238E27FC236}">
                <a16:creationId id="{665D91D4-E615-4D4E-BD0B-7831A17E89B1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1">
            <a:extLst>
              <a:ext uri="{FF2B5EF4-FFF2-40B4-BE49-F238E27FC236}">
                <a16:creationId id="{8E7BC4E9-85E3-41C0-9020-C4E22151CCC9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challenge | leakage and split validity</a:t>
            </a:r>
          </a:p>
        </p:txBody>
      </p:sp>
      <p:sp>
        <p:nvSpPr>
          <p:cNvPr id="6" name="page-11">
            <a:extLst>
              <a:ext uri="{FF2B5EF4-FFF2-40B4-BE49-F238E27FC236}">
                <a16:creationId id="{D9A70A42-9FDB-479B-AE3E-B8FC5BFEE85B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11</a:t>
            </a:r>
          </a:p>
        </p:txBody>
      </p:sp>
      <p:sp>
        <p:nvSpPr>
          <p:cNvPr id="7" name="s11-challenge-leakage-claim-mark">
            <a:extLst>
              <a:ext uri="{FF2B5EF4-FFF2-40B4-BE49-F238E27FC236}">
                <a16:creationId id="{32A33AE3-830D-4A8A-811B-D89F1264092B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1-challenge-leakage-claim">
            <a:extLst>
              <a:ext uri="{FF2B5EF4-FFF2-40B4-BE49-F238E27FC236}">
                <a16:creationId id="{B4C379FC-BFBF-4B86-A4AC-CAA2EA2DF48A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A polished score cannot rescue a patient split whose identities cross evaluation boundaries.</a:t>
            </a:r>
          </a:p>
        </p:txBody>
      </p:sp>
      <p:sp>
        <p:nvSpPr>
          <p:cNvPr id="9" name="challenge-problem-rule">
            <a:extLst>
              <a:ext uri="{FF2B5EF4-FFF2-40B4-BE49-F238E27FC236}">
                <a16:creationId id="{3766434C-CB9B-40D8-8E23-244A25491969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76200" cy="7239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0" name="challenge-problem-label">
            <a:extLst>
              <a:ext uri="{FF2B5EF4-FFF2-40B4-BE49-F238E27FC236}">
                <a16:creationId id="{A0EE5FA2-2CBC-40A5-BC6F-0E10BF3E4BFF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PROBLEM</a:t>
            </a:r>
          </a:p>
        </p:txBody>
      </p:sp>
      <p:sp>
        <p:nvSpPr>
          <p:cNvPr id="11" name="challenge-problem-text">
            <a:extLst>
              <a:ext uri="{FF2B5EF4-FFF2-40B4-BE49-F238E27FC236}">
                <a16:creationId id="{418358E6-0B59-41DF-9341-7512BBA2A6BA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Leakage can make a validation split look more independent than it is.</a:t>
            </a:r>
          </a:p>
        </p:txBody>
      </p:sp>
      <p:sp>
        <p:nvSpPr>
          <p:cNvPr id="12" name="challenge-response-rule">
            <a:extLst>
              <a:ext uri="{FF2B5EF4-FFF2-40B4-BE49-F238E27FC236}">
                <a16:creationId id="{F4B6713C-B3C2-4DDA-BCB1-2718682FE242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76200" cy="7239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3" name="challenge-response-label">
            <a:extLst>
              <a:ext uri="{FF2B5EF4-FFF2-40B4-BE49-F238E27FC236}">
                <a16:creationId id="{1E4CFFB4-E553-4487-B8DA-4B4CA33B1670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77D76"/>
                </a:solidFill>
              </a:defRPr>
            </a:pPr>
            <a:r>
              <a:rPr sz="1125" b="1" i="0">
                <a:solidFill>
                  <a:srgbClr val="177D76"/>
                </a:solidFill>
              </a:rPr>
              <a:t>RESPONSE</a:t>
            </a:r>
          </a:p>
        </p:txBody>
      </p:sp>
      <p:sp>
        <p:nvSpPr>
          <p:cNvPr id="14" name="challenge-response-text">
            <a:extLst>
              <a:ext uri="{FF2B5EF4-FFF2-40B4-BE49-F238E27FC236}">
                <a16:creationId id="{A89DC157-AC6C-4FA6-9A86-D8102867B2F2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Audit identity groups and split assignments before interpreting model scores.</a:t>
            </a:r>
          </a:p>
        </p:txBody>
      </p:sp>
      <p:sp>
        <p:nvSpPr>
          <p:cNvPr id="15" name="challenge-limitation-rule">
            <a:extLst>
              <a:ext uri="{FF2B5EF4-FFF2-40B4-BE49-F238E27FC236}">
                <a16:creationId id="{F32C841C-2614-4869-AD97-0FDDDBDC8F73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" cy="7239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hallenge-limitation-label">
            <a:extLst>
              <a:ext uri="{FF2B5EF4-FFF2-40B4-BE49-F238E27FC236}">
                <a16:creationId id="{DF3AB64F-3F29-4C33-9264-5FE20CF076AF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REMAINING LIMITATION</a:t>
            </a:r>
          </a:p>
        </p:txBody>
      </p:sp>
      <p:sp>
        <p:nvSpPr>
          <p:cNvPr id="17" name="challenge-limitation-text">
            <a:extLst>
              <a:ext uri="{FF2B5EF4-FFF2-40B4-BE49-F238E27FC236}">
                <a16:creationId id="{A099FDF8-783B-4D95-9BA6-463F3AB0FF0E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Audits reduce detectable leakage; they do not prove every hidden relationship is absent.</a:t>
            </a:r>
          </a:p>
        </p:txBody>
      </p:sp>
    </p:spTree>
    <p:extLst>
      <p:ext uri="{BB962C8B-B14F-4D97-AF65-F5344CB8AC3E}">
        <p14:creationId val="686248115"/>
      </p:ext>
    </p:extLst>
  </p:cSld>
  <p:transition spd="med">
    <p:fade/>
  </p:transition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2">
            <a:extLst>
              <a:ext uri="{FF2B5EF4-FFF2-40B4-BE49-F238E27FC236}">
                <a16:creationId id="{FA8FA13F-1351-4AAD-B58E-C8610FF38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2">
            <a:extLst>
              <a:ext uri="{FF2B5EF4-FFF2-40B4-BE49-F238E27FC236}">
                <a16:creationId id="{A7E7F908-9247-45D5-B962-4BC3ADADE08D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CHALLENGE 02 | FAIRNESS</a:t>
            </a:r>
          </a:p>
        </p:txBody>
      </p:sp>
      <p:sp>
        <p:nvSpPr>
          <p:cNvPr id="3" name="slide-title-12">
            <a:extLst>
              <a:ext uri="{FF2B5EF4-FFF2-40B4-BE49-F238E27FC236}">
                <a16:creationId id="{833A8FD4-74D7-43D1-BC3B-C86A2A8E8616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1D211F"/>
                </a:solidFill>
              </a:defRPr>
            </a:pPr>
            <a:r>
              <a:rPr sz="2475" b="1" i="0">
                <a:solidFill>
                  <a:srgbClr val="1D211F"/>
                </a:solidFill>
              </a:rPr>
              <a:t>What makes a comparison fair enough to interpret?</a:t>
            </a:r>
          </a:p>
        </p:txBody>
      </p:sp>
      <p:sp>
        <p:nvSpPr>
          <p:cNvPr id="4" name="footer-rule-12">
            <a:extLst>
              <a:ext uri="{FF2B5EF4-FFF2-40B4-BE49-F238E27FC236}">
                <a16:creationId id="{9433698B-C5DF-43FB-8A27-04BE9303F221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2">
            <a:extLst>
              <a:ext uri="{FF2B5EF4-FFF2-40B4-BE49-F238E27FC236}">
                <a16:creationId id="{2E5D9D6B-C619-4CB0-BF6A-D78343AA921E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challenge | fair comparison and geometry</a:t>
            </a:r>
          </a:p>
        </p:txBody>
      </p:sp>
      <p:sp>
        <p:nvSpPr>
          <p:cNvPr id="6" name="page-12">
            <a:extLst>
              <a:ext uri="{FF2B5EF4-FFF2-40B4-BE49-F238E27FC236}">
                <a16:creationId id="{2760E557-F9F0-42B7-AA9E-4B8C86C8037C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12</a:t>
            </a:r>
          </a:p>
        </p:txBody>
      </p:sp>
      <p:sp>
        <p:nvSpPr>
          <p:cNvPr id="7" name="s12-challenge-fairness-claim-mark">
            <a:extLst>
              <a:ext uri="{FF2B5EF4-FFF2-40B4-BE49-F238E27FC236}">
                <a16:creationId id="{A2D60E2D-2706-4459-BBBF-12BCE363ACB5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2-challenge-fairness-claim">
            <a:extLst>
              <a:ext uri="{FF2B5EF4-FFF2-40B4-BE49-F238E27FC236}">
                <a16:creationId id="{BD140D4A-21BD-459F-88F4-D0D74AC7CBD1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A fair comparison needs its system differences and geometry contract stated before its ranking is discussed.</a:t>
            </a:r>
          </a:p>
        </p:txBody>
      </p:sp>
      <p:sp>
        <p:nvSpPr>
          <p:cNvPr id="9" name="challenge-problem-rule">
            <a:extLst>
              <a:ext uri="{FF2B5EF4-FFF2-40B4-BE49-F238E27FC236}">
                <a16:creationId id="{A430BC23-749F-477B-AE32-31C49AB06DFE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76200" cy="7239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0" name="challenge-problem-label">
            <a:extLst>
              <a:ext uri="{FF2B5EF4-FFF2-40B4-BE49-F238E27FC236}">
                <a16:creationId id="{05E7A617-0005-4909-BA6D-036865D8C747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PROBLEM</a:t>
            </a:r>
          </a:p>
        </p:txBody>
      </p:sp>
      <p:sp>
        <p:nvSpPr>
          <p:cNvPr id="11" name="challenge-problem-text">
            <a:extLst>
              <a:ext uri="{FF2B5EF4-FFF2-40B4-BE49-F238E27FC236}">
                <a16:creationId id="{F2F8DDBD-5F2A-4323-883A-3CA63A0A0631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Complete systems can differ in preprocessing, resolution, geometry, loss, and inference policy.</a:t>
            </a:r>
          </a:p>
        </p:txBody>
      </p:sp>
      <p:sp>
        <p:nvSpPr>
          <p:cNvPr id="12" name="challenge-response-rule">
            <a:extLst>
              <a:ext uri="{FF2B5EF4-FFF2-40B4-BE49-F238E27FC236}">
                <a16:creationId id="{A6040DF9-8FD6-48FA-847E-E6047C5D084A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76200" cy="7239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3" name="challenge-response-label">
            <a:extLst>
              <a:ext uri="{FF2B5EF4-FFF2-40B4-BE49-F238E27FC236}">
                <a16:creationId id="{FE51D801-36F2-45A8-A655-876DD5B752BA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77D76"/>
                </a:solidFill>
              </a:defRPr>
            </a:pPr>
            <a:r>
              <a:rPr sz="1125" b="1" i="0">
                <a:solidFill>
                  <a:srgbClr val="177D76"/>
                </a:solidFill>
              </a:rPr>
              <a:t>RESPONSE</a:t>
            </a:r>
          </a:p>
        </p:txBody>
      </p:sp>
      <p:sp>
        <p:nvSpPr>
          <p:cNvPr id="14" name="challenge-response-text">
            <a:extLst>
              <a:ext uri="{FF2B5EF4-FFF2-40B4-BE49-F238E27FC236}">
                <a16:creationId id="{4B4F3095-F3E2-4C05-B6B7-1DB17794FA4D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Describe the comparison as system-level, then use matched arms for a causal geometry-preserving test.</a:t>
            </a:r>
          </a:p>
        </p:txBody>
      </p:sp>
      <p:sp>
        <p:nvSpPr>
          <p:cNvPr id="15" name="challenge-limitation-rule">
            <a:extLst>
              <a:ext uri="{FF2B5EF4-FFF2-40B4-BE49-F238E27FC236}">
                <a16:creationId id="{8983104B-D0DA-467F-A558-6FF856E807C0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" cy="7239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hallenge-limitation-label">
            <a:extLst>
              <a:ext uri="{FF2B5EF4-FFF2-40B4-BE49-F238E27FC236}">
                <a16:creationId id="{C4F05963-8A7D-4809-AD3C-D651BC951ADA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REMAINING LIMITATION</a:t>
            </a:r>
          </a:p>
        </p:txBody>
      </p:sp>
      <p:sp>
        <p:nvSpPr>
          <p:cNvPr id="17" name="challenge-limitation-text">
            <a:extLst>
              <a:ext uri="{FF2B5EF4-FFF2-40B4-BE49-F238E27FC236}">
                <a16:creationId id="{B617BA42-7A48-4124-9947-83B4DC526BD1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A system comparison cannot identify which individual component caused a difference.</a:t>
            </a:r>
          </a:p>
        </p:txBody>
      </p:sp>
    </p:spTree>
    <p:extLst>
      <p:ext uri="{BB962C8B-B14F-4D97-AF65-F5344CB8AC3E}">
        <p14:creationId val="193396512"/>
      </p:ext>
    </p:extLst>
  </p:cSld>
  <p:transition spd="med">
    <p:fade/>
  </p:transition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3">
            <a:extLst>
              <a:ext uri="{FF2B5EF4-FFF2-40B4-BE49-F238E27FC236}">
                <a16:creationId id="{A693E08A-416B-4857-AE53-B0C2C92EBF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3">
            <a:extLst>
              <a:ext uri="{FF2B5EF4-FFF2-40B4-BE49-F238E27FC236}">
                <a16:creationId id="{40E6EB01-F806-4C63-A8BA-C95E6BACA2F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CHALLENGE 03 | UNCERTAINTY</a:t>
            </a:r>
          </a:p>
        </p:txBody>
      </p:sp>
      <p:sp>
        <p:nvSpPr>
          <p:cNvPr id="3" name="slide-title-13">
            <a:extLst>
              <a:ext uri="{FF2B5EF4-FFF2-40B4-BE49-F238E27FC236}">
                <a16:creationId id="{0D6A8327-179F-404A-9CFC-56EBF8611C4C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1D211F"/>
                </a:solidFill>
              </a:defRPr>
            </a:pPr>
            <a:r>
              <a:rPr sz="2475" b="1" i="0">
                <a:solidFill>
                  <a:srgbClr val="1D211F"/>
                </a:solidFill>
              </a:rPr>
              <a:t>How much certainty can adaptive validation support?</a:t>
            </a:r>
          </a:p>
        </p:txBody>
      </p:sp>
      <p:sp>
        <p:nvSpPr>
          <p:cNvPr id="4" name="footer-rule-13">
            <a:extLst>
              <a:ext uri="{FF2B5EF4-FFF2-40B4-BE49-F238E27FC236}">
                <a16:creationId id="{85462DDF-CC56-4935-A98A-287992C3B039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3">
            <a:extLst>
              <a:ext uri="{FF2B5EF4-FFF2-40B4-BE49-F238E27FC236}">
                <a16:creationId id="{8FC43395-EEF6-4C23-B679-827E9D3BF59B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challenge | uncertainty and adaptive validation</a:t>
            </a:r>
          </a:p>
        </p:txBody>
      </p:sp>
      <p:sp>
        <p:nvSpPr>
          <p:cNvPr id="6" name="page-13">
            <a:extLst>
              <a:ext uri="{FF2B5EF4-FFF2-40B4-BE49-F238E27FC236}">
                <a16:creationId id="{C2A643C3-34FA-43BA-B9D3-B6F3E52C4CCF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13</a:t>
            </a:r>
          </a:p>
        </p:txBody>
      </p:sp>
      <p:sp>
        <p:nvSpPr>
          <p:cNvPr id="7" name="s13-challenge-uncertainty-claim-mark">
            <a:extLst>
              <a:ext uri="{FF2B5EF4-FFF2-40B4-BE49-F238E27FC236}">
                <a16:creationId id="{520B5156-B8C0-46E1-ACF5-10C26358DF50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3-challenge-uncertainty-claim">
            <a:extLst>
              <a:ext uri="{FF2B5EF4-FFF2-40B4-BE49-F238E27FC236}">
                <a16:creationId id="{15FE40A7-7E42-4F6A-BBD5-9AE25D9AAB78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Adaptive validation supports development decisions, not a certainty claim about unseen performance.</a:t>
            </a:r>
          </a:p>
        </p:txBody>
      </p:sp>
      <p:sp>
        <p:nvSpPr>
          <p:cNvPr id="9" name="challenge-problem-rule">
            <a:extLst>
              <a:ext uri="{FF2B5EF4-FFF2-40B4-BE49-F238E27FC236}">
                <a16:creationId id="{8325CB57-B1D5-459F-A5F8-09C5487CF86F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76200" cy="7239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0" name="challenge-problem-label">
            <a:extLst>
              <a:ext uri="{FF2B5EF4-FFF2-40B4-BE49-F238E27FC236}">
                <a16:creationId id="{DFCB2092-D56F-44A8-9B2D-0377AEF4D47A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PROBLEM</a:t>
            </a:r>
          </a:p>
        </p:txBody>
      </p:sp>
      <p:sp>
        <p:nvSpPr>
          <p:cNvPr id="11" name="challenge-problem-text">
            <a:extLst>
              <a:ext uri="{FF2B5EF4-FFF2-40B4-BE49-F238E27FC236}">
                <a16:creationId id="{17176E92-83D1-4AAA-8223-8B76CCCF6C4F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Repeated development choices can make validation point estimates selection-optimistic.</a:t>
            </a:r>
          </a:p>
        </p:txBody>
      </p:sp>
      <p:sp>
        <p:nvSpPr>
          <p:cNvPr id="12" name="challenge-response-rule">
            <a:extLst>
              <a:ext uri="{FF2B5EF4-FFF2-40B4-BE49-F238E27FC236}">
                <a16:creationId id="{0A0C9C76-549B-4F19-B20A-BC7258A5C808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76200" cy="7239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3" name="challenge-response-label">
            <a:extLst>
              <a:ext uri="{FF2B5EF4-FFF2-40B4-BE49-F238E27FC236}">
                <a16:creationId id="{4A9FCB3D-D279-44FC-8863-A9D66E81D235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77D76"/>
                </a:solidFill>
              </a:defRPr>
            </a:pPr>
            <a:r>
              <a:rPr sz="1125" b="1" i="0">
                <a:solidFill>
                  <a:srgbClr val="177D76"/>
                </a:solidFill>
              </a:rPr>
              <a:t>RESPONSE</a:t>
            </a:r>
          </a:p>
        </p:txBody>
      </p:sp>
      <p:sp>
        <p:nvSpPr>
          <p:cNvPr id="14" name="challenge-response-text">
            <a:extLst>
              <a:ext uri="{FF2B5EF4-FFF2-40B4-BE49-F238E27FC236}">
                <a16:creationId id="{1B3EC0CD-F242-4BFD-92D5-FB4C178BEF01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Label uncertainty, report the available interval, and keep the protected test sealed.</a:t>
            </a:r>
          </a:p>
        </p:txBody>
      </p:sp>
      <p:sp>
        <p:nvSpPr>
          <p:cNvPr id="15" name="challenge-limitation-rule">
            <a:extLst>
              <a:ext uri="{FF2B5EF4-FFF2-40B4-BE49-F238E27FC236}">
                <a16:creationId id="{061AB862-D678-4965-9D35-513CE4832516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" cy="7239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hallenge-limitation-label">
            <a:extLst>
              <a:ext uri="{FF2B5EF4-FFF2-40B4-BE49-F238E27FC236}">
                <a16:creationId id="{F043463F-F173-49AB-919F-70B929569E2F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REMAINING LIMITATION</a:t>
            </a:r>
          </a:p>
        </p:txBody>
      </p:sp>
      <p:sp>
        <p:nvSpPr>
          <p:cNvPr id="17" name="challenge-limitation-text">
            <a:extLst>
              <a:ext uri="{FF2B5EF4-FFF2-40B4-BE49-F238E27FC236}">
                <a16:creationId id="{E36B524E-ED0C-4AD3-B23E-A18D11F069C7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Recorded evidence has no paired confidence interval for the architecture comparison.</a:t>
            </a:r>
          </a:p>
        </p:txBody>
      </p:sp>
    </p:spTree>
    <p:extLst>
      <p:ext uri="{BB962C8B-B14F-4D97-AF65-F5344CB8AC3E}">
        <p14:creationId val="1341090264"/>
      </p:ext>
    </p:extLst>
  </p:cSld>
  <p:transition spd="med">
    <p:fade/>
  </p:transition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4">
            <a:extLst>
              <a:ext uri="{FF2B5EF4-FFF2-40B4-BE49-F238E27FC236}">
                <a16:creationId id="{2BFD3A99-54F1-4C70-88CF-9425E3F326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4">
            <a:extLst>
              <a:ext uri="{FF2B5EF4-FFF2-40B4-BE49-F238E27FC236}">
                <a16:creationId id="{126BF9C3-2583-4B94-95C1-DC4327DE5B0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CHALLENGE 04 | DEMO TRUST</a:t>
            </a:r>
          </a:p>
        </p:txBody>
      </p:sp>
      <p:sp>
        <p:nvSpPr>
          <p:cNvPr id="3" name="slide-title-14">
            <a:extLst>
              <a:ext uri="{FF2B5EF4-FFF2-40B4-BE49-F238E27FC236}">
                <a16:creationId id="{350CF82F-D633-4034-8180-5D0DBF4D9C98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1D211F"/>
                </a:solidFill>
              </a:defRPr>
            </a:pPr>
            <a:r>
              <a:rPr sz="2475" b="1" i="0">
                <a:solidFill>
                  <a:srgbClr val="1D211F"/>
                </a:solidFill>
              </a:rPr>
              <a:t>When should an interactive demo be trusted?</a:t>
            </a:r>
          </a:p>
        </p:txBody>
      </p:sp>
      <p:sp>
        <p:nvSpPr>
          <p:cNvPr id="4" name="footer-rule-14">
            <a:extLst>
              <a:ext uri="{FF2B5EF4-FFF2-40B4-BE49-F238E27FC236}">
                <a16:creationId id="{8BFEF6AA-C849-407A-8314-E09884C71B54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4">
            <a:extLst>
              <a:ext uri="{FF2B5EF4-FFF2-40B4-BE49-F238E27FC236}">
                <a16:creationId id="{113D4EB1-77C1-4FC5-9462-7548D1F34056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challenge | demo trust</a:t>
            </a:r>
          </a:p>
        </p:txBody>
      </p:sp>
      <p:sp>
        <p:nvSpPr>
          <p:cNvPr id="6" name="page-14">
            <a:extLst>
              <a:ext uri="{FF2B5EF4-FFF2-40B4-BE49-F238E27FC236}">
                <a16:creationId id="{6B80A9D5-E3FA-428C-92B0-E967605BCF7B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14</a:t>
            </a:r>
          </a:p>
        </p:txBody>
      </p:sp>
      <p:sp>
        <p:nvSpPr>
          <p:cNvPr id="7" name="s14-challenge-demo-claim-mark">
            <a:extLst>
              <a:ext uri="{FF2B5EF4-FFF2-40B4-BE49-F238E27FC236}">
                <a16:creationId id="{EE28CF6E-11A5-43E4-9509-2E1DD69DAC00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4-challenge-demo-claim">
            <a:extLst>
              <a:ext uri="{FF2B5EF4-FFF2-40B4-BE49-F238E27FC236}">
                <a16:creationId id="{D8E087E3-6146-435A-98B3-D480C9CFEF8B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A demo earns trust by showing only the lane, inputs, and claims its evidence contract authorizes.</a:t>
            </a:r>
          </a:p>
        </p:txBody>
      </p:sp>
      <p:sp>
        <p:nvSpPr>
          <p:cNvPr id="9" name="challenge-problem-rule">
            <a:extLst>
              <a:ext uri="{FF2B5EF4-FFF2-40B4-BE49-F238E27FC236}">
                <a16:creationId id="{F2098955-5D58-48B1-846C-727C9F4258F0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76200" cy="7239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0" name="challenge-problem-label">
            <a:extLst>
              <a:ext uri="{FF2B5EF4-FFF2-40B4-BE49-F238E27FC236}">
                <a16:creationId id="{4D6DEC67-A756-4707-ADCD-95001C2EFF71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PROBLEM</a:t>
            </a:r>
          </a:p>
        </p:txBody>
      </p:sp>
      <p:sp>
        <p:nvSpPr>
          <p:cNvPr id="11" name="challenge-problem-text">
            <a:extLst>
              <a:ext uri="{FF2B5EF4-FFF2-40B4-BE49-F238E27FC236}">
                <a16:creationId id="{F659E671-7B86-4C84-A3F6-3E26B6F8039E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A convincing visual demo can be mistaken for accuracy or generalization evidence.</a:t>
            </a:r>
          </a:p>
        </p:txBody>
      </p:sp>
      <p:sp>
        <p:nvSpPr>
          <p:cNvPr id="12" name="challenge-response-rule">
            <a:extLst>
              <a:ext uri="{FF2B5EF4-FFF2-40B4-BE49-F238E27FC236}">
                <a16:creationId id="{F784C165-0754-46D4-A762-D785A5B87A12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76200" cy="7239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3" name="challenge-response-label">
            <a:extLst>
              <a:ext uri="{FF2B5EF4-FFF2-40B4-BE49-F238E27FC236}">
                <a16:creationId id="{C0D4431C-7EC3-43B9-BBE8-DBEC12EDD286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77D76"/>
                </a:solidFill>
              </a:defRPr>
            </a:pPr>
            <a:r>
              <a:rPr sz="1125" b="1" i="0">
                <a:solidFill>
                  <a:srgbClr val="177D76"/>
                </a:solidFill>
              </a:rPr>
              <a:t>RESPONSE</a:t>
            </a:r>
          </a:p>
        </p:txBody>
      </p:sp>
      <p:sp>
        <p:nvSpPr>
          <p:cNvPr id="14" name="challenge-response-text">
            <a:extLst>
              <a:ext uri="{FF2B5EF4-FFF2-40B4-BE49-F238E27FC236}">
                <a16:creationId id="{B83EE544-4B6F-4143-9D1A-DA69438A7FE9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Keep illustrative live outputs separate from audited fixed comparisons and state their scope.</a:t>
            </a:r>
          </a:p>
        </p:txBody>
      </p:sp>
      <p:sp>
        <p:nvSpPr>
          <p:cNvPr id="15" name="challenge-limitation-rule">
            <a:extLst>
              <a:ext uri="{FF2B5EF4-FFF2-40B4-BE49-F238E27FC236}">
                <a16:creationId id="{6290993D-50CF-4E31-AD91-A430A014903A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" cy="7239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hallenge-limitation-label">
            <a:extLst>
              <a:ext uri="{FF2B5EF4-FFF2-40B4-BE49-F238E27FC236}">
                <a16:creationId id="{692E7C98-39D4-4585-9431-D556E0CC16C8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REMAINING LIMITATION</a:t>
            </a:r>
          </a:p>
        </p:txBody>
      </p:sp>
      <p:sp>
        <p:nvSpPr>
          <p:cNvPr id="17" name="challenge-limitation-text">
            <a:extLst>
              <a:ext uri="{FF2B5EF4-FFF2-40B4-BE49-F238E27FC236}">
                <a16:creationId id="{70F6C419-F0C6-40D3-82A4-61178027F5AA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The demo does not establish paper RQ1 or a canonical live receipt.</a:t>
            </a:r>
          </a:p>
        </p:txBody>
      </p:sp>
    </p:spTree>
    <p:extLst>
      <p:ext uri="{BB962C8B-B14F-4D97-AF65-F5344CB8AC3E}">
        <p14:creationId val="1325415446"/>
      </p:ext>
    </p:extLst>
  </p:cSld>
  <p:transition spd="med">
    <p:fade/>
  </p:transition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5">
            <a:extLst>
              <a:ext uri="{FF2B5EF4-FFF2-40B4-BE49-F238E27FC236}">
                <a16:creationId id="{EDD82564-87A7-49D6-8BA4-B1869F651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5">
            <a:extLst>
              <a:ext uri="{FF2B5EF4-FFF2-40B4-BE49-F238E27FC236}">
                <a16:creationId id="{455B80F0-8941-4C6E-9A76-82D5AAF42EE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CHALLENGE 05 | REPRODUCIBILITY</a:t>
            </a:r>
          </a:p>
        </p:txBody>
      </p:sp>
      <p:sp>
        <p:nvSpPr>
          <p:cNvPr id="3" name="slide-title-15">
            <a:extLst>
              <a:ext uri="{FF2B5EF4-FFF2-40B4-BE49-F238E27FC236}">
                <a16:creationId id="{233269D5-70AB-412D-BB74-8B9D6EDD0690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75" b="1" i="0">
                <a:solidFill>
                  <a:srgbClr val="1D211F"/>
                </a:solidFill>
              </a:defRPr>
            </a:pPr>
            <a:r>
              <a:rPr sz="2475" b="1" i="0">
                <a:solidFill>
                  <a:srgbClr val="1D211F"/>
                </a:solidFill>
              </a:rPr>
              <a:t>What can a reproducible deployment actually prove?</a:t>
            </a:r>
          </a:p>
        </p:txBody>
      </p:sp>
      <p:sp>
        <p:nvSpPr>
          <p:cNvPr id="4" name="footer-rule-15">
            <a:extLst>
              <a:ext uri="{FF2B5EF4-FFF2-40B4-BE49-F238E27FC236}">
                <a16:creationId id="{D81A5562-A8F5-44CF-A0F7-C190EBA9ECD2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5">
            <a:extLst>
              <a:ext uri="{FF2B5EF4-FFF2-40B4-BE49-F238E27FC236}">
                <a16:creationId id="{F45EBC6A-4E7C-4A9A-B1F0-CF3F533A5219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challenge | reproducibility and deployment</a:t>
            </a:r>
          </a:p>
        </p:txBody>
      </p:sp>
      <p:sp>
        <p:nvSpPr>
          <p:cNvPr id="6" name="page-15">
            <a:extLst>
              <a:ext uri="{FF2B5EF4-FFF2-40B4-BE49-F238E27FC236}">
                <a16:creationId id="{B6DAE949-B7FF-4E5C-8C2B-C1777DAC4839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15</a:t>
            </a:r>
          </a:p>
        </p:txBody>
      </p:sp>
      <p:sp>
        <p:nvSpPr>
          <p:cNvPr id="7" name="s15-challenge-repro-claim-mark">
            <a:extLst>
              <a:ext uri="{FF2B5EF4-FFF2-40B4-BE49-F238E27FC236}">
                <a16:creationId id="{7F426092-C99C-49D5-B40C-E8C5C826BBAC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5-challenge-repro-claim">
            <a:extLst>
              <a:ext uri="{FF2B5EF4-FFF2-40B4-BE49-F238E27FC236}">
                <a16:creationId id="{007EB291-E2A2-4C90-9039-FA74F944E8A2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Reproducibility is strongest when deployment checks distinguish verified artifacts from unavailable historical experiments.</a:t>
            </a:r>
          </a:p>
        </p:txBody>
      </p:sp>
      <p:sp>
        <p:nvSpPr>
          <p:cNvPr id="9" name="challenge-problem-rule">
            <a:extLst>
              <a:ext uri="{FF2B5EF4-FFF2-40B4-BE49-F238E27FC236}">
                <a16:creationId id="{D3C17E2D-36F8-48F7-878D-19C041731BC4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76200" cy="7239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0" name="challenge-problem-label">
            <a:extLst>
              <a:ext uri="{FF2B5EF4-FFF2-40B4-BE49-F238E27FC236}">
                <a16:creationId id="{246B40EB-72A2-4708-BD3E-6B6377D53AF2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B54E36"/>
                </a:solidFill>
              </a:defRPr>
            </a:pPr>
            <a:r>
              <a:rPr sz="1125" b="1" i="0">
                <a:solidFill>
                  <a:srgbClr val="B54E36"/>
                </a:solidFill>
              </a:rPr>
              <a:t>PROBLEM</a:t>
            </a:r>
          </a:p>
        </p:txBody>
      </p:sp>
      <p:sp>
        <p:nvSpPr>
          <p:cNvPr id="11" name="challenge-problem-text">
            <a:extLst>
              <a:ext uri="{FF2B5EF4-FFF2-40B4-BE49-F238E27FC236}">
                <a16:creationId id="{88B82D2D-27F7-4885-9F4B-D7FAB65639AF}"/>
              </a:ext>
            </a:extLst>
          </p:cNvPr>
          <p:cNvSpPr>
            <a:spLocks noGrp="1"/>
          </p:cNvSpPr>
          <p:nvPr/>
        </p:nvSpPr>
        <p:spPr>
          <a:xfrm>
            <a:off x="990600" y="30670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Hash-bound release artifacts do not make incomplete historical training runs clone-runnable.</a:t>
            </a:r>
          </a:p>
        </p:txBody>
      </p:sp>
      <p:sp>
        <p:nvSpPr>
          <p:cNvPr id="12" name="challenge-response-rule">
            <a:extLst>
              <a:ext uri="{FF2B5EF4-FFF2-40B4-BE49-F238E27FC236}">
                <a16:creationId id="{57BBEA21-53AC-48FA-8A84-DB1913280029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76200" cy="7239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3" name="challenge-response-label">
            <a:extLst>
              <a:ext uri="{FF2B5EF4-FFF2-40B4-BE49-F238E27FC236}">
                <a16:creationId id="{CB40406E-F733-4DAD-9016-0C10680BE74E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77D76"/>
                </a:solidFill>
              </a:defRPr>
            </a:pPr>
            <a:r>
              <a:rPr sz="1125" b="1" i="0">
                <a:solidFill>
                  <a:srgbClr val="177D76"/>
                </a:solidFill>
              </a:rPr>
              <a:t>RESPONSE</a:t>
            </a:r>
          </a:p>
        </p:txBody>
      </p:sp>
      <p:sp>
        <p:nvSpPr>
          <p:cNvPr id="14" name="challenge-response-text">
            <a:extLst>
              <a:ext uri="{FF2B5EF4-FFF2-40B4-BE49-F238E27FC236}">
                <a16:creationId id="{C2B275ED-44C8-41BC-8FF5-79370B2E21DA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Verify available source bytes in the strict local audit and document deployment boundaries.</a:t>
            </a:r>
          </a:p>
        </p:txBody>
      </p:sp>
      <p:sp>
        <p:nvSpPr>
          <p:cNvPr id="15" name="challenge-limitation-rule">
            <a:extLst>
              <a:ext uri="{FF2B5EF4-FFF2-40B4-BE49-F238E27FC236}">
                <a16:creationId id="{44145370-2961-4EFE-9AF1-360EBABBE085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76200" cy="72390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hallenge-limitation-label">
            <a:extLst>
              <a:ext uri="{FF2B5EF4-FFF2-40B4-BE49-F238E27FC236}">
                <a16:creationId id="{9A27E7D1-1DE4-4DD5-A01F-E15E3E016095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D211F"/>
                </a:solidFill>
              </a:defRPr>
            </a:pPr>
            <a:r>
              <a:rPr sz="1125" b="1" i="0">
                <a:solidFill>
                  <a:srgbClr val="1D211F"/>
                </a:solidFill>
              </a:rPr>
              <a:t>REMAINING LIMITATION</a:t>
            </a:r>
          </a:p>
        </p:txBody>
      </p:sp>
      <p:sp>
        <p:nvSpPr>
          <p:cNvPr id="17" name="challenge-limitation-text">
            <a:extLst>
              <a:ext uri="{FF2B5EF4-FFF2-40B4-BE49-F238E27FC236}">
                <a16:creationId id="{A7F1CEC8-27E3-4D90-BB2E-E372318868B7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D211F"/>
                </a:solidFill>
              </a:defRPr>
            </a:pPr>
            <a:r>
              <a:rPr sz="1425" b="0" i="0">
                <a:solidFill>
                  <a:srgbClr val="1D211F"/>
                </a:solidFill>
              </a:rPr>
              <a:t>Missing code, configurations, and predictions prevent full experiment reproduction.</a:t>
            </a:r>
          </a:p>
        </p:txBody>
      </p:sp>
    </p:spTree>
    <p:extLst>
      <p:ext uri="{BB962C8B-B14F-4D97-AF65-F5344CB8AC3E}">
        <p14:creationId val="2065827830"/>
      </p:ext>
    </p:extLst>
  </p:cSld>
  <p:transition spd="med">
    <p:fade/>
  </p:transition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top-rule-16">
            <a:extLst>
              <a:ext uri="{FF2B5EF4-FFF2-40B4-BE49-F238E27FC236}">
                <a16:creationId id="{88BAEAE2-0C58-4451-B993-2223E9499E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2" name="kicker-16">
            <a:extLst>
              <a:ext uri="{FF2B5EF4-FFF2-40B4-BE49-F238E27FC236}">
                <a16:creationId id="{9D2A3C52-CF44-4C38-969D-B83B118F722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77D76"/>
                </a:solidFill>
              </a:defRPr>
            </a:pPr>
            <a:r>
              <a:rPr sz="900" b="1" i="0">
                <a:solidFill>
                  <a:srgbClr val="177D76"/>
                </a:solidFill>
              </a:rPr>
              <a:t>REPRODUCIBILITY + LIMITS</a:t>
            </a:r>
          </a:p>
        </p:txBody>
      </p:sp>
      <p:sp>
        <p:nvSpPr>
          <p:cNvPr id="3" name="slide-title-16">
            <a:extLst>
              <a:ext uri="{FF2B5EF4-FFF2-40B4-BE49-F238E27FC236}">
                <a16:creationId id="{F32DE29D-1741-4E58-8515-29EE2F183984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D211F"/>
                </a:solidFill>
              </a:defRPr>
            </a:pPr>
            <a:r>
              <a:rPr sz="2400" b="1" i="0">
                <a:solidFill>
                  <a:srgbClr val="1D211F"/>
                </a:solidFill>
              </a:rPr>
              <a:t>Artifacts are hash-bound; full experiments are not clone-runnable</a:t>
            </a:r>
          </a:p>
        </p:txBody>
      </p:sp>
      <p:sp>
        <p:nvSpPr>
          <p:cNvPr id="4" name="footer-rule-16">
            <a:extLst>
              <a:ext uri="{FF2B5EF4-FFF2-40B4-BE49-F238E27FC236}">
                <a16:creationId id="{2EA819B1-B23C-4736-AE8D-180F11DD2DF1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6">
            <a:extLst>
              <a:ext uri="{FF2B5EF4-FFF2-40B4-BE49-F238E27FC236}">
                <a16:creationId id="{748583F1-C313-41E9-9CE5-F2496FCF02BF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hash-bound release | protected test remains sealed</a:t>
            </a:r>
          </a:p>
        </p:txBody>
      </p:sp>
      <p:sp>
        <p:nvSpPr>
          <p:cNvPr id="6" name="page-16">
            <a:extLst>
              <a:ext uri="{FF2B5EF4-FFF2-40B4-BE49-F238E27FC236}">
                <a16:creationId id="{4F5923BC-6B4A-4B9B-A139-C1F89FB38104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177D76"/>
                </a:solidFill>
              </a:defRPr>
            </a:pPr>
            <a:r>
              <a:rPr sz="1050" b="1" i="0">
                <a:solidFill>
                  <a:srgbClr val="177D76"/>
                </a:solidFill>
              </a:rPr>
              <a:t>16</a:t>
            </a:r>
          </a:p>
        </p:txBody>
      </p:sp>
      <p:sp>
        <p:nvSpPr>
          <p:cNvPr id="7" name="s16-reproducibility-claim-mark">
            <a:extLst>
              <a:ext uri="{FF2B5EF4-FFF2-40B4-BE49-F238E27FC236}">
                <a16:creationId id="{65E46461-55AC-495F-9F9B-24FAD4FD9E86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8" name="s16-reproducibility-claim">
            <a:extLst>
              <a:ext uri="{FF2B5EF4-FFF2-40B4-BE49-F238E27FC236}">
                <a16:creationId id="{E5E15711-ED87-4B50-9BCD-C88308B25881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Recorded claims are digest-recorded; source bytes are verified only in the strict local audit, while missing historical training artifacts keep full experiments from being clone-runnable.</a:t>
            </a:r>
          </a:p>
        </p:txBody>
      </p:sp>
      <p:sp>
        <p:nvSpPr>
          <p:cNvPr id="9" name="repro-rule-0">
            <a:extLst>
              <a:ext uri="{FF2B5EF4-FFF2-40B4-BE49-F238E27FC236}">
                <a16:creationId id="{15F75DC8-60C3-41E5-A34B-498EE8FAD69F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3048000" cy="76200"/>
          </a:xfrm>
          <a:prstGeom prst="rect">
            <a:avLst/>
          </a:prstGeom>
          <a:solidFill>
            <a:srgbClr val="177D76"/>
          </a:solidFill>
          <a:ln w="0">
            <a:noFill/>
            <a:prstDash val="solid"/>
          </a:ln>
        </p:spPr>
      </p:sp>
      <p:sp>
        <p:nvSpPr>
          <p:cNvPr id="10" name="repro-title-0">
            <a:extLst>
              <a:ext uri="{FF2B5EF4-FFF2-40B4-BE49-F238E27FC236}">
                <a16:creationId id="{B1D11A81-B717-4702-8646-55319D7D3CDE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7D76"/>
                </a:solidFill>
              </a:defRPr>
            </a:pPr>
            <a:r>
              <a:rPr sz="1275" b="1" i="0">
                <a:solidFill>
                  <a:srgbClr val="177D76"/>
                </a:solidFill>
              </a:rPr>
              <a:t>HASH-BOUND</a:t>
            </a:r>
          </a:p>
        </p:txBody>
      </p:sp>
      <p:sp>
        <p:nvSpPr>
          <p:cNvPr id="11" name="repro-text-0">
            <a:extLst>
              <a:ext uri="{FF2B5EF4-FFF2-40B4-BE49-F238E27FC236}">
                <a16:creationId id="{5E5C6379-B0CA-4F98-ABD6-302DFB327D45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30480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Recorded claims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Tables + figures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Compiled PDF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Model IDs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Source reports</a:t>
            </a:r>
          </a:p>
        </p:txBody>
      </p:sp>
      <p:sp>
        <p:nvSpPr>
          <p:cNvPr id="12" name="repro-rule-1">
            <a:extLst>
              <a:ext uri="{FF2B5EF4-FFF2-40B4-BE49-F238E27FC236}">
                <a16:creationId id="{03C70157-11E9-4C2B-89A0-90CB2CDE04B6}"/>
              </a:ext>
            </a:extLst>
          </p:cNvPr>
          <p:cNvSpPr>
            <a:spLocks noGrp="1"/>
          </p:cNvSpPr>
          <p:nvPr/>
        </p:nvSpPr>
        <p:spPr>
          <a:xfrm>
            <a:off x="4305300" y="2781300"/>
            <a:ext cx="3048000" cy="76200"/>
          </a:xfrm>
          <a:prstGeom prst="rect">
            <a:avLst/>
          </a:prstGeom>
          <a:solidFill>
            <a:srgbClr val="D8C39D"/>
          </a:solidFill>
          <a:ln w="0">
            <a:noFill/>
            <a:prstDash val="solid"/>
          </a:ln>
        </p:spPr>
      </p:sp>
      <p:sp>
        <p:nvSpPr>
          <p:cNvPr id="13" name="repro-title-1">
            <a:extLst>
              <a:ext uri="{FF2B5EF4-FFF2-40B4-BE49-F238E27FC236}">
                <a16:creationId id="{EAAF21B7-928D-4C06-9A6F-C4E3FAFA9BE9}"/>
              </a:ext>
            </a:extLst>
          </p:cNvPr>
          <p:cNvSpPr>
            <a:spLocks noGrp="1"/>
          </p:cNvSpPr>
          <p:nvPr/>
        </p:nvSpPr>
        <p:spPr>
          <a:xfrm>
            <a:off x="4305300" y="3048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D211F"/>
                </a:solidFill>
              </a:defRPr>
            </a:pPr>
            <a:r>
              <a:rPr sz="1275" b="1" i="0">
                <a:solidFill>
                  <a:srgbClr val="1D211F"/>
                </a:solidFill>
              </a:rPr>
              <a:t>RECONSTRUCTED RUNTIME</a:t>
            </a:r>
          </a:p>
        </p:txBody>
      </p:sp>
      <p:sp>
        <p:nvSpPr>
          <p:cNvPr id="14" name="repro-text-1">
            <a:extLst>
              <a:ext uri="{FF2B5EF4-FFF2-40B4-BE49-F238E27FC236}">
                <a16:creationId id="{FC8A8B12-046C-4EEB-806A-13A415FD54F3}"/>
              </a:ext>
            </a:extLst>
          </p:cNvPr>
          <p:cNvSpPr>
            <a:spLocks noGrp="1"/>
          </p:cNvSpPr>
          <p:nvPr/>
        </p:nvSpPr>
        <p:spPr>
          <a:xfrm>
            <a:off x="4305300" y="3562350"/>
            <a:ext cx="30480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L192 runtime identity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Startup verification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No original equivalence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No full E2E proof</a:t>
            </a:r>
          </a:p>
        </p:txBody>
      </p:sp>
      <p:sp>
        <p:nvSpPr>
          <p:cNvPr id="15" name="repro-rule-2">
            <a:extLst>
              <a:ext uri="{FF2B5EF4-FFF2-40B4-BE49-F238E27FC236}">
                <a16:creationId id="{3D6B3E19-55AE-41B7-8CB0-F41FDA2FAE40}"/>
              </a:ext>
            </a:extLst>
          </p:cNvPr>
          <p:cNvSpPr>
            <a:spLocks noGrp="1"/>
          </p:cNvSpPr>
          <p:nvPr/>
        </p:nvSpPr>
        <p:spPr>
          <a:xfrm>
            <a:off x="7905750" y="2781300"/>
            <a:ext cx="3048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16" name="repro-title-2">
            <a:extLst>
              <a:ext uri="{FF2B5EF4-FFF2-40B4-BE49-F238E27FC236}">
                <a16:creationId id="{04806538-AC51-40DB-90D6-46DF902422C1}"/>
              </a:ext>
            </a:extLst>
          </p:cNvPr>
          <p:cNvSpPr>
            <a:spLocks noGrp="1"/>
          </p:cNvSpPr>
          <p:nvPr/>
        </p:nvSpPr>
        <p:spPr>
          <a:xfrm>
            <a:off x="7905750" y="3048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B54E36"/>
                </a:solidFill>
              </a:defRPr>
            </a:pPr>
            <a:r>
              <a:rPr sz="1275" b="1" i="0">
                <a:solidFill>
                  <a:srgbClr val="B54E36"/>
                </a:solidFill>
              </a:rPr>
              <a:t>NOT CLONE-RUNNABLE</a:t>
            </a:r>
          </a:p>
        </p:txBody>
      </p:sp>
      <p:sp>
        <p:nvSpPr>
          <p:cNvPr id="17" name="repro-text-2">
            <a:extLst>
              <a:ext uri="{FF2B5EF4-FFF2-40B4-BE49-F238E27FC236}">
                <a16:creationId id="{9648364F-7D49-442A-8B76-E616A4AEB51B}"/>
              </a:ext>
            </a:extLst>
          </p:cNvPr>
          <p:cNvSpPr>
            <a:spLocks noGrp="1"/>
          </p:cNvSpPr>
          <p:nvPr/>
        </p:nvSpPr>
        <p:spPr>
          <a:xfrm>
            <a:off x="7905750" y="3562350"/>
            <a:ext cx="30480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Historical training code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Loop191/192 configs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Paired predictions</a:t>
            </a:r>
          </a:p>
          <a:p>
            <a:pPr algn="l">
              <a:defRPr sz="1650" b="1" i="0">
                <a:solidFill>
                  <a:srgbClr val="1D211F"/>
                </a:solidFill>
              </a:defRPr>
            </a:pPr>
            <a:r>
              <a:rPr sz="1650" b="1" i="0">
                <a:solidFill>
                  <a:srgbClr val="1D211F"/>
                </a:solidFill>
              </a:rPr>
              <a:t>RQ1-v2 pending until P1</a:t>
            </a:r>
          </a:p>
        </p:txBody>
      </p:sp>
      <p:sp>
        <p:nvSpPr>
          <p:cNvPr id="18" name="repro-protected">
            <a:extLst>
              <a:ext uri="{FF2B5EF4-FFF2-40B4-BE49-F238E27FC236}">
                <a16:creationId id="{F5262264-8FC5-4051-AAE6-5610E2F0E8C9}"/>
              </a:ext>
            </a:extLst>
          </p:cNvPr>
          <p:cNvSpPr>
            <a:spLocks noGrp="1"/>
          </p:cNvSpPr>
          <p:nvPr/>
        </p:nvSpPr>
        <p:spPr>
          <a:xfrm>
            <a:off x="704850" y="560070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B54E36"/>
                </a:solidFill>
              </a:defRPr>
            </a:pPr>
            <a:r>
              <a:rPr sz="1350" b="1" i="0">
                <a:solidFill>
                  <a:srgbClr val="B54E36"/>
                </a:solidFill>
              </a:rPr>
              <a:t>Protected test remains sealed.</a:t>
            </a:r>
          </a:p>
        </p:txBody>
      </p:sp>
    </p:spTree>
    <p:extLst>
      <p:ext uri="{BB962C8B-B14F-4D97-AF65-F5344CB8AC3E}">
        <p14:creationId val="1696781406"/>
      </p:ext>
    </p:extLst>
  </p:cSld>
  <p:transition spd="med">
    <p:fade/>
  </p:transition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top-rule-17">
            <a:extLst>
              <a:ext uri="{FF2B5EF4-FFF2-40B4-BE49-F238E27FC236}">
                <a16:creationId id="{CE8F53F2-9DD8-4528-AD6B-0CA55C8CF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2" name="kicker-17">
            <a:extLst>
              <a:ext uri="{FF2B5EF4-FFF2-40B4-BE49-F238E27FC236}">
                <a16:creationId id="{56C2F6E5-F0B8-4EBB-85B9-3371F7059B7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B54E36"/>
                </a:solidFill>
              </a:defRPr>
            </a:pPr>
            <a:r>
              <a:rPr sz="900" b="1" i="0">
                <a:solidFill>
                  <a:srgbClr val="B54E36"/>
                </a:solidFill>
              </a:rPr>
              <a:t>DEFENSIBLE TAKEAWAY</a:t>
            </a:r>
          </a:p>
        </p:txBody>
      </p:sp>
      <p:sp>
        <p:nvSpPr>
          <p:cNvPr id="3" name="slide-title-17">
            <a:extLst>
              <a:ext uri="{FF2B5EF4-FFF2-40B4-BE49-F238E27FC236}">
                <a16:creationId id="{C59EFADC-A27D-4092-96AD-41706502ED86}"/>
              </a:ext>
            </a:extLst>
          </p:cNvPr>
          <p:cNvSpPr>
            <a:spLocks noGrp="1"/>
          </p:cNvSpPr>
          <p:nvPr/>
        </p:nvSpPr>
        <p:spPr>
          <a:xfrm>
            <a:off x="647700" y="66675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 i="0">
                <a:solidFill>
                  <a:srgbClr val="1D211F"/>
                </a:solidFill>
              </a:defRPr>
            </a:pPr>
            <a:r>
              <a:rPr sz="2925" b="1" i="0">
                <a:solidFill>
                  <a:srgbClr val="1D211F"/>
                </a:solidFill>
              </a:rPr>
              <a:t>A narrower conclusion is the stronger scientific result</a:t>
            </a:r>
          </a:p>
        </p:txBody>
      </p:sp>
      <p:sp>
        <p:nvSpPr>
          <p:cNvPr id="4" name="footer-rule-17">
            <a:extLst>
              <a:ext uri="{FF2B5EF4-FFF2-40B4-BE49-F238E27FC236}">
                <a16:creationId id="{51848FE2-3E9E-474A-93CC-4DF8614D7799}"/>
              </a:ext>
            </a:extLst>
          </p:cNvPr>
          <p:cNvSpPr>
            <a:spLocks noGrp="1"/>
          </p:cNvSpPr>
          <p:nvPr/>
        </p:nvSpPr>
        <p:spPr>
          <a:xfrm>
            <a:off x="647700" y="6210300"/>
            <a:ext cx="10896600" cy="9525"/>
          </a:xfrm>
          <a:prstGeom prst="rect">
            <a:avLst/>
          </a:prstGeom>
          <a:solidFill>
            <a:srgbClr val="C9C2B5"/>
          </a:solidFill>
          <a:ln w="0">
            <a:noFill/>
            <a:prstDash val="solid"/>
          </a:ln>
        </p:spPr>
      </p:sp>
      <p:sp>
        <p:nvSpPr>
          <p:cNvPr id="5" name="evidence-17">
            <a:extLst>
              <a:ext uri="{FF2B5EF4-FFF2-40B4-BE49-F238E27FC236}">
                <a16:creationId id="{044AAEA1-DC39-4BB3-8F36-175760CEC219}"/>
              </a:ext>
            </a:extLst>
          </p:cNvPr>
          <p:cNvSpPr>
            <a:spLocks noGrp="1"/>
          </p:cNvSpPr>
          <p:nvPr/>
        </p:nvSpPr>
        <p:spPr>
          <a:xfrm>
            <a:off x="647700" y="62865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66706B"/>
                </a:solidFill>
              </a:defRPr>
            </a:pPr>
            <a:r>
              <a:rPr sz="900" b="0" i="0">
                <a:solidFill>
                  <a:srgbClr val="66706B"/>
                </a:solidFill>
              </a:rPr>
              <a:t>scientific_sota_status = not_established</a:t>
            </a:r>
          </a:p>
        </p:txBody>
      </p:sp>
      <p:sp>
        <p:nvSpPr>
          <p:cNvPr id="6" name="page-17">
            <a:extLst>
              <a:ext uri="{FF2B5EF4-FFF2-40B4-BE49-F238E27FC236}">
                <a16:creationId id="{E53EFD95-7E39-465C-A944-37116A7D6F6C}"/>
              </a:ext>
            </a:extLst>
          </p:cNvPr>
          <p:cNvSpPr>
            <a:spLocks noGrp="1"/>
          </p:cNvSpPr>
          <p:nvPr/>
        </p:nvSpPr>
        <p:spPr>
          <a:xfrm>
            <a:off x="10896600" y="628650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 i="0">
                <a:solidFill>
                  <a:srgbClr val="B54E36"/>
                </a:solidFill>
              </a:defRPr>
            </a:pPr>
            <a:r>
              <a:rPr sz="1050" b="1" i="0">
                <a:solidFill>
                  <a:srgbClr val="B54E36"/>
                </a:solidFill>
              </a:rPr>
              <a:t>17</a:t>
            </a:r>
          </a:p>
        </p:txBody>
      </p:sp>
      <p:sp>
        <p:nvSpPr>
          <p:cNvPr id="7" name="s17-conclusion-claim-mark">
            <a:extLst>
              <a:ext uri="{FF2B5EF4-FFF2-40B4-BE49-F238E27FC236}">
                <a16:creationId id="{5251C32E-B3ED-413E-8FA4-0DBB75E35519}"/>
              </a:ext>
            </a:extLst>
          </p:cNvPr>
          <p:cNvSpPr>
            <a:spLocks noGrp="1"/>
          </p:cNvSpPr>
          <p:nvPr/>
        </p:nvSpPr>
        <p:spPr>
          <a:xfrm>
            <a:off x="647700" y="1457325"/>
            <a:ext cx="57150" cy="742950"/>
          </a:xfrm>
          <a:prstGeom prst="rect">
            <a:avLst/>
          </a:prstGeom>
          <a:solidFill>
            <a:srgbClr val="B54E36"/>
          </a:solidFill>
          <a:ln w="0">
            <a:noFill/>
            <a:prstDash val="solid"/>
          </a:ln>
        </p:spPr>
      </p:sp>
      <p:sp>
        <p:nvSpPr>
          <p:cNvPr id="8" name="s17-conclusion-claim">
            <a:extLst>
              <a:ext uri="{FF2B5EF4-FFF2-40B4-BE49-F238E27FC236}">
                <a16:creationId id="{8CEFAC8D-01B8-4891-901D-D275707A9FBE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19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D211F"/>
                </a:solidFill>
              </a:defRPr>
            </a:pPr>
            <a:r>
              <a:rPr sz="1800" b="1" i="0">
                <a:solidFill>
                  <a:srgbClr val="1D211F"/>
                </a:solidFill>
              </a:rPr>
              <a:t>nnU-Net records higher development-validation point estimates, the hard contour prior fails its matched train-screen gate, and no protected-test or state-of-the-art claim is authorized.</a:t>
            </a:r>
          </a:p>
        </p:txBody>
      </p:sp>
      <p:sp>
        <p:nvSpPr>
          <p:cNvPr id="9" name="conclusion-number-0">
            <a:extLst>
              <a:ext uri="{FF2B5EF4-FFF2-40B4-BE49-F238E27FC236}">
                <a16:creationId id="{F6D2B59E-3604-4B27-A4E5-18C23D3AF909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77D76"/>
                </a:solidFill>
              </a:defRPr>
            </a:pPr>
            <a:r>
              <a:rPr sz="2400" b="1" i="0">
                <a:solidFill>
                  <a:srgbClr val="177D76"/>
                </a:solidFill>
              </a:rPr>
              <a:t>01</a:t>
            </a:r>
          </a:p>
        </p:txBody>
      </p:sp>
      <p:sp>
        <p:nvSpPr>
          <p:cNvPr id="10" name="conclusion-statement-0">
            <a:extLst>
              <a:ext uri="{FF2B5EF4-FFF2-40B4-BE49-F238E27FC236}">
                <a16:creationId id="{6F6376E8-2C2D-433B-ACC7-B60D02541255}"/>
              </a:ext>
            </a:extLst>
          </p:cNvPr>
          <p:cNvSpPr>
            <a:spLocks noGrp="1"/>
          </p:cNvSpPr>
          <p:nvPr/>
        </p:nvSpPr>
        <p:spPr>
          <a:xfrm>
            <a:off x="1714500" y="2800350"/>
            <a:ext cx="904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211F"/>
                </a:solidFill>
              </a:defRPr>
            </a:pPr>
            <a:r>
              <a:rPr sz="1875" b="1" i="0">
                <a:solidFill>
                  <a:srgbClr val="1D211F"/>
                </a:solidFill>
              </a:rPr>
              <a:t>Repair leakage before optimizing models.</a:t>
            </a:r>
          </a:p>
        </p:txBody>
      </p:sp>
      <p:sp>
        <p:nvSpPr>
          <p:cNvPr id="11" name="conclusion-number-1">
            <a:extLst>
              <a:ext uri="{FF2B5EF4-FFF2-40B4-BE49-F238E27FC236}">
                <a16:creationId id="{F998B9DA-AE78-4E45-9A73-1C769D41BB4B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177D76"/>
                </a:solidFill>
              </a:defRPr>
            </a:pPr>
            <a:r>
              <a:rPr sz="2400" b="1" i="0">
                <a:solidFill>
                  <a:srgbClr val="177D76"/>
                </a:solidFill>
              </a:rPr>
              <a:t>02</a:t>
            </a:r>
          </a:p>
        </p:txBody>
      </p:sp>
      <p:sp>
        <p:nvSpPr>
          <p:cNvPr id="12" name="conclusion-statement-1">
            <a:extLst>
              <a:ext uri="{FF2B5EF4-FFF2-40B4-BE49-F238E27FC236}">
                <a16:creationId id="{40D1F16F-D8C6-4D3E-AD26-EF000C2C2135}"/>
              </a:ext>
            </a:extLst>
          </p:cNvPr>
          <p:cNvSpPr>
            <a:spLocks noGrp="1"/>
          </p:cNvSpPr>
          <p:nvPr/>
        </p:nvSpPr>
        <p:spPr>
          <a:xfrm>
            <a:off x="1714500" y="3600450"/>
            <a:ext cx="904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211F"/>
                </a:solidFill>
              </a:defRPr>
            </a:pPr>
            <a:r>
              <a:rPr sz="1875" b="1" i="0">
                <a:solidFill>
                  <a:srgbClr val="1D211F"/>
                </a:solidFill>
              </a:rPr>
              <a:t>Use strong baselines without hiding contract differences.</a:t>
            </a:r>
          </a:p>
        </p:txBody>
      </p:sp>
      <p:sp>
        <p:nvSpPr>
          <p:cNvPr id="13" name="conclusion-number-2">
            <a:extLst>
              <a:ext uri="{FF2B5EF4-FFF2-40B4-BE49-F238E27FC236}">
                <a16:creationId id="{9FAB22E6-94B9-4B3B-B508-F072A8077030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B54E36"/>
                </a:solidFill>
              </a:defRPr>
            </a:pPr>
            <a:r>
              <a:rPr sz="2400" b="1" i="0">
                <a:solidFill>
                  <a:srgbClr val="B54E36"/>
                </a:solidFill>
              </a:rPr>
              <a:t>03</a:t>
            </a:r>
          </a:p>
        </p:txBody>
      </p:sp>
      <p:sp>
        <p:nvSpPr>
          <p:cNvPr id="14" name="conclusion-statement-2">
            <a:extLst>
              <a:ext uri="{FF2B5EF4-FFF2-40B4-BE49-F238E27FC236}">
                <a16:creationId id="{6DDFB09D-AE03-4FEF-84B8-BF684C7BD3D4}"/>
              </a:ext>
            </a:extLst>
          </p:cNvPr>
          <p:cNvSpPr>
            <a:spLocks noGrp="1"/>
          </p:cNvSpPr>
          <p:nvPr/>
        </p:nvSpPr>
        <p:spPr>
          <a:xfrm>
            <a:off x="1714500" y="4400550"/>
            <a:ext cx="904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D211F"/>
                </a:solidFill>
              </a:defRPr>
            </a:pPr>
            <a:r>
              <a:rPr sz="1875" b="1" i="0">
                <a:solidFill>
                  <a:srgbClr val="1D211F"/>
                </a:solidFill>
              </a:rPr>
              <a:t>Publish negative ablations when they reject a mechanism.</a:t>
            </a:r>
          </a:p>
        </p:txBody>
      </p:sp>
      <p:sp>
        <p:nvSpPr>
          <p:cNvPr id="15" name="conclusion-next">
            <a:extLst>
              <a:ext uri="{FF2B5EF4-FFF2-40B4-BE49-F238E27FC236}">
                <a16:creationId id="{E8E5D2B3-D441-4EBF-AC79-4D43B810C481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10458450" cy="552450"/>
          </a:xfrm>
          <a:prstGeom prst="rect">
            <a:avLst/>
          </a:prstGeom>
          <a:solidFill>
            <a:srgbClr val="1D211F"/>
          </a:solidFill>
          <a:ln w="0">
            <a:noFill/>
            <a:prstDash val="solid"/>
          </a:ln>
        </p:spPr>
      </p:sp>
      <p:sp>
        <p:nvSpPr>
          <p:cNvPr id="16" name="conclusion-next-label">
            <a:extLst>
              <a:ext uri="{FF2B5EF4-FFF2-40B4-BE49-F238E27FC236}">
                <a16:creationId id="{5AEA5619-AB1F-40DE-A808-04F3319FF505}"/>
              </a:ext>
            </a:extLst>
          </p:cNvPr>
          <p:cNvSpPr>
            <a:spLocks noGrp="1"/>
          </p:cNvSpPr>
          <p:nvPr/>
        </p:nvSpPr>
        <p:spPr>
          <a:xfrm>
            <a:off x="933450" y="535305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8C39D"/>
                </a:solidFill>
              </a:defRPr>
            </a:pPr>
            <a:r>
              <a:rPr sz="1050" b="1" i="0">
                <a:solidFill>
                  <a:srgbClr val="D8C39D"/>
                </a:solidFill>
              </a:rPr>
              <a:t>NEXT DEFENSIBLE EXPERIMENT</a:t>
            </a:r>
          </a:p>
        </p:txBody>
      </p:sp>
      <p:sp>
        <p:nvSpPr>
          <p:cNvPr id="17" name="conclusion-next-text">
            <a:extLst>
              <a:ext uri="{FF2B5EF4-FFF2-40B4-BE49-F238E27FC236}">
                <a16:creationId id="{84D96271-2F47-4EB4-B43D-1D50458251D3}"/>
              </a:ext>
            </a:extLst>
          </p:cNvPr>
          <p:cNvSpPr>
            <a:spLocks noGrp="1"/>
          </p:cNvSpPr>
          <p:nvPr/>
        </p:nvSpPr>
        <p:spPr>
          <a:xfrm>
            <a:off x="3733800" y="53340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25" b="1" i="0">
                <a:solidFill>
                  <a:srgbClr val="F4EFE4"/>
                </a:solidFill>
              </a:defRPr>
            </a:pPr>
            <a:r>
              <a:rPr sz="1425" b="1" i="0">
                <a:solidFill>
                  <a:srgbClr val="F4EFE4"/>
                </a:solidFill>
              </a:rPr>
              <a:t>Reproduce both systems under one geometry contract before any protected test.</a:t>
            </a:r>
          </a:p>
        </p:txBody>
      </p:sp>
    </p:spTree>
    <p:extLst>
      <p:ext uri="{BB962C8B-B14F-4D97-AF65-F5344CB8AC3E}">
        <p14:creationId val="1458239852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2026-07-23T05:17:45.0880000Z</dcterms:created>
  <dcterms:modified xsi:type="dcterms:W3CDTF">2026-07-23T05:17:45.0890000Z</dcterms:modified>
</coreProperties>
</file>