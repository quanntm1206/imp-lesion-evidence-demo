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a7e252a99994aa4" /><Relationship Type="http://schemas.openxmlformats.org/officeDocument/2006/relationships/extended-properties" Target="/docProps/app.xml" Id="R41ac9bc2ecd74622" /><Relationship Type="http://schemas.openxmlformats.org/officeDocument/2006/relationships/officeDocument" Target="/ppt/presentation.xml" Id="Reaf42450e4d7492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781e8bd78984d52"/>
  </p:sldMasterIdLst>
  <p:notesMasterIdLst>
    <p:notesMasterId xmlns:r="http://schemas.openxmlformats.org/officeDocument/2006/relationships" r:id="Rf4b6414764ba4986"/>
  </p:notesMasterIdLst>
  <p:sldIdLst>
    <p:sldId xmlns:r="http://schemas.openxmlformats.org/officeDocument/2006/relationships" id="256" r:id="Re8effcde9d7c44cc"/>
    <p:sldId xmlns:r="http://schemas.openxmlformats.org/officeDocument/2006/relationships" id="257" r:id="R0e303cf76ceb4843"/>
    <p:sldId xmlns:r="http://schemas.openxmlformats.org/officeDocument/2006/relationships" id="258" r:id="R6da07be671b247be"/>
    <p:sldId xmlns:r="http://schemas.openxmlformats.org/officeDocument/2006/relationships" id="259" r:id="Rb03c315dd7fa4051"/>
    <p:sldId xmlns:r="http://schemas.openxmlformats.org/officeDocument/2006/relationships" id="260" r:id="R2cf0a0f349d74dc0"/>
    <p:sldId xmlns:r="http://schemas.openxmlformats.org/officeDocument/2006/relationships" id="261" r:id="Re9c0d6c207ed43cc"/>
    <p:sldId xmlns:r="http://schemas.openxmlformats.org/officeDocument/2006/relationships" id="262" r:id="R5841e9e7076a4616"/>
    <p:sldId xmlns:r="http://schemas.openxmlformats.org/officeDocument/2006/relationships" id="263" r:id="Rdf6987adcb384564"/>
    <p:sldId xmlns:r="http://schemas.openxmlformats.org/officeDocument/2006/relationships" id="264" r:id="R70881238fdf64810"/>
    <p:sldId xmlns:r="http://schemas.openxmlformats.org/officeDocument/2006/relationships" id="265" r:id="R8f179fbe3cf74404"/>
    <p:sldId xmlns:r="http://schemas.openxmlformats.org/officeDocument/2006/relationships" id="266" r:id="R0787a4b96d4b42e7"/>
    <p:sldId xmlns:r="http://schemas.openxmlformats.org/officeDocument/2006/relationships" id="267" r:id="R66c00564d7164d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0529e653d6849d8" /><Relationship Type="http://schemas.openxmlformats.org/officeDocument/2006/relationships/slideMaster" Target="/ppt/slideMasters/slideMaster1.xml" Id="R1781e8bd78984d52" /><Relationship Type="http://schemas.openxmlformats.org/officeDocument/2006/relationships/notesMaster" Target="/ppt/notesMasters/notesMaster1.xml" Id="Rf4b6414764ba4986" /><Relationship Type="http://schemas.openxmlformats.org/officeDocument/2006/relationships/presProps" Target="/ppt/presProps.xml" Id="R80c5211e94374d04" /><Relationship Type="http://schemas.openxmlformats.org/officeDocument/2006/relationships/tableStyles" Target="/ppt/tableStyles.xml" Id="R116442ecd459415f" /><Relationship Type="http://schemas.openxmlformats.org/officeDocument/2006/relationships/slide" Target="/ppt/slides/slide1.xml" Id="Re8effcde9d7c44cc" /><Relationship Type="http://schemas.openxmlformats.org/officeDocument/2006/relationships/slide" Target="/ppt/slides/slide2.xml" Id="R0e303cf76ceb4843" /><Relationship Type="http://schemas.openxmlformats.org/officeDocument/2006/relationships/slide" Target="/ppt/slides/slide3.xml" Id="R6da07be671b247be" /><Relationship Type="http://schemas.openxmlformats.org/officeDocument/2006/relationships/slide" Target="/ppt/slides/slide4.xml" Id="Rb03c315dd7fa4051" /><Relationship Type="http://schemas.openxmlformats.org/officeDocument/2006/relationships/slide" Target="/ppt/slides/slide5.xml" Id="R2cf0a0f349d74dc0" /><Relationship Type="http://schemas.openxmlformats.org/officeDocument/2006/relationships/slide" Target="/ppt/slides/slide6.xml" Id="Re9c0d6c207ed43cc" /><Relationship Type="http://schemas.openxmlformats.org/officeDocument/2006/relationships/slide" Target="/ppt/slides/slide7.xml" Id="R5841e9e7076a4616" /><Relationship Type="http://schemas.openxmlformats.org/officeDocument/2006/relationships/slide" Target="/ppt/slides/slide8.xml" Id="Rdf6987adcb384564" /><Relationship Type="http://schemas.openxmlformats.org/officeDocument/2006/relationships/slide" Target="/ppt/slides/slide9.xml" Id="R70881238fdf64810" /><Relationship Type="http://schemas.openxmlformats.org/officeDocument/2006/relationships/slide" Target="/ppt/slides/slide10.xml" Id="R8f179fbe3cf74404" /><Relationship Type="http://schemas.openxmlformats.org/officeDocument/2006/relationships/slide" Target="/ppt/slides/slide11.xml" Id="R0787a4b96d4b42e7" /><Relationship Type="http://schemas.openxmlformats.org/officeDocument/2006/relationships/slide" Target="/ppt/slides/slide12.xml" Id="R66c00564d7164d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d2d01d4bdd42d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8ebdb15494347e9" /><Relationship Type="http://schemas.openxmlformats.org/officeDocument/2006/relationships/notesMaster" Target="/ppt/notesMasters/notesMaster1.xml" Id="Rfac53aa35b194a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84ddca4d124bbd" /><Relationship Type="http://schemas.openxmlformats.org/officeDocument/2006/relationships/notesMaster" Target="/ppt/notesMasters/notesMaster1.xml" Id="R12abb2fe6a5c44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5efc5257e604f24" /><Relationship Type="http://schemas.openxmlformats.org/officeDocument/2006/relationships/notesMaster" Target="/ppt/notesMasters/notesMaster1.xml" Id="Rb23c203069c1441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1d9eafacbc4574" /><Relationship Type="http://schemas.openxmlformats.org/officeDocument/2006/relationships/notesMaster" Target="/ppt/notesMasters/notesMaster1.xml" Id="R67fb091fa9c346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1eb2ddf27e4e77" /><Relationship Type="http://schemas.openxmlformats.org/officeDocument/2006/relationships/notesMaster" Target="/ppt/notesMasters/notesMaster1.xml" Id="R2acad97629b441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c3be777e2f45e5" /><Relationship Type="http://schemas.openxmlformats.org/officeDocument/2006/relationships/notesMaster" Target="/ppt/notesMasters/notesMaster1.xml" Id="R901c10b79ab2415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fd284da7ac4c2b" /><Relationship Type="http://schemas.openxmlformats.org/officeDocument/2006/relationships/notesMaster" Target="/ppt/notesMasters/notesMaster1.xml" Id="R62fa8523142e44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f826da4a9146fa" /><Relationship Type="http://schemas.openxmlformats.org/officeDocument/2006/relationships/notesMaster" Target="/ppt/notesMasters/notesMaster1.xml" Id="R802918574c54424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dcc4a9907c4600" /><Relationship Type="http://schemas.openxmlformats.org/officeDocument/2006/relationships/notesMaster" Target="/ppt/notesMasters/notesMaster1.xml" Id="R8900fb19282642d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cdca5c340df4bbf" /><Relationship Type="http://schemas.openxmlformats.org/officeDocument/2006/relationships/notesMaster" Target="/ppt/notesMasters/notesMaster1.xml" Id="Rfc5e8552819a4c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318cc22e1f8428e" /><Relationship Type="http://schemas.openxmlformats.org/officeDocument/2006/relationships/notesMaster" Target="/ppt/notesMasters/notesMaster1.xml" Id="R00e456c7503a4f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6476c1ad6344543" /><Relationship Type="http://schemas.openxmlformats.org/officeDocument/2006/relationships/notesMaster" Target="/ppt/notesMasters/notesMaster1.xml" Id="R2f591d125fdf42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tension: a high Dice score is not useful when the evidence contract is broken.</a:t>
            </a:r>
          </a:p>
          <a:p xmlns:a="http://schemas.openxmlformats.org/drawingml/2006/main">
            <a:r>
              <a:t>State that this talk values what the evidence supports, including a negative result.</a:t>
            </a:r>
          </a:p>
          <a:p xmlns:a="http://schemas.openxmlformats.org/drawingml/2006/main">
            <a:r>
              <a:t>Do not describe the system as clinical or state of the art.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leakage is a scientific design defect, not a cosmetic caveat.</a:t>
            </a:r>
          </a:p>
          <a:p xmlns:a="http://schemas.openxmlformats.org/drawingml/2006/main">
            <a:r>
              <a:t>Do not compare legacy model scores as if they were independent test results.</a:t>
            </a:r>
          </a:p>
          <a:p xmlns:a="http://schemas.openxmlformats.org/drawingml/2006/main">
            <a:r>
              <a:t>Use this slide to motivate the evidence hierarchy.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architecture comparison descriptive because it has one recorded run per system.</a:t>
            </a:r>
          </a:p>
          <a:p xmlns:a="http://schemas.openxmlformats.org/drawingml/2006/main">
            <a:r>
              <a:t>Describe Loop206 as a controlled train-screen ablation with three selected seeds.</a:t>
            </a:r>
          </a:p>
          <a:p xmlns:a="http://schemas.openxmlformats.org/drawingml/2006/main">
            <a:r>
              <a:t>Transition to the interactive pipeline as the map of the evidence 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nonlinearly: select the module that best matches the audience question.</a:t>
            </a:r>
          </a:p>
          <a:p xmlns:a="http://schemas.openxmlformats.org/drawingml/2006/main">
            <a:r>
              <a:t>For the default talk, visit modules from left to right.</a:t>
            </a:r>
          </a:p>
          <a:p xmlns:a="http://schemas.openxmlformats.org/drawingml/2006/main">
            <a:r>
              <a:t>The pipeline is a navigation spine, not a decorative architecture diagram.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Say no detected overlap, not proof of no hidden biological relationship.</a:t>
            </a:r>
          </a:p>
          <a:p xmlns:a="http://schemas.openxmlformats.org/drawingml/2006/main">
            <a:r>
              <a:t>Clarify that validation was already opened and used adaptively.</a:t>
            </a:r>
          </a:p>
          <a:p xmlns:a="http://schemas.openxmlformats.org/drawingml/2006/main">
            <a:r>
              <a:t>The 430-row test partition remains sealed.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Avoid calling this a controlled architecture ablation.</a:t>
            </a:r>
          </a:p>
          <a:p xmlns:a="http://schemas.openxmlformats.org/drawingml/2006/main">
            <a:r>
              <a:t>Explain that nnU-Net is a strong system-level baseline.</a:t>
            </a:r>
          </a:p>
          <a:p xmlns:a="http://schemas.openxmlformats.org/drawingml/2006/main">
            <a:r>
              <a:t>Mention the historical geometry mismatch as a limitation, not a hidden footnote.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values as recorded point estimates.</a:t>
            </a:r>
          </a:p>
          <a:p xmlns:a="http://schemas.openxmlformats.org/drawingml/2006/main">
            <a:r>
              <a:t>Do not say statistically significant, superior, or test performance.</a:t>
            </a:r>
          </a:p>
          <a:p xmlns:a="http://schemas.openxmlformats.org/drawingml/2006/main">
            <a:r>
              <a:t>Use the precision direction to show that metric trade-offs matter.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stronger causal comparison because the arms are matched.</a:t>
            </a:r>
          </a:p>
          <a:p xmlns:a="http://schemas.openxmlformats.org/drawingml/2006/main">
            <a:r>
              <a:t>The interval is conditional on the selected seeds and does not estimate seed-selection uncertainty.</a:t>
            </a:r>
          </a:p>
          <a:p xmlns:a="http://schemas.openxmlformats.org/drawingml/2006/main">
            <a:r>
              <a:t>No protected image or mask participates in fitting, thresholding, selection, or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Pause on the negative result: it is the main controlled finding.</a:t>
            </a:r>
          </a:p>
          <a:p xmlns:a="http://schemas.openxmlformats.org/drawingml/2006/main">
            <a:r>
              <a:t>Do not generalize from this binary contour mechanism to all boundary methods.</a:t>
            </a:r>
          </a:p>
          <a:p xmlns:a="http://schemas.openxmlformats.org/drawingml/2006/main">
            <a:r>
              <a:t>Explain that a failed preregistered gate prevents expensive protected-test fishing.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the live demo only after local preflight passes.</a:t>
            </a:r>
          </a:p>
          <a:p xmlns:a="http://schemas.openxmlformats.org/drawingml/2006/main">
            <a:r>
              <a:t>Show fixed-cache evidence first, then explain why arbitrary candidate inference is locked.</a:t>
            </a:r>
          </a:p>
          <a:p xmlns:a="http://schemas.openxmlformats.org/drawingml/2006/main">
            <a:r>
              <a:t>Keep the non-clinical warning visible.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claim reproducibility from full experiment reproduction.</a:t>
            </a:r>
          </a:p>
          <a:p xmlns:a="http://schemas.openxmlformats.org/drawingml/2006/main">
            <a:r>
              <a:t>State what is intentionally excluded from Git: data, checkpoints, caches, and secrets.</a:t>
            </a:r>
          </a:p>
          <a:p xmlns:a="http://schemas.openxmlformats.org/drawingml/2006/main">
            <a:r>
              <a:t>Do not imply that this machine's RTX 5060 Ti rehearsal verifies the physical laptop.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 tension: evidence discipline prevented a false leaderboard claim.</a:t>
            </a:r>
          </a:p>
          <a:p xmlns:a="http://schemas.openxmlformats.org/drawingml/2006/main">
            <a:r>
              <a:t>End on the next defensible experiment, not a generic thank-you slide.</a:t>
            </a:r>
          </a:p>
          <a:p xmlns:a="http://schemas.openxmlformats.org/drawingml/2006/main">
            <a:r>
              <a:t>Invite questions about evidence boundaries, the matched ablation, or the demo.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df8775482e4eb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0e359ff7da444f1" /><Relationship Type="http://schemas.openxmlformats.org/officeDocument/2006/relationships/slideLayout" Target="/ppt/slideLayouts/slideLayout1.xml" Id="R738b11c5222f40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8b11c5222f40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1331a5a6dd4934" /><Relationship Type="http://schemas.openxmlformats.org/officeDocument/2006/relationships/notesSlide" Target="/ppt/notesSlides/notesSlide1.xml" Id="R04beefbcc66544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c94a0efbf34816" /><Relationship Type="http://schemas.openxmlformats.org/officeDocument/2006/relationships/notesSlide" Target="/ppt/notesSlides/notesSlide2.xml" Id="Rc29cfe7e386743f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0c3b0b98c4f54" /><Relationship Type="http://schemas.openxmlformats.org/officeDocument/2006/relationships/notesSlide" Target="/ppt/notesSlides/notesSlide3.xml" Id="R6379c2cc4a7c4a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ce9711dcc8446b" /><Relationship Type="http://schemas.openxmlformats.org/officeDocument/2006/relationships/notesSlide" Target="/ppt/notesSlides/notesSlide4.xml" Id="R5d4dabf0181443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d5355e73f848d3" /><Relationship Type="http://schemas.openxmlformats.org/officeDocument/2006/relationships/notesSlide" Target="/ppt/notesSlides/notesSlide5.xml" Id="R735cd397ec6244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8c3cde075455a" /><Relationship Type="http://schemas.openxmlformats.org/officeDocument/2006/relationships/notesSlide" Target="/ppt/notesSlides/notesSlide6.xml" Id="R4f0164055a654ff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4dd5c31e114231" /><Relationship Type="http://schemas.openxmlformats.org/officeDocument/2006/relationships/notesSlide" Target="/ppt/notesSlides/notesSlide7.xml" Id="R02c2ee3987b44a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111ef506c34cb8" /><Relationship Type="http://schemas.openxmlformats.org/officeDocument/2006/relationships/notesSlide" Target="/ppt/notesSlides/notesSlide8.xml" Id="R7ca63f5840cc4d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6ffa782f544a77" /><Relationship Type="http://schemas.openxmlformats.org/officeDocument/2006/relationships/image" Target="/ppt/media/image.png" Id="R7f7a337a3dc74562" /><Relationship Type="http://schemas.openxmlformats.org/officeDocument/2006/relationships/notesSlide" Target="/ppt/notesSlides/notesSlide9.xml" Id="R73935c9a8c7a4f2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53f7ab3068413a" /><Relationship Type="http://schemas.openxmlformats.org/officeDocument/2006/relationships/image" Target="/ppt/media/image2.png" Id="R29593d2356cf4c75" /><Relationship Type="http://schemas.openxmlformats.org/officeDocument/2006/relationships/notesSlide" Target="/ppt/notesSlides/notesSlide10.xml" Id="R5cd3c8c2528b449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93649e29184711" /><Relationship Type="http://schemas.openxmlformats.org/officeDocument/2006/relationships/notesSlide" Target="/ppt/notesSlides/notesSlide11.xml" Id="Re9a6c4c3dc4944b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badd501c3449a" /><Relationship Type="http://schemas.openxmlformats.org/officeDocument/2006/relationships/notesSlide" Target="/ppt/notesSlides/notesSlide12.xml" Id="R91292cd0f7904d8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D2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title-rust-field">
            <a:extLst xmlns:a="http://schemas.openxmlformats.org/drawingml/2006/main">
              <a:ext uri="{FF2B5EF4-FFF2-40B4-BE49-F238E27FC236}">
                <a16:creationId xmlns:a16="http://schemas.microsoft.com/office/drawing/2014/main" id="{88FFAB6C-3CBE-479E-8D60-3E16F234E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itle-teal-field">
            <a:extLst xmlns:a="http://schemas.openxmlformats.org/drawingml/2006/main">
              <a:ext uri="{FF2B5EF4-FFF2-40B4-BE49-F238E27FC236}">
                <a16:creationId xmlns:a16="http://schemas.microsoft.com/office/drawing/2014/main" id="{D46AD3FA-7635-48F2-B435-D40A75FB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0"/>
            <a:ext cx="238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itle-kicker">
            <a:extLst xmlns:a="http://schemas.openxmlformats.org/drawingml/2006/main">
              <a:ext uri="{FF2B5EF4-FFF2-40B4-BE49-F238E27FC236}">
                <a16:creationId xmlns:a16="http://schemas.microsoft.com/office/drawing/2014/main" id="{CF8198FC-896A-424A-8401-524B848D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D8C39D"/>
                </a:solidFill>
              </a:defRPr>
            </a:pPr>
            <a:r>
              <a:rPr sz="975" b="1" i="0">
                <a:solidFill>
                  <a:srgbClr val="D8C39D"/>
                </a:solidFill>
              </a:rPr>
              <a:t>IMP PROJECT RESEARCH DEFENSE</a:t>
            </a:r>
          </a:p>
        </p:txBody>
      </p:sp>
      <p:sp>
        <p:nvSpPr>
          <p:cNvPr id="4" name="title-main">
            <a:extLst xmlns:a="http://schemas.openxmlformats.org/drawingml/2006/main">
              <a:ext uri="{FF2B5EF4-FFF2-40B4-BE49-F238E27FC236}">
                <a16:creationId xmlns:a16="http://schemas.microsoft.com/office/drawing/2014/main" id="{8790B5FA-035D-4BB5-9413-207A9C79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95400"/>
            <a:ext cx="8001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800" b="1" i="0">
                <a:solidFill>
                  <a:srgbClr val="F4EFE4"/>
                </a:solidFill>
              </a:defRPr>
            </a:pPr>
            <a:r>
              <a:rPr sz="4800" b="1" i="0">
                <a:solidFill>
                  <a:srgbClr val="F4EFE4"/>
                </a:solidFill>
              </a:rPr>
              <a:t>Evidence before leaderboard claims</a:t>
            </a:r>
          </a:p>
        </p:txBody>
      </p:sp>
      <p:sp>
        <p:nvSpPr>
          <p:cNvPr id="5" name="title-claim">
            <a:extLst xmlns:a="http://schemas.openxmlformats.org/drawingml/2006/main">
              <a:ext uri="{FF2B5EF4-FFF2-40B4-BE49-F238E27FC236}">
                <a16:creationId xmlns:a16="http://schemas.microsoft.com/office/drawing/2014/main" id="{5F9FFAF9-DA34-4D12-8792-7B332559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43250"/>
            <a:ext cx="7429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D6E7E1"/>
                </a:solidFill>
              </a:defRPr>
            </a:pPr>
            <a:r>
              <a:rPr sz="1725" b="0" i="0">
                <a:solidFill>
                  <a:srgbClr val="D6E7E1"/>
                </a:solidFill>
              </a:rPr>
              <a:t>A repaired evidence contract turns a contaminated benchmark and a failed hypothesis into defensible research.</a:t>
            </a:r>
          </a:p>
        </p:txBody>
      </p:sp>
      <p:sp>
        <p:nvSpPr>
          <p:cNvPr id="6" name="title-rule">
            <a:extLst xmlns:a="http://schemas.openxmlformats.org/drawingml/2006/main">
              <a:ext uri="{FF2B5EF4-FFF2-40B4-BE49-F238E27FC236}">
                <a16:creationId xmlns:a16="http://schemas.microsoft.com/office/drawing/2014/main" id="{A24EBF0A-E39C-4B15-9D9B-8C9266BF9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7239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tle-baseline">
            <a:extLst xmlns:a="http://schemas.openxmlformats.org/drawingml/2006/main">
              <a:ext uri="{FF2B5EF4-FFF2-40B4-BE49-F238E27FC236}">
                <a16:creationId xmlns:a16="http://schemas.microsoft.com/office/drawing/2014/main" id="{321F0F39-7080-4B98-AC22-4098813C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752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F4EFE4"/>
                </a:solidFill>
              </a:defRPr>
            </a:pPr>
            <a:r>
              <a:rPr sz="1500" b="1" i="0">
                <a:solidFill>
                  <a:srgbClr val="F4EFE4"/>
                </a:solidFill>
              </a:rPr>
              <a:t>MiT-B3 U-Net versus nnU-Net v2</a:t>
            </a:r>
          </a:p>
        </p:txBody>
      </p:sp>
      <p:sp>
        <p:nvSpPr>
          <p:cNvPr id="8" name="title-boundary">
            <a:extLst xmlns:a="http://schemas.openxmlformats.org/drawingml/2006/main">
              <a:ext uri="{FF2B5EF4-FFF2-40B4-BE49-F238E27FC236}">
                <a16:creationId xmlns:a16="http://schemas.microsoft.com/office/drawing/2014/main" id="{1805C26F-4BA3-4F66-A322-85BA6A41E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14950"/>
            <a:ext cx="752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D8C39D"/>
                </a:solidFill>
              </a:defRPr>
            </a:pPr>
            <a:r>
              <a:rPr sz="1200" b="0" i="0">
                <a:solidFill>
                  <a:srgbClr val="D8C39D"/>
                </a:solidFill>
              </a:rPr>
              <a:t>Negative contour-channel ablation</a:t>
            </a:r>
          </a:p>
          <a:p xmlns:a="http://schemas.openxmlformats.org/drawingml/2006/main">
            <a:pPr algn="l">
              <a:defRPr sz="1200" b="0" i="0">
                <a:solidFill>
                  <a:srgbClr val="D8C39D"/>
                </a:solidFill>
              </a:defRPr>
            </a:pPr>
            <a:r>
              <a:rPr sz="1200" b="0" i="0">
                <a:solidFill>
                  <a:srgbClr val="D8C39D"/>
                </a:solidFill>
              </a:rPr>
              <a:t>Protected test remains sealed; this is not state of the art</a:t>
            </a:r>
          </a:p>
        </p:txBody>
      </p:sp>
      <p:sp>
        <p:nvSpPr>
          <p:cNvPr id="9" name="title-atlas">
            <a:extLst xmlns:a="http://schemas.openxmlformats.org/drawingml/2006/main">
              <a:ext uri="{FF2B5EF4-FFF2-40B4-BE49-F238E27FC236}">
                <a16:creationId xmlns:a16="http://schemas.microsoft.com/office/drawing/2014/main" id="{77654E65-5939-4AC3-A9B6-3E10F0A1D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200150"/>
            <a:ext cx="1714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75" b="1" i="0">
                <a:solidFill>
                  <a:srgbClr val="F4EFE4"/>
                </a:solidFill>
              </a:defRPr>
            </a:pPr>
            <a:r>
              <a:rPr sz="2775" b="1" i="0">
                <a:solidFill>
                  <a:srgbClr val="F4EFE4"/>
                </a:solidFill>
              </a:rPr>
              <a:t>EVIDENCE</a:t>
            </a:r>
          </a:p>
          <a:p xmlns:a="http://schemas.openxmlformats.org/drawingml/2006/main">
            <a:pPr algn="ctr">
              <a:defRPr sz="2775" b="1" i="0">
                <a:solidFill>
                  <a:srgbClr val="F4EFE4"/>
                </a:solidFill>
              </a:defRPr>
            </a:pPr>
            <a:r>
              <a:rPr sz="2775" b="1" i="0">
                <a:solidFill>
                  <a:srgbClr val="F4EFE4"/>
                </a:solidFill>
              </a:rPr>
              <a:t>ATLAS</a:t>
            </a:r>
          </a:p>
        </p:txBody>
      </p:sp>
      <p:sp>
        <p:nvSpPr>
          <p:cNvPr id="10" name="title-meta">
            <a:extLst xmlns:a="http://schemas.openxmlformats.org/drawingml/2006/main">
              <a:ext uri="{FF2B5EF4-FFF2-40B4-BE49-F238E27FC236}">
                <a16:creationId xmlns:a16="http://schemas.microsoft.com/office/drawing/2014/main" id="{34C5649F-8412-41E2-9CEF-E1A289C2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619750"/>
            <a:ext cx="171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F4EFE4"/>
                </a:solidFill>
              </a:defRPr>
            </a:pPr>
            <a:r>
              <a:rPr sz="975" b="0" i="0">
                <a:solidFill>
                  <a:srgbClr val="F4EFE4"/>
                </a:solidFill>
              </a:rPr>
              <a:t>research report | July 2026</a:t>
            </a:r>
          </a:p>
        </p:txBody>
      </p:sp>
    </p:spTree>
    <p:extLst>
      <p:ext uri="{BB962C8B-B14F-4D97-AF65-F5344CB8AC3E}">
        <p14:creationId xmlns:p14="http://schemas.microsoft.com/office/powerpoint/2010/main" val="20137354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op-rule-2">
            <a:extLst xmlns:a="http://schemas.openxmlformats.org/drawingml/2006/main">
              <a:ext uri="{FF2B5EF4-FFF2-40B4-BE49-F238E27FC236}">
                <a16:creationId xmlns:a16="http://schemas.microsoft.com/office/drawing/2014/main" id="{84306BE8-0FD6-4D52-9E94-990B8963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BD0E5B06-04A8-4F83-9BDE-07D4774D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54E36"/>
                </a:solidFill>
              </a:defRPr>
            </a:pPr>
            <a:r>
              <a:rPr sz="900" b="1" i="0">
                <a:solidFill>
                  <a:srgbClr val="B54E36"/>
                </a:solidFill>
              </a:rPr>
              <a:t>WHY THE STUDY NEEDED REPAIR</a:t>
            </a:r>
          </a:p>
        </p:txBody>
      </p:sp>
      <p:sp>
        <p:nvSpPr>
          <p:cNvPr id="3" name="slide-title-2">
            <a:extLst xmlns:a="http://schemas.openxmlformats.org/drawingml/2006/main">
              <a:ext uri="{FF2B5EF4-FFF2-40B4-BE49-F238E27FC236}">
                <a16:creationId xmlns:a16="http://schemas.microsoft.com/office/drawing/2014/main" id="{CE43D960-063B-4079-BAF7-B2F1EE7C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Leakage changed the meaning of every favorable score</a:t>
            </a:r>
          </a:p>
        </p:txBody>
      </p:sp>
      <p:sp>
        <p:nvSpPr>
          <p:cNvPr id="4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49CB1ABD-902F-4167-A6E6-9121C813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2">
            <a:extLst xmlns:a="http://schemas.openxmlformats.org/drawingml/2006/main">
              <a:ext uri="{FF2B5EF4-FFF2-40B4-BE49-F238E27FC236}">
                <a16:creationId xmlns:a16="http://schemas.microsoft.com/office/drawing/2014/main" id="{4C780A20-271E-4932-8FB9-100319CE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legacy_patient_contaminated</a:t>
            </a:r>
          </a:p>
        </p:txBody>
      </p:sp>
      <p:sp>
        <p:nvSpPr>
          <p:cNvPr id="6" name="page-2">
            <a:extLst xmlns:a="http://schemas.openxmlformats.org/drawingml/2006/main">
              <a:ext uri="{FF2B5EF4-FFF2-40B4-BE49-F238E27FC236}">
                <a16:creationId xmlns:a16="http://schemas.microsoft.com/office/drawing/2014/main" id="{C2105C0B-F86B-414A-80C5-31F720AB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02</a:t>
            </a:r>
          </a:p>
        </p:txBody>
      </p:sp>
      <p:sp>
        <p:nvSpPr>
          <p:cNvPr id="7" name="s02-leakage-claim-mark">
            <a:extLst xmlns:a="http://schemas.openxmlformats.org/drawingml/2006/main">
              <a:ext uri="{FF2B5EF4-FFF2-40B4-BE49-F238E27FC236}">
                <a16:creationId xmlns:a16="http://schemas.microsoft.com/office/drawing/2014/main" id="{7C95709F-C92B-4F3F-A0BA-05A08569B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2-leakage-claim">
            <a:extLst xmlns:a="http://schemas.openxmlformats.org/drawingml/2006/main">
              <a:ext uri="{FF2B5EF4-FFF2-40B4-BE49-F238E27FC236}">
                <a16:creationId xmlns:a16="http://schemas.microsoft.com/office/drawing/2014/main" id="{39907D71-DD96-407F-A748-09030D99A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Three patient identities and 13 rows crossed legacy split boundaries, so the old leaderboard became historical evidence rather than a scientific ranking.</a:t>
            </a:r>
          </a:p>
        </p:txBody>
      </p:sp>
      <p:sp>
        <p:nvSpPr>
          <p:cNvPr id="9" name="leakage-boundary">
            <a:extLst xmlns:a="http://schemas.openxmlformats.org/drawingml/2006/main">
              <a:ext uri="{FF2B5EF4-FFF2-40B4-BE49-F238E27FC236}">
                <a16:creationId xmlns:a16="http://schemas.microsoft.com/office/drawing/2014/main" id="{FAF49E38-24F8-4E8F-A67F-AD74659A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647950"/>
            <a:ext cx="381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eakage-cross-1">
            <a:extLst xmlns:a="http://schemas.openxmlformats.org/drawingml/2006/main">
              <a:ext uri="{FF2B5EF4-FFF2-40B4-BE49-F238E27FC236}">
                <a16:creationId xmlns:a16="http://schemas.microsoft.com/office/drawing/2014/main" id="{68D32743-A066-414E-94E5-9F88EFBE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21945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eakage-cross-2">
            <a:extLst xmlns:a="http://schemas.openxmlformats.org/drawingml/2006/main">
              <a:ext uri="{FF2B5EF4-FFF2-40B4-BE49-F238E27FC236}">
                <a16:creationId xmlns:a16="http://schemas.microsoft.com/office/drawing/2014/main" id="{3E0EA02C-E09E-45F9-836C-38032B6D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03860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eakage-cross-3">
            <a:extLst xmlns:a="http://schemas.openxmlformats.org/drawingml/2006/main">
              <a:ext uri="{FF2B5EF4-FFF2-40B4-BE49-F238E27FC236}">
                <a16:creationId xmlns:a16="http://schemas.microsoft.com/office/drawing/2014/main" id="{5DB6698F-F257-4F9A-A257-72192C6D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5775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02-leakage-crossing patient IDs-value">
            <a:extLst xmlns:a="http://schemas.openxmlformats.org/drawingml/2006/main">
              <a:ext uri="{FF2B5EF4-FFF2-40B4-BE49-F238E27FC236}">
                <a16:creationId xmlns:a16="http://schemas.microsoft.com/office/drawing/2014/main" id="{2C42D761-5FB6-4E79-96C7-1FAE537B5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247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B54E36"/>
                </a:solidFill>
              </a:defRPr>
            </a:pPr>
            <a:r>
              <a:rPr sz="3375" b="1" i="0">
                <a:solidFill>
                  <a:srgbClr val="B54E36"/>
                </a:solidFill>
              </a:rPr>
              <a:t>3</a:t>
            </a:r>
          </a:p>
        </p:txBody>
      </p:sp>
      <p:sp>
        <p:nvSpPr>
          <p:cNvPr id="14" name="s02-leakage-crossing patient IDs-label">
            <a:extLst xmlns:a="http://schemas.openxmlformats.org/drawingml/2006/main">
              <a:ext uri="{FF2B5EF4-FFF2-40B4-BE49-F238E27FC236}">
                <a16:creationId xmlns:a16="http://schemas.microsoft.com/office/drawing/2014/main" id="{044E5432-2984-47A3-B10C-4EE6079D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33375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6706B"/>
                </a:solidFill>
              </a:defRPr>
            </a:pPr>
            <a:r>
              <a:rPr sz="1125" b="1" i="0">
                <a:solidFill>
                  <a:srgbClr val="66706B"/>
                </a:solidFill>
              </a:rPr>
              <a:t>crossing patient IDs</a:t>
            </a:r>
          </a:p>
        </p:txBody>
      </p:sp>
      <p:sp>
        <p:nvSpPr>
          <p:cNvPr id="15" name="s02-leakage-cross-boundary rows-value">
            <a:extLst xmlns:a="http://schemas.openxmlformats.org/drawingml/2006/main">
              <a:ext uri="{FF2B5EF4-FFF2-40B4-BE49-F238E27FC236}">
                <a16:creationId xmlns:a16="http://schemas.microsoft.com/office/drawing/2014/main" id="{71F77780-349A-4794-B500-B26B327B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71950"/>
            <a:ext cx="2476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B54E36"/>
                </a:solidFill>
              </a:defRPr>
            </a:pPr>
            <a:r>
              <a:rPr sz="3375" b="1" i="0">
                <a:solidFill>
                  <a:srgbClr val="B54E36"/>
                </a:solidFill>
              </a:rPr>
              <a:t>13</a:t>
            </a:r>
          </a:p>
        </p:txBody>
      </p:sp>
      <p:sp>
        <p:nvSpPr>
          <p:cNvPr id="16" name="s02-leakage-cross-boundary rows-label">
            <a:extLst xmlns:a="http://schemas.openxmlformats.org/drawingml/2006/main">
              <a:ext uri="{FF2B5EF4-FFF2-40B4-BE49-F238E27FC236}">
                <a16:creationId xmlns:a16="http://schemas.microsoft.com/office/drawing/2014/main" id="{B0595D45-D9BB-4477-B1FF-824E6AE0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6706B"/>
                </a:solidFill>
              </a:defRPr>
            </a:pPr>
            <a:r>
              <a:rPr sz="1125" b="1" i="0">
                <a:solidFill>
                  <a:srgbClr val="66706B"/>
                </a:solidFill>
              </a:rPr>
              <a:t>cross-boundary rows</a:t>
            </a:r>
          </a:p>
        </p:txBody>
      </p:sp>
      <p:sp>
        <p:nvSpPr>
          <p:cNvPr id="17" name="s02-leakage-bullet-0">
            <a:extLst xmlns:a="http://schemas.openxmlformats.org/drawingml/2006/main">
              <a:ext uri="{FF2B5EF4-FFF2-40B4-BE49-F238E27FC236}">
                <a16:creationId xmlns:a16="http://schemas.microsoft.com/office/drawing/2014/main" id="{6DB1967A-55BA-4BFE-9842-276B0B9BE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8670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02-leakage-body-0">
            <a:extLst xmlns:a="http://schemas.openxmlformats.org/drawingml/2006/main">
              <a:ext uri="{FF2B5EF4-FFF2-40B4-BE49-F238E27FC236}">
                <a16:creationId xmlns:a16="http://schemas.microsoft.com/office/drawing/2014/main" id="{1E44EAE6-D645-436F-B2A5-F55C5626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781300"/>
            <a:ext cx="607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D211F"/>
                </a:solidFill>
              </a:defRPr>
            </a:pPr>
            <a:r>
              <a:rPr sz="1350" b="0" i="0">
                <a:solidFill>
                  <a:srgbClr val="1D211F"/>
                </a:solidFill>
              </a:rPr>
              <a:t>Patient overlap violates independent patient-level interpretation.</a:t>
            </a:r>
          </a:p>
        </p:txBody>
      </p:sp>
      <p:sp>
        <p:nvSpPr>
          <p:cNvPr id="19" name="s02-leakage-bullet-1">
            <a:extLst xmlns:a="http://schemas.openxmlformats.org/drawingml/2006/main">
              <a:ext uri="{FF2B5EF4-FFF2-40B4-BE49-F238E27FC236}">
                <a16:creationId xmlns:a16="http://schemas.microsoft.com/office/drawing/2014/main" id="{A8CD78E5-EA2F-408C-9D45-89FF4502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718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02-leakage-body-1">
            <a:extLst xmlns:a="http://schemas.openxmlformats.org/drawingml/2006/main">
              <a:ext uri="{FF2B5EF4-FFF2-40B4-BE49-F238E27FC236}">
                <a16:creationId xmlns:a16="http://schemas.microsoft.com/office/drawing/2014/main" id="{4B7C128A-F24D-464D-B3DE-8F13B103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486150"/>
            <a:ext cx="607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D211F"/>
                </a:solidFill>
              </a:defRPr>
            </a:pPr>
            <a:r>
              <a:rPr sz="1350" b="0" i="0">
                <a:solidFill>
                  <a:srgbClr val="1D211F"/>
                </a:solidFill>
              </a:rPr>
              <a:t>Old test-v2 values remain visible only as contamination-aware history.</a:t>
            </a:r>
          </a:p>
        </p:txBody>
      </p:sp>
      <p:sp>
        <p:nvSpPr>
          <p:cNvPr id="21" name="s02-leakage-bullet-2">
            <a:extLst xmlns:a="http://schemas.openxmlformats.org/drawingml/2006/main">
              <a:ext uri="{FF2B5EF4-FFF2-40B4-BE49-F238E27FC236}">
                <a16:creationId xmlns:a16="http://schemas.microsoft.com/office/drawing/2014/main" id="{A3609BF5-70C2-4B6C-A609-A890E679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767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02-leakage-body-2">
            <a:extLst xmlns:a="http://schemas.openxmlformats.org/drawingml/2006/main">
              <a:ext uri="{FF2B5EF4-FFF2-40B4-BE49-F238E27FC236}">
                <a16:creationId xmlns:a16="http://schemas.microsoft.com/office/drawing/2014/main" id="{23BC7BE7-B271-4CF7-9D73-C637E93E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191000"/>
            <a:ext cx="6076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D211F"/>
                </a:solidFill>
              </a:defRPr>
            </a:pPr>
            <a:r>
              <a:rPr sz="1350" b="0" i="0">
                <a:solidFill>
                  <a:srgbClr val="1D211F"/>
                </a:solidFill>
              </a:rPr>
              <a:t>The repair starts with identity groups, not model tuning.</a:t>
            </a:r>
          </a:p>
        </p:txBody>
      </p:sp>
    </p:spTree>
    <p:extLst>
      <p:ext uri="{BB962C8B-B14F-4D97-AF65-F5344CB8AC3E}">
        <p14:creationId xmlns:p14="http://schemas.microsoft.com/office/powerpoint/2010/main" val="2411880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op-rule-3">
            <a:extLst xmlns:a="http://schemas.openxmlformats.org/drawingml/2006/main">
              <a:ext uri="{FF2B5EF4-FFF2-40B4-BE49-F238E27FC236}">
                <a16:creationId xmlns:a16="http://schemas.microsoft.com/office/drawing/2014/main" id="{877D8357-FD71-44C9-9A5A-0FBAB320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2199DE97-8170-4A67-A566-6C48D5A74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BOUNDED RESEARCH QUESTIONS</a:t>
            </a:r>
          </a:p>
        </p:txBody>
      </p:sp>
      <p:sp>
        <p:nvSpPr>
          <p:cNvPr id="3" name="slide-title-3">
            <a:extLst xmlns:a="http://schemas.openxmlformats.org/drawingml/2006/main">
              <a:ext uri="{FF2B5EF4-FFF2-40B4-BE49-F238E27FC236}">
                <a16:creationId xmlns:a16="http://schemas.microsoft.com/office/drawing/2014/main" id="{8E30C2BE-65EB-4E76-8D0C-2A4C69FC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Two hypotheses, two evidence classes</a:t>
            </a:r>
          </a:p>
        </p:txBody>
      </p:sp>
      <p:sp>
        <p:nvSpPr>
          <p:cNvPr id="4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2196693-737B-4869-8C88-0281E1A19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3">
            <a:extLst xmlns:a="http://schemas.openxmlformats.org/drawingml/2006/main">
              <a:ext uri="{FF2B5EF4-FFF2-40B4-BE49-F238E27FC236}">
                <a16:creationId xmlns:a16="http://schemas.microsoft.com/office/drawing/2014/main" id="{34C3DCCD-4D4E-4226-9686-74CCA8EE2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adaptive development-validation + train_screen</a:t>
            </a:r>
          </a:p>
        </p:txBody>
      </p:sp>
      <p:sp>
        <p:nvSpPr>
          <p:cNvPr id="6" name="page-3">
            <a:extLst xmlns:a="http://schemas.openxmlformats.org/drawingml/2006/main">
              <a:ext uri="{FF2B5EF4-FFF2-40B4-BE49-F238E27FC236}">
                <a16:creationId xmlns:a16="http://schemas.microsoft.com/office/drawing/2014/main" id="{2AEB549A-D83E-443B-AE65-AB5F3831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03</a:t>
            </a:r>
          </a:p>
        </p:txBody>
      </p:sp>
      <p:sp>
        <p:nvSpPr>
          <p:cNvPr id="7" name="s03-questions-claim-mark">
            <a:extLst xmlns:a="http://schemas.openxmlformats.org/drawingml/2006/main">
              <a:ext uri="{FF2B5EF4-FFF2-40B4-BE49-F238E27FC236}">
                <a16:creationId xmlns:a16="http://schemas.microsoft.com/office/drawing/2014/main" id="{B62E3CE9-EE6E-4378-8DC1-006CC39F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3-questions-claim">
            <a:extLst xmlns:a="http://schemas.openxmlformats.org/drawingml/2006/main">
              <a:ext uri="{FF2B5EF4-FFF2-40B4-BE49-F238E27FC236}">
                <a16:creationId xmlns:a16="http://schemas.microsoft.com/office/drawing/2014/main" id="{310DBD25-37E5-4A4E-B139-6557E7F6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The architecture comparison and the contour-channel ablation answer different questions and must not be collapsed into one ranking.</a:t>
            </a:r>
          </a:p>
        </p:txBody>
      </p:sp>
      <p:sp>
        <p:nvSpPr>
          <p:cNvPr id="9" name="question-divider">
            <a:extLst xmlns:a="http://schemas.openxmlformats.org/drawingml/2006/main">
              <a:ext uri="{FF2B5EF4-FFF2-40B4-BE49-F238E27FC236}">
                <a16:creationId xmlns:a16="http://schemas.microsoft.com/office/drawing/2014/main" id="{ED50DE34-A1C0-4DD3-8248-611D088B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724150"/>
            <a:ext cx="190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q1-label">
            <a:extLst xmlns:a="http://schemas.openxmlformats.org/drawingml/2006/main">
              <a:ext uri="{FF2B5EF4-FFF2-40B4-BE49-F238E27FC236}">
                <a16:creationId xmlns:a16="http://schemas.microsoft.com/office/drawing/2014/main" id="{8DB967C6-4994-4403-B4C1-790048D2B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177D76"/>
                </a:solidFill>
              </a:defRPr>
            </a:pPr>
            <a:r>
              <a:rPr sz="2850" b="1" i="0">
                <a:solidFill>
                  <a:srgbClr val="177D76"/>
                </a:solidFill>
              </a:rPr>
              <a:t>RQ1</a:t>
            </a:r>
          </a:p>
        </p:txBody>
      </p:sp>
      <p:sp>
        <p:nvSpPr>
          <p:cNvPr id="11" name="rq1-question">
            <a:extLst xmlns:a="http://schemas.openxmlformats.org/drawingml/2006/main">
              <a:ext uri="{FF2B5EF4-FFF2-40B4-BE49-F238E27FC236}">
                <a16:creationId xmlns:a16="http://schemas.microsoft.com/office/drawing/2014/main" id="{0A159E58-64E9-4DCC-8062-6D10F969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How do complete MiT-B3 and nnU-Net systems trade overlap, boundary quality, precision, and recall?</a:t>
            </a:r>
          </a:p>
        </p:txBody>
      </p:sp>
      <p:sp>
        <p:nvSpPr>
          <p:cNvPr id="12" name="rq1-contract">
            <a:extLst xmlns:a="http://schemas.openxmlformats.org/drawingml/2006/main">
              <a:ext uri="{FF2B5EF4-FFF2-40B4-BE49-F238E27FC236}">
                <a16:creationId xmlns:a16="http://schemas.microsoft.com/office/drawing/2014/main" id="{9821A375-BEA0-481C-AFFC-FE11A80E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System comparison</a:t>
            </a:r>
          </a:p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Single recorded run</a:t>
            </a:r>
          </a:p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Descriptive inference</a:t>
            </a:r>
          </a:p>
        </p:txBody>
      </p:sp>
      <p:sp>
        <p:nvSpPr>
          <p:cNvPr id="13" name="rq2-label">
            <a:extLst xmlns:a="http://schemas.openxmlformats.org/drawingml/2006/main">
              <a:ext uri="{FF2B5EF4-FFF2-40B4-BE49-F238E27FC236}">
                <a16:creationId xmlns:a16="http://schemas.microsoft.com/office/drawing/2014/main" id="{FB6B7CF6-2B6F-4585-AE18-E5D3E2CF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81300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B54E36"/>
                </a:solidFill>
              </a:defRPr>
            </a:pPr>
            <a:r>
              <a:rPr sz="2850" b="1" i="0">
                <a:solidFill>
                  <a:srgbClr val="B54E36"/>
                </a:solidFill>
              </a:rPr>
              <a:t>RQ2</a:t>
            </a:r>
          </a:p>
        </p:txBody>
      </p:sp>
      <p:sp>
        <p:nvSpPr>
          <p:cNvPr id="14" name="rq2-question">
            <a:extLst xmlns:a="http://schemas.openxmlformats.org/drawingml/2006/main">
              <a:ext uri="{FF2B5EF4-FFF2-40B4-BE49-F238E27FC236}">
                <a16:creationId xmlns:a16="http://schemas.microsoft.com/office/drawing/2014/main" id="{4EE6F65E-5006-431D-BB12-EFEDB05A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37185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Does a saliency-constrained contour channel improve a matched MiT-B3 control?</a:t>
            </a:r>
          </a:p>
        </p:txBody>
      </p:sp>
      <p:sp>
        <p:nvSpPr>
          <p:cNvPr id="15" name="rq2-contract">
            <a:extLst xmlns:a="http://schemas.openxmlformats.org/drawingml/2006/main">
              <a:ext uri="{FF2B5EF4-FFF2-40B4-BE49-F238E27FC236}">
                <a16:creationId xmlns:a16="http://schemas.microsoft.com/office/drawing/2014/main" id="{4DF8CA76-AB64-4E8F-8CAC-108FA90E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9585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Matched intervention</a:t>
            </a:r>
          </a:p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Three selected seeds</a:t>
            </a:r>
          </a:p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Conditional paired inference</a:t>
            </a:r>
          </a:p>
        </p:txBody>
      </p:sp>
    </p:spTree>
    <p:extLst>
      <p:ext uri="{BB962C8B-B14F-4D97-AF65-F5344CB8AC3E}">
        <p14:creationId xmlns:p14="http://schemas.microsoft.com/office/powerpoint/2010/main" val="3268210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top-rule-4">
            <a:extLst xmlns:a="http://schemas.openxmlformats.org/drawingml/2006/main">
              <a:ext uri="{FF2B5EF4-FFF2-40B4-BE49-F238E27FC236}">
                <a16:creationId xmlns:a16="http://schemas.microsoft.com/office/drawing/2014/main" id="{F844924F-EB6C-49A2-BB42-0B86C8712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6B09B7F6-FB51-4526-846B-95051BDB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CLICK A MODULE TO INSPECT IT</a:t>
            </a:r>
          </a:p>
        </p:txBody>
      </p:sp>
      <p:sp>
        <p:nvSpPr>
          <p:cNvPr id="3" name="slide-title-4">
            <a:extLst xmlns:a="http://schemas.openxmlformats.org/drawingml/2006/main">
              <a:ext uri="{FF2B5EF4-FFF2-40B4-BE49-F238E27FC236}">
                <a16:creationId xmlns:a16="http://schemas.microsoft.com/office/drawing/2014/main" id="{967774F5-A945-44E2-AAFD-521E34ADF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The claim can only be as strong as its weakest evidence boundary</a:t>
            </a:r>
          </a:p>
        </p:txBody>
      </p:sp>
      <p:sp>
        <p:nvSpPr>
          <p:cNvPr id="4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4227CC40-D51F-4646-AE99-F95F052F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4">
            <a:extLst xmlns:a="http://schemas.openxmlformats.org/drawingml/2006/main">
              <a:ext uri="{FF2B5EF4-FFF2-40B4-BE49-F238E27FC236}">
                <a16:creationId xmlns:a16="http://schemas.microsoft.com/office/drawing/2014/main" id="{6E5EA464-1CAF-4F22-B1B3-11210F6FE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interactive evidence pipeline</a:t>
            </a:r>
          </a:p>
        </p:txBody>
      </p:sp>
      <p:sp>
        <p:nvSpPr>
          <p:cNvPr id="6" name="page-4">
            <a:extLst xmlns:a="http://schemas.openxmlformats.org/drawingml/2006/main">
              <a:ext uri="{FF2B5EF4-FFF2-40B4-BE49-F238E27FC236}">
                <a16:creationId xmlns:a16="http://schemas.microsoft.com/office/drawing/2014/main" id="{EC363936-B736-4144-A2EE-23AEA7B8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04</a:t>
            </a:r>
          </a:p>
        </p:txBody>
      </p:sp>
      <p:sp>
        <p:nvSpPr>
          <p:cNvPr id="7" name="s04-pipeline-claim-mark">
            <a:extLst xmlns:a="http://schemas.openxmlformats.org/drawingml/2006/main">
              <a:ext uri="{FF2B5EF4-FFF2-40B4-BE49-F238E27FC236}">
                <a16:creationId xmlns:a16="http://schemas.microsoft.com/office/drawing/2014/main" id="{F155BD79-0491-4EC7-AFE1-A21DB9C5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4-pipeline-claim">
            <a:extLst xmlns:a="http://schemas.openxmlformats.org/drawingml/2006/main">
              <a:ext uri="{FF2B5EF4-FFF2-40B4-BE49-F238E27FC236}">
                <a16:creationId xmlns:a16="http://schemas.microsoft.com/office/drawing/2014/main" id="{D7EFBAC8-D5C2-4B30-BA15-1E9E625B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Every model output passes through data, protocol, metric, and claim gates before it reaches the paper or demo.</a:t>
            </a:r>
          </a:p>
        </p:txBody>
      </p:sp>
      <p:sp>
        <p:nvSpPr>
          <p:cNvPr id="9" name="pipeline-edge-0">
            <a:extLst xmlns:a="http://schemas.openxmlformats.org/drawingml/2006/main">
              <a:ext uri="{FF2B5EF4-FFF2-40B4-BE49-F238E27FC236}">
                <a16:creationId xmlns:a16="http://schemas.microsoft.com/office/drawing/2014/main" id="{3C4E5506-DAB0-42B9-BB27-7E688732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7528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pipeline-edge-1">
            <a:extLst xmlns:a="http://schemas.openxmlformats.org/drawingml/2006/main">
              <a:ext uri="{FF2B5EF4-FFF2-40B4-BE49-F238E27FC236}">
                <a16:creationId xmlns:a16="http://schemas.microsoft.com/office/drawing/2014/main" id="{E564C244-EF7D-4DF5-9B2B-97901B469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7528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ipeline-edge-2">
            <a:extLst xmlns:a="http://schemas.openxmlformats.org/drawingml/2006/main">
              <a:ext uri="{FF2B5EF4-FFF2-40B4-BE49-F238E27FC236}">
                <a16:creationId xmlns:a16="http://schemas.microsoft.com/office/drawing/2014/main" id="{F8B4A8A8-06DD-4DC2-B4A5-42AFD1F2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7528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ipeline-edge-3">
            <a:extLst xmlns:a="http://schemas.openxmlformats.org/drawingml/2006/main">
              <a:ext uri="{FF2B5EF4-FFF2-40B4-BE49-F238E27FC236}">
                <a16:creationId xmlns:a16="http://schemas.microsoft.com/office/drawing/2014/main" id="{0C009200-AA49-4EAD-9B02-23E5AC49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7528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ipeline-edge-4">
            <a:extLst xmlns:a="http://schemas.openxmlformats.org/drawingml/2006/main">
              <a:ext uri="{FF2B5EF4-FFF2-40B4-BE49-F238E27FC236}">
                <a16:creationId xmlns:a16="http://schemas.microsoft.com/office/drawing/2014/main" id="{B2B16FDD-BDCB-44F4-9955-3938D045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752850"/>
            <a:ext cx="2476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ipeline-node-0">
            <a:extLst xmlns:a="http://schemas.openxmlformats.org/drawingml/2006/main">
              <a:ext uri="{FF2B5EF4-FFF2-40B4-BE49-F238E27FC236}">
                <a16:creationId xmlns:a16="http://schemas.microsoft.com/office/drawing/2014/main" id="{21E2F864-EB32-4948-B5E1-8519E017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6E7E1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15" name="pipeline-number-0">
            <a:extLst xmlns:a="http://schemas.openxmlformats.org/drawingml/2006/main">
              <a:ext uri="{FF2B5EF4-FFF2-40B4-BE49-F238E27FC236}">
                <a16:creationId xmlns:a16="http://schemas.microsoft.com/office/drawing/2014/main" id="{D64EDFBE-484A-4D91-9137-DD057101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01</a:t>
            </a:r>
          </a:p>
        </p:txBody>
      </p:sp>
      <p:sp>
        <p:nvSpPr>
          <p:cNvPr id="16" name="pipeline-label-0">
            <a:extLst xmlns:a="http://schemas.openxmlformats.org/drawingml/2006/main">
              <a:ext uri="{FF2B5EF4-FFF2-40B4-BE49-F238E27FC236}">
                <a16:creationId xmlns:a16="http://schemas.microsoft.com/office/drawing/2014/main" id="{85B4E83F-C3BD-490D-9B86-B666AFE30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D211F"/>
                </a:solidFill>
              </a:defRPr>
            </a:pPr>
            <a:r>
              <a:rPr sz="1200" b="1" i="0">
                <a:solidFill>
                  <a:srgbClr val="1D211F"/>
                </a:solidFill>
              </a:rPr>
              <a:t>Data Audit</a:t>
            </a:r>
          </a:p>
        </p:txBody>
      </p:sp>
      <p:sp>
        <p:nvSpPr>
          <p:cNvPr id="17" name="pipeline-node-1">
            <a:extLst xmlns:a="http://schemas.openxmlformats.org/drawingml/2006/main">
              <a:ext uri="{FF2B5EF4-FFF2-40B4-BE49-F238E27FC236}">
                <a16:creationId xmlns:a16="http://schemas.microsoft.com/office/drawing/2014/main" id="{6296BAD4-7F5B-46DA-BECD-DDFFCFA58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8C39D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18" name="pipeline-number-1">
            <a:extLst xmlns:a="http://schemas.openxmlformats.org/drawingml/2006/main">
              <a:ext uri="{FF2B5EF4-FFF2-40B4-BE49-F238E27FC236}">
                <a16:creationId xmlns:a16="http://schemas.microsoft.com/office/drawing/2014/main" id="{D2FD6908-C19D-40B8-BDB4-8C1557DD0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02</a:t>
            </a:r>
          </a:p>
        </p:txBody>
      </p:sp>
      <p:sp>
        <p:nvSpPr>
          <p:cNvPr id="19" name="pipeline-label-1">
            <a:extLst xmlns:a="http://schemas.openxmlformats.org/drawingml/2006/main">
              <a:ext uri="{FF2B5EF4-FFF2-40B4-BE49-F238E27FC236}">
                <a16:creationId xmlns:a16="http://schemas.microsoft.com/office/drawing/2014/main" id="{2B105B99-09A5-45FC-B9A9-B5042434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D211F"/>
                </a:solidFill>
              </a:defRPr>
            </a:pPr>
            <a:r>
              <a:rPr sz="1200" b="1" i="0">
                <a:solidFill>
                  <a:srgbClr val="1D211F"/>
                </a:solidFill>
              </a:rPr>
              <a:t>Preprocessing</a:t>
            </a:r>
          </a:p>
        </p:txBody>
      </p:sp>
      <p:sp>
        <p:nvSpPr>
          <p:cNvPr id="20" name="pipeline-node-2">
            <a:extLst xmlns:a="http://schemas.openxmlformats.org/drawingml/2006/main">
              <a:ext uri="{FF2B5EF4-FFF2-40B4-BE49-F238E27FC236}">
                <a16:creationId xmlns:a16="http://schemas.microsoft.com/office/drawing/2014/main" id="{F6EBC112-83F0-4EE9-B102-989548DBF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1D211F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21" name="pipeline-number-2">
            <a:extLst xmlns:a="http://schemas.openxmlformats.org/drawingml/2006/main">
              <a:ext uri="{FF2B5EF4-FFF2-40B4-BE49-F238E27FC236}">
                <a16:creationId xmlns:a16="http://schemas.microsoft.com/office/drawing/2014/main" id="{7DD47A05-23B7-4622-B1EE-890E2F12B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8C39D"/>
                </a:solidFill>
              </a:defRPr>
            </a:pPr>
            <a:r>
              <a:rPr sz="1050" b="1" i="0">
                <a:solidFill>
                  <a:srgbClr val="D8C39D"/>
                </a:solidFill>
              </a:rPr>
              <a:t>03</a:t>
            </a:r>
          </a:p>
        </p:txBody>
      </p:sp>
      <p:sp>
        <p:nvSpPr>
          <p:cNvPr id="22" name="pipeline-label-2">
            <a:extLst xmlns:a="http://schemas.openxmlformats.org/drawingml/2006/main">
              <a:ext uri="{FF2B5EF4-FFF2-40B4-BE49-F238E27FC236}">
                <a16:creationId xmlns:a16="http://schemas.microsoft.com/office/drawing/2014/main" id="{105BC9C4-966E-4E88-8CB1-28CF091A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4EFE4"/>
                </a:solidFill>
              </a:defRPr>
            </a:pPr>
            <a:r>
              <a:rPr sz="1200" b="1" i="0">
                <a:solidFill>
                  <a:srgbClr val="F4EFE4"/>
                </a:solidFill>
              </a:rPr>
              <a:t>Models</a:t>
            </a:r>
          </a:p>
        </p:txBody>
      </p:sp>
      <p:sp>
        <p:nvSpPr>
          <p:cNvPr id="23" name="pipeline-node-3">
            <a:extLst xmlns:a="http://schemas.openxmlformats.org/drawingml/2006/main">
              <a:ext uri="{FF2B5EF4-FFF2-40B4-BE49-F238E27FC236}">
                <a16:creationId xmlns:a16="http://schemas.microsoft.com/office/drawing/2014/main" id="{E743D5F7-CC54-44FF-8566-FB4CB17B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6E7E1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24" name="pipeline-number-3">
            <a:extLst xmlns:a="http://schemas.openxmlformats.org/drawingml/2006/main">
              <a:ext uri="{FF2B5EF4-FFF2-40B4-BE49-F238E27FC236}">
                <a16:creationId xmlns:a16="http://schemas.microsoft.com/office/drawing/2014/main" id="{4EA91954-87A7-4992-940D-97DF57280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04</a:t>
            </a:r>
          </a:p>
        </p:txBody>
      </p:sp>
      <p:sp>
        <p:nvSpPr>
          <p:cNvPr id="25" name="pipeline-label-3">
            <a:extLst xmlns:a="http://schemas.openxmlformats.org/drawingml/2006/main">
              <a:ext uri="{FF2B5EF4-FFF2-40B4-BE49-F238E27FC236}">
                <a16:creationId xmlns:a16="http://schemas.microsoft.com/office/drawing/2014/main" id="{1F68DA70-8931-4DA6-9955-4F38B840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D211F"/>
                </a:solidFill>
              </a:defRPr>
            </a:pPr>
            <a:r>
              <a:rPr sz="1200" b="1" i="0">
                <a:solidFill>
                  <a:srgbClr val="1D211F"/>
                </a:solidFill>
              </a:rPr>
              <a:t>Robust Evaluation</a:t>
            </a:r>
          </a:p>
        </p:txBody>
      </p:sp>
      <p:sp>
        <p:nvSpPr>
          <p:cNvPr id="26" name="pipeline-node-4">
            <a:extLst xmlns:a="http://schemas.openxmlformats.org/drawingml/2006/main">
              <a:ext uri="{FF2B5EF4-FFF2-40B4-BE49-F238E27FC236}">
                <a16:creationId xmlns:a16="http://schemas.microsoft.com/office/drawing/2014/main" id="{16C20DD3-B974-4821-AEFE-70FB424AC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AD2C9"/>
          </a:solidFill>
          <a:ln xmlns:a="http://schemas.openxmlformats.org/drawingml/2006/main" w="9525">
            <a:solidFill>
              <a:srgbClr val="B54E36"/>
            </a:solidFill>
            <a:prstDash val="solid"/>
          </a:ln>
        </p:spPr>
      </p:sp>
      <p:sp>
        <p:nvSpPr>
          <p:cNvPr id="27" name="pipeline-number-4">
            <a:extLst xmlns:a="http://schemas.openxmlformats.org/drawingml/2006/main">
              <a:ext uri="{FF2B5EF4-FFF2-40B4-BE49-F238E27FC236}">
                <a16:creationId xmlns:a16="http://schemas.microsoft.com/office/drawing/2014/main" id="{8FACA444-3446-4CE5-9B78-9ABD449C2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05</a:t>
            </a:r>
          </a:p>
        </p:txBody>
      </p:sp>
      <p:sp>
        <p:nvSpPr>
          <p:cNvPr id="28" name="pipeline-label-4">
            <a:extLst xmlns:a="http://schemas.openxmlformats.org/drawingml/2006/main">
              <a:ext uri="{FF2B5EF4-FFF2-40B4-BE49-F238E27FC236}">
                <a16:creationId xmlns:a16="http://schemas.microsoft.com/office/drawing/2014/main" id="{F867076A-0D79-4934-9222-955E3B95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D211F"/>
                </a:solidFill>
              </a:defRPr>
            </a:pPr>
            <a:r>
              <a:rPr sz="1200" b="1" i="0">
                <a:solidFill>
                  <a:srgbClr val="1D211F"/>
                </a:solidFill>
              </a:rPr>
              <a:t>Loop206 Ablation</a:t>
            </a:r>
          </a:p>
        </p:txBody>
      </p:sp>
      <p:sp>
        <p:nvSpPr>
          <p:cNvPr id="29" name="pipeline-node-5">
            <a:extLst xmlns:a="http://schemas.openxmlformats.org/drawingml/2006/main">
              <a:ext uri="{FF2B5EF4-FFF2-40B4-BE49-F238E27FC236}">
                <a16:creationId xmlns:a16="http://schemas.microsoft.com/office/drawing/2014/main" id="{17977BED-A192-4D4C-928C-4EEF7F722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238500"/>
            <a:ext cx="15621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6E7E1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30" name="pipeline-number-5">
            <a:extLst xmlns:a="http://schemas.openxmlformats.org/drawingml/2006/main">
              <a:ext uri="{FF2B5EF4-FFF2-40B4-BE49-F238E27FC236}">
                <a16:creationId xmlns:a16="http://schemas.microsoft.com/office/drawing/2014/main" id="{39EEA75A-C645-4B45-BECF-05C0D366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371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06</a:t>
            </a:r>
          </a:p>
        </p:txBody>
      </p:sp>
      <p:sp>
        <p:nvSpPr>
          <p:cNvPr id="31" name="pipeline-label-5">
            <a:extLst xmlns:a="http://schemas.openxmlformats.org/drawingml/2006/main">
              <a:ext uri="{FF2B5EF4-FFF2-40B4-BE49-F238E27FC236}">
                <a16:creationId xmlns:a16="http://schemas.microsoft.com/office/drawing/2014/main" id="{D3ED6320-99E7-4086-8EA3-B610C3D8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676650"/>
            <a:ext cx="1295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D211F"/>
                </a:solidFill>
              </a:defRPr>
            </a:pPr>
            <a:r>
              <a:rPr sz="1200" b="1" i="0">
                <a:solidFill>
                  <a:srgbClr val="1D211F"/>
                </a:solidFill>
              </a:rPr>
              <a:t>Evidence-bound Demo</a:t>
            </a:r>
          </a:p>
        </p:txBody>
      </p:sp>
      <p:sp>
        <p:nvSpPr>
          <p:cNvPr id="32" name="pipeline-html-note">
            <a:extLst xmlns:a="http://schemas.openxmlformats.org/drawingml/2006/main">
              <a:ext uri="{FF2B5EF4-FFF2-40B4-BE49-F238E27FC236}">
                <a16:creationId xmlns:a16="http://schemas.microsoft.com/office/drawing/2014/main" id="{D100E363-5DFD-4E29-BBC5-AF065186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6B"/>
                </a:solidFill>
              </a:defRPr>
            </a:pPr>
            <a:r>
              <a:rPr sz="1350" b="0" i="0">
                <a:solidFill>
                  <a:srgbClr val="66706B"/>
                </a:solidFill>
              </a:rPr>
              <a:t>Interactive navigation and smooth transitions are available in the offline HTML edition.</a:t>
            </a:r>
          </a:p>
        </p:txBody>
      </p:sp>
    </p:spTree>
    <p:extLst>
      <p:ext uri="{BB962C8B-B14F-4D97-AF65-F5344CB8AC3E}">
        <p14:creationId xmlns:p14="http://schemas.microsoft.com/office/powerpoint/2010/main" val="21017868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rule-5">
            <a:extLst xmlns:a="http://schemas.openxmlformats.org/drawingml/2006/main">
              <a:ext uri="{FF2B5EF4-FFF2-40B4-BE49-F238E27FC236}">
                <a16:creationId xmlns:a16="http://schemas.microsoft.com/office/drawing/2014/main" id="{2558A388-67A9-43AF-B348-9C9E3968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0B5C2954-F87E-4817-A0F9-429F3D498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MODULE 01 | DATA AUDIT</a:t>
            </a:r>
          </a:p>
        </p:txBody>
      </p:sp>
      <p:sp>
        <p:nvSpPr>
          <p:cNvPr id="3" name="slide-title-5">
            <a:extLst xmlns:a="http://schemas.openxmlformats.org/drawingml/2006/main">
              <a:ext uri="{FF2B5EF4-FFF2-40B4-BE49-F238E27FC236}">
                <a16:creationId xmlns:a16="http://schemas.microsoft.com/office/drawing/2014/main" id="{4EB06D9F-8A61-4566-A76A-B78FFF5D2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Clean-v3 repairs identity leakage before model comparison</a:t>
            </a:r>
          </a:p>
        </p:txBody>
      </p:sp>
      <p:sp>
        <p:nvSpPr>
          <p:cNvPr id="4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DCCDF054-F1ED-4B58-90B4-2764D83B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5">
            <a:extLst xmlns:a="http://schemas.openxmlformats.org/drawingml/2006/main">
              <a:ext uri="{FF2B5EF4-FFF2-40B4-BE49-F238E27FC236}">
                <a16:creationId xmlns:a16="http://schemas.microsoft.com/office/drawing/2014/main" id="{EE2A296B-9B51-4F57-9361-2CE97F64A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dataset audit | protected test sealed</a:t>
            </a:r>
          </a:p>
        </p:txBody>
      </p:sp>
      <p:sp>
        <p:nvSpPr>
          <p:cNvPr id="6" name="page-5">
            <a:extLst xmlns:a="http://schemas.openxmlformats.org/drawingml/2006/main">
              <a:ext uri="{FF2B5EF4-FFF2-40B4-BE49-F238E27FC236}">
                <a16:creationId xmlns:a16="http://schemas.microsoft.com/office/drawing/2014/main" id="{71D1DB12-E2B4-488A-B41E-F47BCED1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05</a:t>
            </a:r>
          </a:p>
        </p:txBody>
      </p:sp>
      <p:sp>
        <p:nvSpPr>
          <p:cNvPr id="7" name="s05-data-claim-mark">
            <a:extLst xmlns:a="http://schemas.openxmlformats.org/drawingml/2006/main">
              <a:ext uri="{FF2B5EF4-FFF2-40B4-BE49-F238E27FC236}">
                <a16:creationId xmlns:a16="http://schemas.microsoft.com/office/drawing/2014/main" id="{22395987-D2FE-4ED6-AC1C-EAEBDBAB3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5-data-claim">
            <a:extLst xmlns:a="http://schemas.openxmlformats.org/drawingml/2006/main">
              <a:ext uri="{FF2B5EF4-FFF2-40B4-BE49-F238E27FC236}">
                <a16:creationId xmlns:a16="http://schemas.microsoft.com/office/drawing/2014/main" id="{5F0A980D-C8BF-46C5-9F9B-FAB1ADA6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The leakage-audited manifest contains 2,869 images with no detected cross-split identity-group overlap.</a:t>
            </a:r>
          </a:p>
        </p:txBody>
      </p:sp>
      <p:sp>
        <p:nvSpPr>
          <p:cNvPr id="9" name="data-total">
            <a:extLst xmlns:a="http://schemas.openxmlformats.org/drawingml/2006/main">
              <a:ext uri="{FF2B5EF4-FFF2-40B4-BE49-F238E27FC236}">
                <a16:creationId xmlns:a16="http://schemas.microsoft.com/office/drawing/2014/main" id="{98687FCA-D424-4E90-84C7-68DCF170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0035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100" b="1" i="0">
                <a:solidFill>
                  <a:srgbClr val="177D76"/>
                </a:solidFill>
              </a:defRPr>
            </a:pPr>
            <a:r>
              <a:rPr sz="5100" b="1" i="0">
                <a:solidFill>
                  <a:srgbClr val="177D76"/>
                </a:solidFill>
              </a:rPr>
              <a:t>2,869</a:t>
            </a:r>
          </a:p>
        </p:txBody>
      </p:sp>
      <p:sp>
        <p:nvSpPr>
          <p:cNvPr id="10" name="data-total-label">
            <a:extLst xmlns:a="http://schemas.openxmlformats.org/drawingml/2006/main">
              <a:ext uri="{FF2B5EF4-FFF2-40B4-BE49-F238E27FC236}">
                <a16:creationId xmlns:a16="http://schemas.microsoft.com/office/drawing/2014/main" id="{46EA7BDA-E68E-4222-B1EB-2BFA1CC91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195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66706B"/>
                </a:solidFill>
              </a:defRPr>
            </a:pPr>
            <a:r>
              <a:rPr sz="1350" b="1" i="0">
                <a:solidFill>
                  <a:srgbClr val="66706B"/>
                </a:solidFill>
              </a:rPr>
              <a:t>leakage-audited images</a:t>
            </a:r>
          </a:p>
        </p:txBody>
      </p:sp>
      <p:sp>
        <p:nvSpPr>
          <p:cNvPr id="11" name="data-train-bar">
            <a:extLst xmlns:a="http://schemas.openxmlformats.org/drawingml/2006/main">
              <a:ext uri="{FF2B5EF4-FFF2-40B4-BE49-F238E27FC236}">
                <a16:creationId xmlns:a16="http://schemas.microsoft.com/office/drawing/2014/main" id="{8925A8BD-5A46-465A-99E1-4F3EFC24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028950"/>
            <a:ext cx="47720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ata-val-bar">
            <a:extLst xmlns:a="http://schemas.openxmlformats.org/drawingml/2006/main">
              <a:ext uri="{FF2B5EF4-FFF2-40B4-BE49-F238E27FC236}">
                <a16:creationId xmlns:a16="http://schemas.microsoft.com/office/drawing/2014/main" id="{B313F34D-7C25-4625-A687-37CC3AED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028950"/>
            <a:ext cx="10287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3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ata-test-bar">
            <a:extLst xmlns:a="http://schemas.openxmlformats.org/drawingml/2006/main">
              <a:ext uri="{FF2B5EF4-FFF2-40B4-BE49-F238E27FC236}">
                <a16:creationId xmlns:a16="http://schemas.microsoft.com/office/drawing/2014/main" id="{1584E11C-D63B-49A5-A74E-D2AC3228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028950"/>
            <a:ext cx="10191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ata-train-label">
            <a:extLst xmlns:a="http://schemas.openxmlformats.org/drawingml/2006/main">
              <a:ext uri="{FF2B5EF4-FFF2-40B4-BE49-F238E27FC236}">
                <a16:creationId xmlns:a16="http://schemas.microsoft.com/office/drawing/2014/main" id="{85658A8A-E963-4A4E-B4BF-771187EE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47720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7D76"/>
                </a:solidFill>
              </a:defRPr>
            </a:pPr>
            <a:r>
              <a:rPr sz="1200" b="1" i="0">
                <a:solidFill>
                  <a:srgbClr val="177D76"/>
                </a:solidFill>
              </a:rPr>
              <a:t>TRAIN</a:t>
            </a:r>
          </a:p>
          <a:p xmlns:a="http://schemas.openxmlformats.org/drawingml/2006/main">
            <a:pPr algn="l">
              <a:defRPr sz="1200" b="1" i="0">
                <a:solidFill>
                  <a:srgbClr val="177D76"/>
                </a:solidFill>
              </a:defRPr>
            </a:pPr>
            <a:r>
              <a:rPr sz="1200" b="1" i="0">
                <a:solidFill>
                  <a:srgbClr val="177D76"/>
                </a:solidFill>
              </a:rPr>
              <a:t>2,008</a:t>
            </a:r>
          </a:p>
        </p:txBody>
      </p:sp>
      <p:sp>
        <p:nvSpPr>
          <p:cNvPr id="15" name="data-val-label">
            <a:extLst xmlns:a="http://schemas.openxmlformats.org/drawingml/2006/main">
              <a:ext uri="{FF2B5EF4-FFF2-40B4-BE49-F238E27FC236}">
                <a16:creationId xmlns:a16="http://schemas.microsoft.com/office/drawing/2014/main" id="{52E379BB-5B6F-42AD-813E-00405E437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3829050"/>
            <a:ext cx="1028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66706B"/>
                </a:solidFill>
              </a:defRPr>
            </a:pPr>
            <a:r>
              <a:rPr sz="1050" b="1" i="0">
                <a:solidFill>
                  <a:srgbClr val="66706B"/>
                </a:solidFill>
              </a:rPr>
              <a:t>ADAPTIVE VALIDATION</a:t>
            </a:r>
          </a:p>
          <a:p xmlns:a="http://schemas.openxmlformats.org/drawingml/2006/main">
            <a:pPr algn="ctr">
              <a:defRPr sz="1050" b="1" i="0">
                <a:solidFill>
                  <a:srgbClr val="66706B"/>
                </a:solidFill>
              </a:defRPr>
            </a:pPr>
            <a:r>
              <a:rPr sz="1050" b="1" i="0">
                <a:solidFill>
                  <a:srgbClr val="66706B"/>
                </a:solidFill>
              </a:rPr>
              <a:t>431</a:t>
            </a:r>
          </a:p>
        </p:txBody>
      </p:sp>
      <p:sp>
        <p:nvSpPr>
          <p:cNvPr id="16" name="data-test-label">
            <a:extLst xmlns:a="http://schemas.openxmlformats.org/drawingml/2006/main">
              <a:ext uri="{FF2B5EF4-FFF2-40B4-BE49-F238E27FC236}">
                <a16:creationId xmlns:a16="http://schemas.microsoft.com/office/drawing/2014/main" id="{7F9E46BA-0FF1-4870-964C-3159B375A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875" y="3829050"/>
            <a:ext cx="10191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SEALED TEST</a:t>
            </a:r>
          </a:p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430</a:t>
            </a:r>
          </a:p>
        </p:txBody>
      </p:sp>
      <p:sp>
        <p:nvSpPr>
          <p:cNvPr id="17" name="data-audit-chain">
            <a:extLst xmlns:a="http://schemas.openxmlformats.org/drawingml/2006/main">
              <a:ext uri="{FF2B5EF4-FFF2-40B4-BE49-F238E27FC236}">
                <a16:creationId xmlns:a16="http://schemas.microsoft.com/office/drawing/2014/main" id="{154713BA-A04C-4C2F-B05A-1772FD5AE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762500"/>
            <a:ext cx="681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D211F"/>
                </a:solidFill>
              </a:defRPr>
            </a:pPr>
            <a:r>
              <a:rPr sz="1125" b="1" i="0">
                <a:solidFill>
                  <a:srgbClr val="1D211F"/>
                </a:solidFill>
              </a:rPr>
              <a:t>IDENTITY  /  EXACT DUPLICATE  /  PERCEPTUAL DUPLICATE  /  SPLIT GROUP</a:t>
            </a:r>
          </a:p>
        </p:txBody>
      </p:sp>
      <p:sp>
        <p:nvSpPr>
          <p:cNvPr id="18" name="data-boundary">
            <a:extLst xmlns:a="http://schemas.openxmlformats.org/drawingml/2006/main">
              <a:ext uri="{FF2B5EF4-FFF2-40B4-BE49-F238E27FC236}">
                <a16:creationId xmlns:a16="http://schemas.microsoft.com/office/drawing/2014/main" id="{3DFC1905-18C0-4EAE-BC87-4F55C647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19700"/>
            <a:ext cx="6819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B54E36"/>
                </a:solidFill>
              </a:defRPr>
            </a:pPr>
            <a:r>
              <a:rPr sz="1350" b="0" i="0">
                <a:solidFill>
                  <a:srgbClr val="B54E36"/>
                </a:solidFill>
              </a:rPr>
              <a:t>Validation was opened adaptively. The 430-row test partition remains sealed.</a:t>
            </a:r>
          </a:p>
        </p:txBody>
      </p:sp>
    </p:spTree>
    <p:extLst>
      <p:ext uri="{BB962C8B-B14F-4D97-AF65-F5344CB8AC3E}">
        <p14:creationId xmlns:p14="http://schemas.microsoft.com/office/powerpoint/2010/main" val="9485910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op-rule-6">
            <a:extLst xmlns:a="http://schemas.openxmlformats.org/drawingml/2006/main">
              <a:ext uri="{FF2B5EF4-FFF2-40B4-BE49-F238E27FC236}">
                <a16:creationId xmlns:a16="http://schemas.microsoft.com/office/drawing/2014/main" id="{ED470742-4DDD-459C-8F47-B02BE8452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7B56FBC3-FB51-4F9B-9FBE-0B7D200B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MODULES 02-03 | PREPROCESSING + MODELS</a:t>
            </a:r>
          </a:p>
        </p:txBody>
      </p:sp>
      <p:sp>
        <p:nvSpPr>
          <p:cNvPr id="3" name="slide-title-6">
            <a:extLst xmlns:a="http://schemas.openxmlformats.org/drawingml/2006/main">
              <a:ext uri="{FF2B5EF4-FFF2-40B4-BE49-F238E27FC236}">
                <a16:creationId xmlns:a16="http://schemas.microsoft.com/office/drawing/2014/main" id="{DD28685F-9789-4C69-91FE-9B6AC70D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 i="0">
                <a:solidFill>
                  <a:srgbClr val="1D211F"/>
                </a:solidFill>
              </a:defRPr>
            </a:pPr>
            <a:r>
              <a:rPr sz="2625" b="1" i="0">
                <a:solidFill>
                  <a:srgbClr val="1D211F"/>
                </a:solidFill>
              </a:rPr>
              <a:t>The comparison is between complete systems, not isolated encoders</a:t>
            </a:r>
          </a:p>
        </p:txBody>
      </p:sp>
      <p:sp>
        <p:nvSpPr>
          <p:cNvPr id="4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98EE32B3-3832-44D8-83BC-F012395EA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6">
            <a:extLst xmlns:a="http://schemas.openxmlformats.org/drawingml/2006/main">
              <a:ext uri="{FF2B5EF4-FFF2-40B4-BE49-F238E27FC236}">
                <a16:creationId xmlns:a16="http://schemas.microsoft.com/office/drawing/2014/main" id="{120CCF6E-95ED-43EB-9D68-3AA107AF1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adaptive development-validation | older geometry contract</a:t>
            </a:r>
          </a:p>
        </p:txBody>
      </p:sp>
      <p:sp>
        <p:nvSpPr>
          <p:cNvPr id="6" name="page-6">
            <a:extLst xmlns:a="http://schemas.openxmlformats.org/drawingml/2006/main">
              <a:ext uri="{FF2B5EF4-FFF2-40B4-BE49-F238E27FC236}">
                <a16:creationId xmlns:a16="http://schemas.microsoft.com/office/drawing/2014/main" id="{FA5F8736-F1F2-4C47-999A-B30A483F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06</a:t>
            </a:r>
          </a:p>
        </p:txBody>
      </p:sp>
      <p:sp>
        <p:nvSpPr>
          <p:cNvPr id="7" name="s06-models-claim-mark">
            <a:extLst xmlns:a="http://schemas.openxmlformats.org/drawingml/2006/main">
              <a:ext uri="{FF2B5EF4-FFF2-40B4-BE49-F238E27FC236}">
                <a16:creationId xmlns:a16="http://schemas.microsoft.com/office/drawing/2014/main" id="{9BF8AEE5-2770-46CC-ADCB-329D1566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240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6-models-claim">
            <a:extLst xmlns:a="http://schemas.openxmlformats.org/drawingml/2006/main">
              <a:ext uri="{FF2B5EF4-FFF2-40B4-BE49-F238E27FC236}">
                <a16:creationId xmlns:a16="http://schemas.microsoft.com/office/drawing/2014/main" id="{5E00A69F-5433-42DB-8061-362587BC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MiT-B3 uses a fixed preprocessing-aware 384x384 pipeline; nnU-Net v2 uses raw RGB and a self-configuring 256x256 system.</a:t>
            </a:r>
          </a:p>
        </p:txBody>
      </p:sp>
      <p:sp>
        <p:nvSpPr>
          <p:cNvPr id="9" name="models-divider">
            <a:extLst xmlns:a="http://schemas.openxmlformats.org/drawingml/2006/main">
              <a:ext uri="{FF2B5EF4-FFF2-40B4-BE49-F238E27FC236}">
                <a16:creationId xmlns:a16="http://schemas.microsoft.com/office/drawing/2014/main" id="{31AAAE27-B67E-49F3-8E67-3389C1661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086100"/>
            <a:ext cx="190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odels-mit-name">
            <a:extLst xmlns:a="http://schemas.openxmlformats.org/drawingml/2006/main">
              <a:ext uri="{FF2B5EF4-FFF2-40B4-BE49-F238E27FC236}">
                <a16:creationId xmlns:a16="http://schemas.microsoft.com/office/drawing/2014/main" id="{1DBE7CA3-1E16-4B7C-9C4C-2BCF10C43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77D76"/>
                </a:solidFill>
              </a:defRPr>
            </a:pPr>
            <a:r>
              <a:rPr sz="2550" b="1" i="0">
                <a:solidFill>
                  <a:srgbClr val="177D76"/>
                </a:solidFill>
              </a:rPr>
              <a:t>MiT-B3 U-Net</a:t>
            </a:r>
          </a:p>
        </p:txBody>
      </p:sp>
      <p:sp>
        <p:nvSpPr>
          <p:cNvPr id="11" name="models-mit-spec">
            <a:extLst xmlns:a="http://schemas.openxmlformats.org/drawingml/2006/main">
              <a:ext uri="{FF2B5EF4-FFF2-40B4-BE49-F238E27FC236}">
                <a16:creationId xmlns:a16="http://schemas.microsoft.com/office/drawing/2014/main" id="{CF1813B4-771F-48D1-B16B-42009B4A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95700"/>
            <a:ext cx="48577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384 × 384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LAB-luminance CLAHE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Percentile stretch + median filter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Fixed preprocessing-aware system</a:t>
            </a:r>
          </a:p>
        </p:txBody>
      </p:sp>
      <p:sp>
        <p:nvSpPr>
          <p:cNvPr id="12" name="models-nnunet-name">
            <a:extLst xmlns:a="http://schemas.openxmlformats.org/drawingml/2006/main">
              <a:ext uri="{FF2B5EF4-FFF2-40B4-BE49-F238E27FC236}">
                <a16:creationId xmlns:a16="http://schemas.microsoft.com/office/drawing/2014/main" id="{B4DC32EE-CBB1-435F-A84C-FA2059A09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28950"/>
            <a:ext cx="476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B54E36"/>
                </a:solidFill>
              </a:defRPr>
            </a:pPr>
            <a:r>
              <a:rPr sz="2550" b="1" i="0">
                <a:solidFill>
                  <a:srgbClr val="B54E36"/>
                </a:solidFill>
              </a:rPr>
              <a:t>nnU-Net v2</a:t>
            </a:r>
          </a:p>
        </p:txBody>
      </p:sp>
      <p:sp>
        <p:nvSpPr>
          <p:cNvPr id="13" name="models-nnunet-spec">
            <a:extLst xmlns:a="http://schemas.openxmlformats.org/drawingml/2006/main">
              <a:ext uri="{FF2B5EF4-FFF2-40B4-BE49-F238E27FC236}">
                <a16:creationId xmlns:a16="http://schemas.microsoft.com/office/drawing/2014/main" id="{51F6DFE9-797E-42E1-A9C8-848D00E0A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85775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256 × 256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Raw RGB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Generated plans</a:t>
            </a:r>
          </a:p>
          <a:p xmlns:a="http://schemas.openxmlformats.org/drawingml/2006/main">
            <a:pPr algn="l">
              <a:defRPr sz="1500" b="0" i="0">
                <a:solidFill>
                  <a:srgbClr val="1D211F"/>
                </a:solidFill>
              </a:defRPr>
            </a:pPr>
            <a:r>
              <a:rPr sz="1500" b="0" i="0">
                <a:solidFill>
                  <a:srgbClr val="1D211F"/>
                </a:solidFill>
              </a:rPr>
              <a:t>Self-configuring 2D system</a:t>
            </a:r>
          </a:p>
        </p:txBody>
      </p:sp>
      <p:sp>
        <p:nvSpPr>
          <p:cNvPr id="14" name="models-caution">
            <a:extLst xmlns:a="http://schemas.openxmlformats.org/drawingml/2006/main">
              <a:ext uri="{FF2B5EF4-FFF2-40B4-BE49-F238E27FC236}">
                <a16:creationId xmlns:a16="http://schemas.microsoft.com/office/drawing/2014/main" id="{6329308F-D9C3-4BF6-9E04-18A277577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10200"/>
            <a:ext cx="10572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models-caution-text">
            <a:extLst xmlns:a="http://schemas.openxmlformats.org/drawingml/2006/main">
              <a:ext uri="{FF2B5EF4-FFF2-40B4-BE49-F238E27FC236}">
                <a16:creationId xmlns:a16="http://schemas.microsoft.com/office/drawing/2014/main" id="{9460C4C5-71A4-40A0-A891-C197CCFD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0248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4EFE4"/>
                </a:solidFill>
              </a:defRPr>
            </a:pPr>
            <a:r>
              <a:rPr sz="1200" b="1" i="0">
                <a:solidFill>
                  <a:srgbClr val="F4EFE4"/>
                </a:solidFill>
              </a:rPr>
              <a:t>Different resolution, decoder, loss, augmentation, and policy: this is not an isolated encoder ablation.</a:t>
            </a:r>
          </a:p>
        </p:txBody>
      </p:sp>
    </p:spTree>
    <p:extLst>
      <p:ext uri="{BB962C8B-B14F-4D97-AF65-F5344CB8AC3E}">
        <p14:creationId xmlns:p14="http://schemas.microsoft.com/office/powerpoint/2010/main" val="18249782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op-rule-7">
            <a:extLst xmlns:a="http://schemas.openxmlformats.org/drawingml/2006/main">
              <a:ext uri="{FF2B5EF4-FFF2-40B4-BE49-F238E27FC236}">
                <a16:creationId xmlns:a16="http://schemas.microsoft.com/office/drawing/2014/main" id="{158F892C-AEC3-48AB-BC41-EB4BE2BD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02CAAB81-3036-4168-88C0-5B9742B2C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MODULE 04 | ROBUST EVALUATION</a:t>
            </a:r>
          </a:p>
        </p:txBody>
      </p:sp>
      <p:sp>
        <p:nvSpPr>
          <p:cNvPr id="3" name="slide-title-7">
            <a:extLst xmlns:a="http://schemas.openxmlformats.org/drawingml/2006/main">
              <a:ext uri="{FF2B5EF4-FFF2-40B4-BE49-F238E27FC236}">
                <a16:creationId xmlns:a16="http://schemas.microsoft.com/office/drawing/2014/main" id="{6B0245F0-1F3E-4FFC-9C0E-949B2428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 i="0">
                <a:solidFill>
                  <a:srgbClr val="1D211F"/>
                </a:solidFill>
              </a:defRPr>
            </a:pPr>
            <a:r>
              <a:rPr sz="2625" b="1" i="0">
                <a:solidFill>
                  <a:srgbClr val="1D211F"/>
                </a:solidFill>
              </a:rPr>
              <a:t>nnU-Net records higher point estimates, not statistical superiority</a:t>
            </a:r>
          </a:p>
        </p:txBody>
      </p:sp>
      <p:sp>
        <p:nvSpPr>
          <p:cNvPr id="4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288AF076-86C2-4A1B-972F-A3866F2A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7">
            <a:extLst xmlns:a="http://schemas.openxmlformats.org/drawingml/2006/main">
              <a:ext uri="{FF2B5EF4-FFF2-40B4-BE49-F238E27FC236}">
                <a16:creationId xmlns:a16="http://schemas.microsoft.com/office/drawing/2014/main" id="{40422B2C-8FBE-4B26-A603-D5ED9C0C2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adaptive development-validation | single run | selection-optimistic</a:t>
            </a:r>
          </a:p>
        </p:txBody>
      </p:sp>
      <p:sp>
        <p:nvSpPr>
          <p:cNvPr id="6" name="page-7">
            <a:extLst xmlns:a="http://schemas.openxmlformats.org/drawingml/2006/main">
              <a:ext uri="{FF2B5EF4-FFF2-40B4-BE49-F238E27FC236}">
                <a16:creationId xmlns:a16="http://schemas.microsoft.com/office/drawing/2014/main" id="{D4344189-9AB1-4148-AB1B-1AC961863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07</a:t>
            </a:r>
          </a:p>
        </p:txBody>
      </p:sp>
      <p:sp>
        <p:nvSpPr>
          <p:cNvPr id="7" name="s07-validation-claim-mark">
            <a:extLst xmlns:a="http://schemas.openxmlformats.org/drawingml/2006/main">
              <a:ext uri="{FF2B5EF4-FFF2-40B4-BE49-F238E27FC236}">
                <a16:creationId xmlns:a16="http://schemas.microsoft.com/office/drawing/2014/main" id="{0E42929D-1283-4365-9A4F-7371B339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240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7-validation-claim">
            <a:extLst xmlns:a="http://schemas.openxmlformats.org/drawingml/2006/main">
              <a:ext uri="{FF2B5EF4-FFF2-40B4-BE49-F238E27FC236}">
                <a16:creationId xmlns:a16="http://schemas.microsoft.com/office/drawing/2014/main" id="{64580F9A-3A67-485F-80C3-7A02E29D9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On adaptive development-validation, nnU-Net v2 has higher robust Dice and boundary F1 point estimates; MiT-B3 retains slightly higher precision.</a:t>
            </a:r>
          </a:p>
        </p:txBody>
      </p:sp>
      <p:sp>
        <p:nvSpPr>
          <p:cNvPr id="9" name="validation-label-0">
            <a:extLst xmlns:a="http://schemas.openxmlformats.org/drawingml/2006/main">
              <a:ext uri="{FF2B5EF4-FFF2-40B4-BE49-F238E27FC236}">
                <a16:creationId xmlns:a16="http://schemas.microsoft.com/office/drawing/2014/main" id="{E64D0292-9B67-4B9D-8AFE-C589C23F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D211F"/>
                </a:solidFill>
              </a:defRPr>
            </a:pPr>
            <a:r>
              <a:rPr sz="1425" b="1" i="0">
                <a:solidFill>
                  <a:srgbClr val="1D211F"/>
                </a:solidFill>
              </a:rPr>
              <a:t>Robust Dice</a:t>
            </a:r>
          </a:p>
        </p:txBody>
      </p:sp>
      <p:sp>
        <p:nvSpPr>
          <p:cNvPr id="10" name="validation-a-value-0">
            <a:extLst xmlns:a="http://schemas.openxmlformats.org/drawingml/2006/main">
              <a:ext uri="{FF2B5EF4-FFF2-40B4-BE49-F238E27FC236}">
                <a16:creationId xmlns:a16="http://schemas.microsoft.com/office/drawing/2014/main" id="{D24C4A43-3F8D-40D7-B6CD-21E972FA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9527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0.8959</a:t>
            </a:r>
          </a:p>
        </p:txBody>
      </p:sp>
      <p:sp>
        <p:nvSpPr>
          <p:cNvPr id="11" name="validation-a-bar-0">
            <a:extLst xmlns:a="http://schemas.openxmlformats.org/drawingml/2006/main">
              <a:ext uri="{FF2B5EF4-FFF2-40B4-BE49-F238E27FC236}">
                <a16:creationId xmlns:a16="http://schemas.microsoft.com/office/drawing/2014/main" id="{438AE2A6-8290-4FD6-923A-D53B6A5B3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048000"/>
            <a:ext cx="44386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validation-b-value-0">
            <a:extLst xmlns:a="http://schemas.openxmlformats.org/drawingml/2006/main">
              <a:ext uri="{FF2B5EF4-FFF2-40B4-BE49-F238E27FC236}">
                <a16:creationId xmlns:a16="http://schemas.microsoft.com/office/drawing/2014/main" id="{194A974D-9746-408D-9D62-0290FE8B7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337185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0.9019</a:t>
            </a:r>
          </a:p>
        </p:txBody>
      </p:sp>
      <p:sp>
        <p:nvSpPr>
          <p:cNvPr id="13" name="validation-b-bar-0">
            <a:extLst xmlns:a="http://schemas.openxmlformats.org/drawingml/2006/main">
              <a:ext uri="{FF2B5EF4-FFF2-40B4-BE49-F238E27FC236}">
                <a16:creationId xmlns:a16="http://schemas.microsoft.com/office/drawing/2014/main" id="{7D493623-6756-4BCF-B35A-15147AA6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467100"/>
            <a:ext cx="44672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validation-label-1">
            <a:extLst xmlns:a="http://schemas.openxmlformats.org/drawingml/2006/main">
              <a:ext uri="{FF2B5EF4-FFF2-40B4-BE49-F238E27FC236}">
                <a16:creationId xmlns:a16="http://schemas.microsoft.com/office/drawing/2014/main" id="{9E4FBE7A-FD3D-4AE8-8DD1-CDBD3E51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D211F"/>
                </a:solidFill>
              </a:defRPr>
            </a:pPr>
            <a:r>
              <a:rPr sz="1425" b="1" i="0">
                <a:solidFill>
                  <a:srgbClr val="1D211F"/>
                </a:solidFill>
              </a:rPr>
              <a:t>Boundary F1</a:t>
            </a:r>
          </a:p>
        </p:txBody>
      </p:sp>
      <p:sp>
        <p:nvSpPr>
          <p:cNvPr id="15" name="validation-a-value-1">
            <a:extLst xmlns:a="http://schemas.openxmlformats.org/drawingml/2006/main">
              <a:ext uri="{FF2B5EF4-FFF2-40B4-BE49-F238E27FC236}">
                <a16:creationId xmlns:a16="http://schemas.microsoft.com/office/drawing/2014/main" id="{216E6432-91FA-4DBB-9F0A-B4E01C94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34340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0.4145</a:t>
            </a:r>
          </a:p>
        </p:txBody>
      </p:sp>
      <p:sp>
        <p:nvSpPr>
          <p:cNvPr id="16" name="validation-a-bar-1">
            <a:extLst xmlns:a="http://schemas.openxmlformats.org/drawingml/2006/main">
              <a:ext uri="{FF2B5EF4-FFF2-40B4-BE49-F238E27FC236}">
                <a16:creationId xmlns:a16="http://schemas.microsoft.com/office/drawing/2014/main" id="{F94220E5-D48B-48B3-B202-B48FDA31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438650"/>
            <a:ext cx="2057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validation-b-value-1">
            <a:extLst xmlns:a="http://schemas.openxmlformats.org/drawingml/2006/main">
              <a:ext uri="{FF2B5EF4-FFF2-40B4-BE49-F238E27FC236}">
                <a16:creationId xmlns:a16="http://schemas.microsoft.com/office/drawing/2014/main" id="{A3FFD999-F840-45C5-8937-F17778E81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762500"/>
            <a:ext cx="904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0.4369</a:t>
            </a:r>
          </a:p>
        </p:txBody>
      </p:sp>
      <p:sp>
        <p:nvSpPr>
          <p:cNvPr id="18" name="validation-b-bar-1">
            <a:extLst xmlns:a="http://schemas.openxmlformats.org/drawingml/2006/main">
              <a:ext uri="{FF2B5EF4-FFF2-40B4-BE49-F238E27FC236}">
                <a16:creationId xmlns:a16="http://schemas.microsoft.com/office/drawing/2014/main" id="{3C5DB701-9F38-48AB-9FDC-373B9CEB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857750"/>
            <a:ext cx="21621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validation-legend">
            <a:extLst xmlns:a="http://schemas.openxmlformats.org/drawingml/2006/main">
              <a:ext uri="{FF2B5EF4-FFF2-40B4-BE49-F238E27FC236}">
                <a16:creationId xmlns:a16="http://schemas.microsoft.com/office/drawing/2014/main" id="{B46C45E5-9F61-4747-946C-B4384D35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578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66706B"/>
                </a:solidFill>
              </a:defRPr>
            </a:pPr>
            <a:r>
              <a:rPr sz="1200" b="1" i="0">
                <a:solidFill>
                  <a:srgbClr val="66706B"/>
                </a:solidFill>
              </a:rPr>
              <a:t>MiT-B3     nnU-Net v2</a:t>
            </a:r>
          </a:p>
        </p:txBody>
      </p:sp>
      <p:sp>
        <p:nvSpPr>
          <p:cNvPr id="20" name="validation-limit">
            <a:extLst xmlns:a="http://schemas.openxmlformats.org/drawingml/2006/main">
              <a:ext uri="{FF2B5EF4-FFF2-40B4-BE49-F238E27FC236}">
                <a16:creationId xmlns:a16="http://schemas.microsoft.com/office/drawing/2014/main" id="{6F29E82F-E564-4701-8384-D1081ED3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028950"/>
            <a:ext cx="200025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B54E36"/>
                </a:solidFill>
              </a:defRPr>
            </a:pPr>
            <a:r>
              <a:rPr sz="1575" b="1" i="0">
                <a:solidFill>
                  <a:srgbClr val="B54E36"/>
                </a:solidFill>
              </a:rPr>
              <a:t>Point estimates only</a:t>
            </a:r>
          </a:p>
          <a:p xmlns:a="http://schemas.openxmlformats.org/drawingml/2006/main">
            <a:pPr algn="l">
              <a:defRPr sz="1575" b="1" i="0">
                <a:solidFill>
                  <a:srgbClr val="B54E36"/>
                </a:solidFill>
              </a:defRPr>
            </a:pPr>
            <a:r>
              <a:rPr sz="1575" b="1" i="0">
                <a:solidFill>
                  <a:srgbClr val="B54E36"/>
                </a:solidFill>
              </a:rPr>
              <a:t>Single recorded run</a:t>
            </a:r>
          </a:p>
          <a:p xmlns:a="http://schemas.openxmlformats.org/drawingml/2006/main">
            <a:pPr algn="l">
              <a:defRPr sz="1575" b="1" i="0">
                <a:solidFill>
                  <a:srgbClr val="B54E36"/>
                </a:solidFill>
              </a:defRPr>
            </a:pPr>
            <a:r>
              <a:rPr sz="1575" b="1" i="0">
                <a:solidFill>
                  <a:srgbClr val="B54E36"/>
                </a:solidFill>
              </a:rPr>
              <a:t>No paired confidence interval</a:t>
            </a:r>
          </a:p>
        </p:txBody>
      </p:sp>
      <p:sp>
        <p:nvSpPr>
          <p:cNvPr id="21" name="validation-precision">
            <a:extLst xmlns:a="http://schemas.openxmlformats.org/drawingml/2006/main">
              <a:ext uri="{FF2B5EF4-FFF2-40B4-BE49-F238E27FC236}">
                <a16:creationId xmlns:a16="http://schemas.microsoft.com/office/drawing/2014/main" id="{F4BBEF83-B7B8-49E0-B444-F52F4D1B9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629150"/>
            <a:ext cx="2000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6706B"/>
                </a:solidFill>
              </a:defRPr>
            </a:pPr>
            <a:r>
              <a:rPr sz="1200" b="0" i="0">
                <a:solidFill>
                  <a:srgbClr val="66706B"/>
                </a:solidFill>
              </a:rPr>
              <a:t>MiT-B3 retains slightly higher precision; metric trade-offs remain material.</a:t>
            </a:r>
          </a:p>
        </p:txBody>
      </p:sp>
    </p:spTree>
    <p:extLst>
      <p:ext uri="{BB962C8B-B14F-4D97-AF65-F5344CB8AC3E}">
        <p14:creationId xmlns:p14="http://schemas.microsoft.com/office/powerpoint/2010/main" val="4313857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op-rule-8">
            <a:extLst xmlns:a="http://schemas.openxmlformats.org/drawingml/2006/main">
              <a:ext uri="{FF2B5EF4-FFF2-40B4-BE49-F238E27FC236}">
                <a16:creationId xmlns:a16="http://schemas.microsoft.com/office/drawing/2014/main" id="{08EB799C-9D9C-4838-8093-EE1B7FD9E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AF007E0C-E344-4F37-8206-6CEB9E5E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54E36"/>
                </a:solidFill>
              </a:defRPr>
            </a:pPr>
            <a:r>
              <a:rPr sz="900" b="1" i="0">
                <a:solidFill>
                  <a:srgbClr val="B54E36"/>
                </a:solidFill>
              </a:rPr>
              <a:t>MODULE 05 | LOOP206 DESIGN</a:t>
            </a:r>
          </a:p>
        </p:txBody>
      </p:sp>
      <p:sp>
        <p:nvSpPr>
          <p:cNvPr id="3" name="slide-title-8">
            <a:extLst xmlns:a="http://schemas.openxmlformats.org/drawingml/2006/main">
              <a:ext uri="{FF2B5EF4-FFF2-40B4-BE49-F238E27FC236}">
                <a16:creationId xmlns:a16="http://schemas.microsoft.com/office/drawing/2014/main" id="{A7941E1C-4EF8-4C2F-A694-9F11C186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Loop206 isolates one intervention: the fourth input channel</a:t>
            </a:r>
          </a:p>
        </p:txBody>
      </p:sp>
      <p:sp>
        <p:nvSpPr>
          <p:cNvPr id="4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B3C44942-4701-4773-B89F-3D9AA37C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8">
            <a:extLst xmlns:a="http://schemas.openxmlformats.org/drawingml/2006/main">
              <a:ext uri="{FF2B5EF4-FFF2-40B4-BE49-F238E27FC236}">
                <a16:creationId xmlns:a16="http://schemas.microsoft.com/office/drawing/2014/main" id="{5FD349F9-D2D5-4E22-AB4A-B345913D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train_screen | three selected seeds | 76 groups</a:t>
            </a:r>
          </a:p>
        </p:txBody>
      </p:sp>
      <p:sp>
        <p:nvSpPr>
          <p:cNvPr id="6" name="page-8">
            <a:extLst xmlns:a="http://schemas.openxmlformats.org/drawingml/2006/main">
              <a:ext uri="{FF2B5EF4-FFF2-40B4-BE49-F238E27FC236}">
                <a16:creationId xmlns:a16="http://schemas.microsoft.com/office/drawing/2014/main" id="{6D447824-6B3B-48A7-9F5D-E306E883F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08</a:t>
            </a:r>
          </a:p>
        </p:txBody>
      </p:sp>
      <p:sp>
        <p:nvSpPr>
          <p:cNvPr id="7" name="s08-ablation-design-claim-mark">
            <a:extLst xmlns:a="http://schemas.openxmlformats.org/drawingml/2006/main">
              <a:ext uri="{FF2B5EF4-FFF2-40B4-BE49-F238E27FC236}">
                <a16:creationId xmlns:a16="http://schemas.microsoft.com/office/drawing/2014/main" id="{41A2233D-FA3A-4315-BD22-A75EE34D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8-ablation-design-claim">
            <a:extLst xmlns:a="http://schemas.openxmlformats.org/drawingml/2006/main">
              <a:ext uri="{FF2B5EF4-FFF2-40B4-BE49-F238E27FC236}">
                <a16:creationId xmlns:a16="http://schemas.microsoft.com/office/drawing/2014/main" id="{4DE5871D-2F30-4299-BF76-CB2F5A79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Control and candidate share architecture, preprocessing, seeds, budget, and loss; only the zero versus contour channel changes.</a:t>
            </a:r>
          </a:p>
        </p:txBody>
      </p:sp>
      <p:sp>
        <p:nvSpPr>
          <p:cNvPr id="9" name="ablation-input-stem">
            <a:extLst xmlns:a="http://schemas.openxmlformats.org/drawingml/2006/main">
              <a:ext uri="{FF2B5EF4-FFF2-40B4-BE49-F238E27FC236}">
                <a16:creationId xmlns:a16="http://schemas.microsoft.com/office/drawing/2014/main" id="{7221374F-02E7-41C5-A1CD-C2B5390F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00400"/>
            <a:ext cx="1381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blation-control-edge">
            <a:extLst xmlns:a="http://schemas.openxmlformats.org/drawingml/2006/main">
              <a:ext uri="{FF2B5EF4-FFF2-40B4-BE49-F238E27FC236}">
                <a16:creationId xmlns:a16="http://schemas.microsoft.com/office/drawing/2014/main" id="{835CE2CF-41DC-48B6-AB3F-3B6CBBFD1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0510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blation-control-out">
            <a:extLst xmlns:a="http://schemas.openxmlformats.org/drawingml/2006/main">
              <a:ext uri="{FF2B5EF4-FFF2-40B4-BE49-F238E27FC236}">
                <a16:creationId xmlns:a16="http://schemas.microsoft.com/office/drawing/2014/main" id="{B11442BB-DDE9-4C06-A40A-DCF1367E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7051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blation-candidate-out">
            <a:extLst xmlns:a="http://schemas.openxmlformats.org/drawingml/2006/main">
              <a:ext uri="{FF2B5EF4-FFF2-40B4-BE49-F238E27FC236}">
                <a16:creationId xmlns:a16="http://schemas.microsoft.com/office/drawing/2014/main" id="{E3CF3F11-F26F-4F0F-9AE4-7382DE0A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733800"/>
            <a:ext cx="1047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ablation-merge-a">
            <a:extLst xmlns:a="http://schemas.openxmlformats.org/drawingml/2006/main">
              <a:ext uri="{FF2B5EF4-FFF2-40B4-BE49-F238E27FC236}">
                <a16:creationId xmlns:a16="http://schemas.microsoft.com/office/drawing/2014/main" id="{B02A1F9E-2A78-4091-A2AA-74AF166B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05100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ablation-merge-b">
            <a:extLst xmlns:a="http://schemas.openxmlformats.org/drawingml/2006/main">
              <a:ext uri="{FF2B5EF4-FFF2-40B4-BE49-F238E27FC236}">
                <a16:creationId xmlns:a16="http://schemas.microsoft.com/office/drawing/2014/main" id="{31799108-FE1D-42FB-8F5F-269F60D15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857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ablation-merge-v">
            <a:extLst xmlns:a="http://schemas.openxmlformats.org/drawingml/2006/main">
              <a:ext uri="{FF2B5EF4-FFF2-40B4-BE49-F238E27FC236}">
                <a16:creationId xmlns:a16="http://schemas.microsoft.com/office/drawing/2014/main" id="{40A80B33-C821-4833-9D95-88BA04F06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705100"/>
            <a:ext cx="381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ablation-merge-out">
            <a:extLst xmlns:a="http://schemas.openxmlformats.org/drawingml/2006/main">
              <a:ext uri="{FF2B5EF4-FFF2-40B4-BE49-F238E27FC236}">
                <a16:creationId xmlns:a16="http://schemas.microsoft.com/office/drawing/2014/main" id="{BAD73F9F-7241-483D-BE8F-03F71867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219450"/>
            <a:ext cx="100012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ablation-input">
            <a:extLst xmlns:a="http://schemas.openxmlformats.org/drawingml/2006/main">
              <a:ext uri="{FF2B5EF4-FFF2-40B4-BE49-F238E27FC236}">
                <a16:creationId xmlns:a16="http://schemas.microsoft.com/office/drawing/2014/main" id="{E821231B-4865-43CF-AAD3-6C979410D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156210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D6E7E1"/>
          </a:solidFill>
          <a:ln xmlns:a="http://schemas.openxmlformats.org/drawingml/2006/main" w="9525">
            <a:solidFill>
              <a:srgbClr val="177D76"/>
            </a:solidFill>
            <a:prstDash val="solid"/>
          </a:ln>
        </p:spPr>
      </p:sp>
      <p:sp>
        <p:nvSpPr>
          <p:cNvPr id="18" name="ablation-input-text">
            <a:extLst xmlns:a="http://schemas.openxmlformats.org/drawingml/2006/main">
              <a:ext uri="{FF2B5EF4-FFF2-40B4-BE49-F238E27FC236}">
                <a16:creationId xmlns:a16="http://schemas.microsoft.com/office/drawing/2014/main" id="{6F6DC7A9-B7AD-48E1-BA5C-D9A92977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121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1D211F"/>
                </a:solidFill>
              </a:defRPr>
            </a:pPr>
            <a:r>
              <a:rPr sz="1275" b="1" i="0">
                <a:solidFill>
                  <a:srgbClr val="1D211F"/>
                </a:solidFill>
              </a:rPr>
              <a:t>SAME INPUT</a:t>
            </a:r>
          </a:p>
          <a:p xmlns:a="http://schemas.openxmlformats.org/drawingml/2006/main">
            <a:pPr algn="ctr">
              <a:defRPr sz="1275" b="1" i="0">
                <a:solidFill>
                  <a:srgbClr val="1D211F"/>
                </a:solidFill>
              </a:defRPr>
            </a:pPr>
            <a:r>
              <a:rPr sz="1275" b="1" i="0">
                <a:solidFill>
                  <a:srgbClr val="1D211F"/>
                </a:solidFill>
              </a:rPr>
              <a:t>SAME SEED</a:t>
            </a:r>
          </a:p>
        </p:txBody>
      </p:sp>
      <p:sp>
        <p:nvSpPr>
          <p:cNvPr id="19" name="ablation-control">
            <a:extLst xmlns:a="http://schemas.openxmlformats.org/drawingml/2006/main">
              <a:ext uri="{FF2B5EF4-FFF2-40B4-BE49-F238E27FC236}">
                <a16:creationId xmlns:a16="http://schemas.microsoft.com/office/drawing/2014/main" id="{FCBA1EE2-DAD7-417C-B81C-4802E4B19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343150"/>
            <a:ext cx="2381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6E7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ablation-control-text">
            <a:extLst xmlns:a="http://schemas.openxmlformats.org/drawingml/2006/main">
              <a:ext uri="{FF2B5EF4-FFF2-40B4-BE49-F238E27FC236}">
                <a16:creationId xmlns:a16="http://schemas.microsoft.com/office/drawing/2014/main" id="{DF5960E9-CFB5-4B8F-8D83-D9B8B031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4765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CONTROL</a:t>
            </a:r>
          </a:p>
          <a:p xmlns:a="http://schemas.openxmlformats.org/drawingml/2006/main">
            <a:pPr algn="ct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zero fourth channel</a:t>
            </a:r>
          </a:p>
        </p:txBody>
      </p:sp>
      <p:sp>
        <p:nvSpPr>
          <p:cNvPr id="21" name="ablation-candidate">
            <a:extLst xmlns:a="http://schemas.openxmlformats.org/drawingml/2006/main">
              <a:ext uri="{FF2B5EF4-FFF2-40B4-BE49-F238E27FC236}">
                <a16:creationId xmlns:a16="http://schemas.microsoft.com/office/drawing/2014/main" id="{92EED6B4-8141-4BFA-A87E-97779862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371850"/>
            <a:ext cx="2381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AD2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ablation-candidate-text">
            <a:extLst xmlns:a="http://schemas.openxmlformats.org/drawingml/2006/main">
              <a:ext uri="{FF2B5EF4-FFF2-40B4-BE49-F238E27FC236}">
                <a16:creationId xmlns:a16="http://schemas.microsoft.com/office/drawing/2014/main" id="{E06E8A42-97D2-467A-B20F-74D5EBB3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505200"/>
            <a:ext cx="2000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CANDIDATE</a:t>
            </a:r>
          </a:p>
          <a:p xmlns:a="http://schemas.openxmlformats.org/drawingml/2006/main">
            <a:pPr algn="ct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contour fourth channel</a:t>
            </a:r>
          </a:p>
        </p:txBody>
      </p:sp>
      <p:sp>
        <p:nvSpPr>
          <p:cNvPr id="23" name="ablation-compare">
            <a:extLst xmlns:a="http://schemas.openxmlformats.org/drawingml/2006/main">
              <a:ext uri="{FF2B5EF4-FFF2-40B4-BE49-F238E27FC236}">
                <a16:creationId xmlns:a16="http://schemas.microsoft.com/office/drawing/2014/main" id="{F2C24C8B-3C0A-4598-A920-EE5B1E7B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81300"/>
            <a:ext cx="31432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1D2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ablation-compare-text">
            <a:extLst xmlns:a="http://schemas.openxmlformats.org/drawingml/2006/main">
              <a:ext uri="{FF2B5EF4-FFF2-40B4-BE49-F238E27FC236}">
                <a16:creationId xmlns:a16="http://schemas.microsoft.com/office/drawing/2014/main" id="{CDAE21E9-2931-4E80-B3CE-780EE000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009900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4EFE4"/>
                </a:solidFill>
              </a:defRPr>
            </a:pPr>
            <a:r>
              <a:rPr sz="1275" b="1" i="0">
                <a:solidFill>
                  <a:srgbClr val="F4EFE4"/>
                </a:solidFill>
              </a:rPr>
              <a:t>PAIRED GROUP BOOTSTRAP</a:t>
            </a:r>
          </a:p>
          <a:p xmlns:a="http://schemas.openxmlformats.org/drawingml/2006/main">
            <a:pPr algn="ctr">
              <a:defRPr sz="1275" b="1" i="0">
                <a:solidFill>
                  <a:srgbClr val="F4EFE4"/>
                </a:solidFill>
              </a:defRPr>
            </a:pPr>
            <a:r>
              <a:rPr sz="1275" b="1" i="0">
                <a:solidFill>
                  <a:srgbClr val="F4EFE4"/>
                </a:solidFill>
              </a:rPr>
              <a:t>seeds + views averaged first</a:t>
            </a:r>
          </a:p>
        </p:txBody>
      </p:sp>
      <p:sp>
        <p:nvSpPr>
          <p:cNvPr id="25" name="s08-ablation-design-fit groups-value">
            <a:extLst xmlns:a="http://schemas.openxmlformats.org/drawingml/2006/main">
              <a:ext uri="{FF2B5EF4-FFF2-40B4-BE49-F238E27FC236}">
                <a16:creationId xmlns:a16="http://schemas.microsoft.com/office/drawing/2014/main" id="{7A7DF987-34FE-4155-A56F-C20CA8F57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29150"/>
            <a:ext cx="190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177D76"/>
                </a:solidFill>
              </a:defRPr>
            </a:pPr>
            <a:r>
              <a:rPr sz="3375" b="1" i="0">
                <a:solidFill>
                  <a:srgbClr val="177D76"/>
                </a:solidFill>
              </a:rPr>
              <a:t>308</a:t>
            </a:r>
          </a:p>
        </p:txBody>
      </p:sp>
      <p:sp>
        <p:nvSpPr>
          <p:cNvPr id="26" name="s08-ablation-design-fit groups-label">
            <a:extLst xmlns:a="http://schemas.openxmlformats.org/drawingml/2006/main">
              <a:ext uri="{FF2B5EF4-FFF2-40B4-BE49-F238E27FC236}">
                <a16:creationId xmlns:a16="http://schemas.microsoft.com/office/drawing/2014/main" id="{FB3075AF-F4A3-45A4-970A-D0F264026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81600"/>
            <a:ext cx="190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6706B"/>
                </a:solidFill>
              </a:defRPr>
            </a:pPr>
            <a:r>
              <a:rPr sz="1125" b="1" i="0">
                <a:solidFill>
                  <a:srgbClr val="66706B"/>
                </a:solidFill>
              </a:rPr>
              <a:t>fit groups</a:t>
            </a:r>
          </a:p>
        </p:txBody>
      </p:sp>
      <p:sp>
        <p:nvSpPr>
          <p:cNvPr id="27" name="s08-ablation-design-holdout groups-value">
            <a:extLst xmlns:a="http://schemas.openxmlformats.org/drawingml/2006/main">
              <a:ext uri="{FF2B5EF4-FFF2-40B4-BE49-F238E27FC236}">
                <a16:creationId xmlns:a16="http://schemas.microsoft.com/office/drawing/2014/main" id="{1A8785AE-E12D-4CCF-B4DE-D146A475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2915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B54E36"/>
                </a:solidFill>
              </a:defRPr>
            </a:pPr>
            <a:r>
              <a:rPr sz="3375" b="1" i="0">
                <a:solidFill>
                  <a:srgbClr val="B54E36"/>
                </a:solidFill>
              </a:rPr>
              <a:t>76</a:t>
            </a:r>
          </a:p>
        </p:txBody>
      </p:sp>
      <p:sp>
        <p:nvSpPr>
          <p:cNvPr id="28" name="s08-ablation-design-holdout groups-label">
            <a:extLst xmlns:a="http://schemas.openxmlformats.org/drawingml/2006/main">
              <a:ext uri="{FF2B5EF4-FFF2-40B4-BE49-F238E27FC236}">
                <a16:creationId xmlns:a16="http://schemas.microsoft.com/office/drawing/2014/main" id="{A732B2FA-4CA9-4FDB-887B-AFB3BC6EA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1816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6706B"/>
                </a:solidFill>
              </a:defRPr>
            </a:pPr>
            <a:r>
              <a:rPr sz="1125" b="1" i="0">
                <a:solidFill>
                  <a:srgbClr val="66706B"/>
                </a:solidFill>
              </a:rPr>
              <a:t>holdout groups</a:t>
            </a:r>
          </a:p>
        </p:txBody>
      </p:sp>
      <p:sp>
        <p:nvSpPr>
          <p:cNvPr id="29" name="s08-ablation-design-paired seeds-value">
            <a:extLst xmlns:a="http://schemas.openxmlformats.org/drawingml/2006/main">
              <a:ext uri="{FF2B5EF4-FFF2-40B4-BE49-F238E27FC236}">
                <a16:creationId xmlns:a16="http://schemas.microsoft.com/office/drawing/2014/main" id="{714A0684-FDC5-4920-908E-074EBC0C6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629150"/>
            <a:ext cx="209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75" b="1" i="0">
                <a:solidFill>
                  <a:srgbClr val="1D211F"/>
                </a:solidFill>
              </a:defRPr>
            </a:pPr>
            <a:r>
              <a:rPr sz="3375" b="1" i="0">
                <a:solidFill>
                  <a:srgbClr val="1D211F"/>
                </a:solidFill>
              </a:rPr>
              <a:t>3</a:t>
            </a:r>
          </a:p>
        </p:txBody>
      </p:sp>
      <p:sp>
        <p:nvSpPr>
          <p:cNvPr id="30" name="s08-ablation-design-paired seeds-label">
            <a:extLst xmlns:a="http://schemas.openxmlformats.org/drawingml/2006/main">
              <a:ext uri="{FF2B5EF4-FFF2-40B4-BE49-F238E27FC236}">
                <a16:creationId xmlns:a16="http://schemas.microsoft.com/office/drawing/2014/main" id="{2C275D92-9B3A-4BCF-A362-47C27586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1816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6706B"/>
                </a:solidFill>
              </a:defRPr>
            </a:pPr>
            <a:r>
              <a:rPr sz="1125" b="1" i="0">
                <a:solidFill>
                  <a:srgbClr val="66706B"/>
                </a:solidFill>
              </a:rPr>
              <a:t>paired seeds</a:t>
            </a:r>
          </a:p>
        </p:txBody>
      </p:sp>
    </p:spTree>
    <p:extLst>
      <p:ext uri="{BB962C8B-B14F-4D97-AF65-F5344CB8AC3E}">
        <p14:creationId xmlns:p14="http://schemas.microsoft.com/office/powerpoint/2010/main" val="100114831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top-rule-9">
            <a:extLst xmlns:a="http://schemas.openxmlformats.org/drawingml/2006/main">
              <a:ext uri="{FF2B5EF4-FFF2-40B4-BE49-F238E27FC236}">
                <a16:creationId xmlns:a16="http://schemas.microsoft.com/office/drawing/2014/main" id="{4BD4E863-F603-4D36-9651-F8AD2010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D6AB5D0C-A51A-4251-A001-3A5A0741E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54E36"/>
                </a:solidFill>
              </a:defRPr>
            </a:pPr>
            <a:r>
              <a:rPr sz="900" b="1" i="0">
                <a:solidFill>
                  <a:srgbClr val="B54E36"/>
                </a:solidFill>
              </a:rPr>
              <a:t>MODULE 05 | DECISION</a:t>
            </a:r>
          </a:p>
        </p:txBody>
      </p:sp>
      <p:sp>
        <p:nvSpPr>
          <p:cNvPr id="3" name="slide-title-9">
            <a:extLst xmlns:a="http://schemas.openxmlformats.org/drawingml/2006/main">
              <a:ext uri="{FF2B5EF4-FFF2-40B4-BE49-F238E27FC236}">
                <a16:creationId xmlns:a16="http://schemas.microsoft.com/office/drawing/2014/main" id="{78F00478-4899-4D24-B2E3-3E93061A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The contour channel fails the primary gate</a:t>
            </a:r>
          </a:p>
        </p:txBody>
      </p:sp>
      <p:sp>
        <p:nvSpPr>
          <p:cNvPr id="4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C6369AF8-3EAE-48CB-AF80-2E31BEF20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9">
            <a:extLst xmlns:a="http://schemas.openxmlformats.org/drawingml/2006/main">
              <a:ext uri="{FF2B5EF4-FFF2-40B4-BE49-F238E27FC236}">
                <a16:creationId xmlns:a16="http://schemas.microsoft.com/office/drawing/2014/main" id="{4EE3D3AE-64D8-4EE9-879A-AAD944C6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train_screen | conditional on the selected seeds</a:t>
            </a:r>
          </a:p>
        </p:txBody>
      </p:sp>
      <p:sp>
        <p:nvSpPr>
          <p:cNvPr id="6" name="page-9">
            <a:extLst xmlns:a="http://schemas.openxmlformats.org/drawingml/2006/main">
              <a:ext uri="{FF2B5EF4-FFF2-40B4-BE49-F238E27FC236}">
                <a16:creationId xmlns:a16="http://schemas.microsoft.com/office/drawing/2014/main" id="{4F7AF3F5-91AA-477E-BF45-A0E1C0824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09</a:t>
            </a:r>
          </a:p>
        </p:txBody>
      </p:sp>
      <p:sp>
        <p:nvSpPr>
          <p:cNvPr id="7" name="s09-negative-result-claim-mark">
            <a:extLst xmlns:a="http://schemas.openxmlformats.org/drawingml/2006/main">
              <a:ext uri="{FF2B5EF4-FFF2-40B4-BE49-F238E27FC236}">
                <a16:creationId xmlns:a16="http://schemas.microsoft.com/office/drawing/2014/main" id="{F60169D6-7B7B-4CA9-A073-27A595B7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09-negative-result-claim">
            <a:extLst xmlns:a="http://schemas.openxmlformats.org/drawingml/2006/main">
              <a:ext uri="{FF2B5EF4-FFF2-40B4-BE49-F238E27FC236}">
                <a16:creationId xmlns:a16="http://schemas.microsoft.com/office/drawing/2014/main" id="{F784454D-68C5-4FAB-A8ED-28396F595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Seed-and-view-averaged robust Dice changes by -0.0313; its conditional 95% interval lies entirely below zero.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7a337a3dc74562"/>
          <a:stretch xmlns:a="http://schemas.openxmlformats.org/drawingml/2006/main"/>
        </p:blipFill>
        <p:spPr>
          <a:xfrm xmlns:a="http://schemas.openxmlformats.org/drawingml/2006/main">
            <a:off x="666750" y="2799860"/>
            <a:ext cx="7334250" cy="2534631"/>
          </a:xfrm>
          <a:prstGeom xmlns:a="http://schemas.openxmlformats.org/drawingml/2006/main" prst="rect">
            <a:avLst/>
          </a:prstGeom>
        </p:spPr>
      </p:pic>
      <p:sp>
        <p:nvSpPr>
          <p:cNvPr id="10" name="negative-gate">
            <a:extLst xmlns:a="http://schemas.openxmlformats.org/drawingml/2006/main">
              <a:ext uri="{FF2B5EF4-FFF2-40B4-BE49-F238E27FC236}">
                <a16:creationId xmlns:a16="http://schemas.microsoft.com/office/drawing/2014/main" id="{554A00BF-A290-4131-88C7-DB8C42C3B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8194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B54E36"/>
                </a:solidFill>
              </a:defRPr>
            </a:pPr>
            <a:r>
              <a:rPr sz="3900" b="1" i="0">
                <a:solidFill>
                  <a:srgbClr val="B54E36"/>
                </a:solidFill>
              </a:rPr>
              <a:t>REJECT</a:t>
            </a:r>
          </a:p>
        </p:txBody>
      </p:sp>
      <p:sp>
        <p:nvSpPr>
          <p:cNvPr id="11" name="negative-dice">
            <a:extLst xmlns:a="http://schemas.openxmlformats.org/drawingml/2006/main">
              <a:ext uri="{FF2B5EF4-FFF2-40B4-BE49-F238E27FC236}">
                <a16:creationId xmlns:a16="http://schemas.microsoft.com/office/drawing/2014/main" id="{916A2D1A-2DD7-45DC-9F5D-A1FE9B5DB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00450"/>
            <a:ext cx="2876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1D211F"/>
                </a:solidFill>
              </a:defRPr>
            </a:pPr>
            <a:r>
              <a:rPr sz="1500" b="1" i="0">
                <a:solidFill>
                  <a:srgbClr val="1D211F"/>
                </a:solidFill>
              </a:rPr>
              <a:t>Dice Δ  -0.0313</a:t>
            </a:r>
          </a:p>
          <a:p xmlns:a="http://schemas.openxmlformats.org/drawingml/2006/main">
            <a:pPr algn="ctr">
              <a:defRPr sz="1500" b="1" i="0">
                <a:solidFill>
                  <a:srgbClr val="1D211F"/>
                </a:solidFill>
              </a:defRPr>
            </a:pPr>
            <a:r>
              <a:rPr sz="1500" b="1" i="0">
                <a:solidFill>
                  <a:srgbClr val="1D211F"/>
                </a:solidFill>
              </a:rPr>
              <a:t>95% CI [-0.0491, -0.0156]</a:t>
            </a:r>
          </a:p>
        </p:txBody>
      </p:sp>
      <p:sp>
        <p:nvSpPr>
          <p:cNvPr id="12" name="negative-bf1">
            <a:extLst xmlns:a="http://schemas.openxmlformats.org/drawingml/2006/main">
              <a:ext uri="{FF2B5EF4-FFF2-40B4-BE49-F238E27FC236}">
                <a16:creationId xmlns:a16="http://schemas.microsoft.com/office/drawing/2014/main" id="{C249D70F-8347-4EBF-8BF1-D12441E63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591050"/>
            <a:ext cx="28765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66706B"/>
                </a:solidFill>
              </a:defRPr>
            </a:pPr>
            <a:r>
              <a:rPr sz="1350" b="0" i="0">
                <a:solidFill>
                  <a:srgbClr val="66706B"/>
                </a:solidFill>
              </a:rPr>
              <a:t>BF1 Δ  -0.0147</a:t>
            </a:r>
          </a:p>
          <a:p xmlns:a="http://schemas.openxmlformats.org/drawingml/2006/main">
            <a:pPr algn="ctr">
              <a:defRPr sz="1350" b="0" i="0">
                <a:solidFill>
                  <a:srgbClr val="66706B"/>
                </a:solidFill>
              </a:defRPr>
            </a:pPr>
            <a:r>
              <a:rPr sz="1350" b="0" i="0">
                <a:solidFill>
                  <a:srgbClr val="66706B"/>
                </a:solidFill>
              </a:rPr>
              <a:t>95% CI [-0.0308, 0.0010]</a:t>
            </a:r>
          </a:p>
        </p:txBody>
      </p:sp>
      <p:sp>
        <p:nvSpPr>
          <p:cNvPr id="13" name="negative-boundary">
            <a:extLst xmlns:a="http://schemas.openxmlformats.org/drawingml/2006/main">
              <a:ext uri="{FF2B5EF4-FFF2-40B4-BE49-F238E27FC236}">
                <a16:creationId xmlns:a16="http://schemas.microsoft.com/office/drawing/2014/main" id="{7C68DA69-90E5-44D7-908E-BFE26AC5C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5562600"/>
            <a:ext cx="2876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B54E36"/>
                </a:solidFill>
              </a:defRPr>
            </a:pPr>
            <a:r>
              <a:rPr sz="1125" b="1" i="0">
                <a:solidFill>
                  <a:srgbClr val="B54E36"/>
                </a:solidFill>
              </a:rPr>
              <a:t>Candidate rejected before protected evaluation.</a:t>
            </a:r>
          </a:p>
        </p:txBody>
      </p:sp>
    </p:spTree>
    <p:extLst>
      <p:ext uri="{BB962C8B-B14F-4D97-AF65-F5344CB8AC3E}">
        <p14:creationId xmlns:p14="http://schemas.microsoft.com/office/powerpoint/2010/main" val="92383543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op-rule-10">
            <a:extLst xmlns:a="http://schemas.openxmlformats.org/drawingml/2006/main">
              <a:ext uri="{FF2B5EF4-FFF2-40B4-BE49-F238E27FC236}">
                <a16:creationId xmlns:a16="http://schemas.microsoft.com/office/drawing/2014/main" id="{0773C0BF-4DEB-4A9C-A463-81BEE3777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69DBA1F0-21AC-4D0D-8B6C-B122DC09D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MODULE 06 | EVIDENCE-BOUND DEMO</a:t>
            </a:r>
          </a:p>
        </p:txBody>
      </p:sp>
      <p:sp>
        <p:nvSpPr>
          <p:cNvPr id="3" name="slide-title-10">
            <a:extLst xmlns:a="http://schemas.openxmlformats.org/drawingml/2006/main">
              <a:ext uri="{FF2B5EF4-FFF2-40B4-BE49-F238E27FC236}">
                <a16:creationId xmlns:a16="http://schemas.microsoft.com/office/drawing/2014/main" id="{98EF2A2D-B3D9-46F5-86C9-7CF25154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The demo compares only what the registry authorizes</a:t>
            </a:r>
          </a:p>
        </p:txBody>
      </p:sp>
      <p:sp>
        <p:nvSpPr>
          <p:cNvPr id="4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976C7B81-1C2F-4928-8C7B-922E5EDA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10">
            <a:extLst xmlns:a="http://schemas.openxmlformats.org/drawingml/2006/main">
              <a:ext uri="{FF2B5EF4-FFF2-40B4-BE49-F238E27FC236}">
                <a16:creationId xmlns:a16="http://schemas.microsoft.com/office/drawing/2014/main" id="{CF3E6AFF-6466-4218-92C6-BBDC09E60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train_screen | exact_fixed_cache | non-clinical</a:t>
            </a:r>
          </a:p>
        </p:txBody>
      </p:sp>
      <p:sp>
        <p:nvSpPr>
          <p:cNvPr id="6" name="page-10">
            <a:extLst xmlns:a="http://schemas.openxmlformats.org/drawingml/2006/main">
              <a:ext uri="{FF2B5EF4-FFF2-40B4-BE49-F238E27FC236}">
                <a16:creationId xmlns:a16="http://schemas.microsoft.com/office/drawing/2014/main" id="{C2C29E0C-C525-4F4B-B98E-76A47E4A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10</a:t>
            </a:r>
          </a:p>
        </p:txBody>
      </p:sp>
      <p:sp>
        <p:nvSpPr>
          <p:cNvPr id="7" name="s10-demo-claim-mark">
            <a:extLst xmlns:a="http://schemas.openxmlformats.org/drawingml/2006/main">
              <a:ext uri="{FF2B5EF4-FFF2-40B4-BE49-F238E27FC236}">
                <a16:creationId xmlns:a16="http://schemas.microsoft.com/office/drawing/2014/main" id="{BB848692-0B54-48B5-A019-F41FD9E01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10-demo-claim">
            <a:extLst xmlns:a="http://schemas.openxmlformats.org/drawingml/2006/main">
              <a:ext uri="{FF2B5EF4-FFF2-40B4-BE49-F238E27FC236}">
                <a16:creationId xmlns:a16="http://schemas.microsoft.com/office/drawing/2014/main" id="{98FCB334-6288-434E-A69A-CE6A9CA6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The public workbench supports exact fixed-cache comparison; arbitrary uploads remain control-only because candidate prior parity is 0/76.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593d2356cf4c75"/>
          <a:stretch xmlns:a="http://schemas.openxmlformats.org/drawingml/2006/main"/>
        </p:blipFill>
        <p:spPr>
          <a:xfrm xmlns:a="http://schemas.openxmlformats.org/drawingml/2006/main">
            <a:off x="2336918" y="2533650"/>
            <a:ext cx="4717815" cy="3238500"/>
          </a:xfrm>
          <a:prstGeom xmlns:a="http://schemas.openxmlformats.org/drawingml/2006/main" prst="rect">
            <a:avLst/>
          </a:prstGeom>
        </p:spPr>
      </p:pic>
      <p:sp>
        <p:nvSpPr>
          <p:cNvPr id="10" name="demo-parity">
            <a:extLst xmlns:a="http://schemas.openxmlformats.org/drawingml/2006/main">
              <a:ext uri="{FF2B5EF4-FFF2-40B4-BE49-F238E27FC236}">
                <a16:creationId xmlns:a16="http://schemas.microsoft.com/office/drawing/2014/main" id="{92C09A44-D055-476B-A5E3-DB7CD4E8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86050"/>
            <a:ext cx="1866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 i="0">
                <a:solidFill>
                  <a:srgbClr val="B54E36"/>
                </a:solidFill>
              </a:defRPr>
            </a:pPr>
            <a:r>
              <a:rPr sz="3900" b="1" i="0">
                <a:solidFill>
                  <a:srgbClr val="B54E36"/>
                </a:solidFill>
              </a:rPr>
              <a:t>0/76</a:t>
            </a:r>
          </a:p>
        </p:txBody>
      </p:sp>
      <p:sp>
        <p:nvSpPr>
          <p:cNvPr id="11" name="demo-parity-label">
            <a:extLst xmlns:a="http://schemas.openxmlformats.org/drawingml/2006/main">
              <a:ext uri="{FF2B5EF4-FFF2-40B4-BE49-F238E27FC236}">
                <a16:creationId xmlns:a16="http://schemas.microsoft.com/office/drawing/2014/main" id="{6EBD55D1-70BC-4E5F-BC09-84376E21E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314700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66706B"/>
                </a:solidFill>
              </a:defRPr>
            </a:pPr>
            <a:r>
              <a:rPr sz="1200" b="1" i="0">
                <a:solidFill>
                  <a:srgbClr val="66706B"/>
                </a:solidFill>
              </a:rPr>
              <a:t>candidate prior parity</a:t>
            </a:r>
          </a:p>
        </p:txBody>
      </p:sp>
      <p:sp>
        <p:nvSpPr>
          <p:cNvPr id="12" name="demo-rule">
            <a:extLst xmlns:a="http://schemas.openxmlformats.org/drawingml/2006/main">
              <a:ext uri="{FF2B5EF4-FFF2-40B4-BE49-F238E27FC236}">
                <a16:creationId xmlns:a16="http://schemas.microsoft.com/office/drawing/2014/main" id="{E30763EB-3E3E-446D-92AD-22AF6B2E5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19550"/>
            <a:ext cx="23241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FIXED CACHE</a:t>
            </a:r>
          </a:p>
          <a:p xmlns:a="http://schemas.openxmlformats.org/drawingml/2006/main">
            <a:pPr algn="ctr">
              <a:defRPr sz="1350" b="1" i="0">
                <a:solidFill>
                  <a:srgbClr val="177D76"/>
                </a:solidFill>
              </a:defRPr>
            </a:pPr>
            <a:r>
              <a:rPr sz="1350" b="1" i="0">
                <a:solidFill>
                  <a:srgbClr val="177D76"/>
                </a:solidFill>
              </a:rPr>
              <a:t>control + candidate + authorized truth</a:t>
            </a:r>
          </a:p>
        </p:txBody>
      </p:sp>
      <p:sp>
        <p:nvSpPr>
          <p:cNvPr id="13" name="demo-upload">
            <a:extLst xmlns:a="http://schemas.openxmlformats.org/drawingml/2006/main">
              <a:ext uri="{FF2B5EF4-FFF2-40B4-BE49-F238E27FC236}">
                <a16:creationId xmlns:a16="http://schemas.microsoft.com/office/drawing/2014/main" id="{FD89099A-35B9-42CA-97B3-F7BE0825E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914900"/>
            <a:ext cx="2324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ARBITRARY UPLOAD</a:t>
            </a:r>
          </a:p>
          <a:p xmlns:a="http://schemas.openxmlformats.org/drawingml/2006/main">
            <a:pPr algn="ct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control only</a:t>
            </a:r>
          </a:p>
        </p:txBody>
      </p:sp>
      <p:sp>
        <p:nvSpPr>
          <p:cNvPr id="14" name="demo-clinical">
            <a:extLst xmlns:a="http://schemas.openxmlformats.org/drawingml/2006/main">
              <a:ext uri="{FF2B5EF4-FFF2-40B4-BE49-F238E27FC236}">
                <a16:creationId xmlns:a16="http://schemas.microsoft.com/office/drawing/2014/main" id="{410CC04D-4C34-4E63-9C75-6D390832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600700"/>
            <a:ext cx="2324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66706B"/>
                </a:solidFill>
              </a:defRPr>
            </a:pPr>
            <a:r>
              <a:rPr sz="1050" b="0" i="0">
                <a:solidFill>
                  <a:srgbClr val="66706B"/>
                </a:solidFill>
              </a:rPr>
              <a:t>Non-clinical research demo; not a diagnosis.</a:t>
            </a:r>
          </a:p>
        </p:txBody>
      </p:sp>
    </p:spTree>
    <p:extLst>
      <p:ext uri="{BB962C8B-B14F-4D97-AF65-F5344CB8AC3E}">
        <p14:creationId xmlns:p14="http://schemas.microsoft.com/office/powerpoint/2010/main" val="15886739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op-rule-11">
            <a:extLst xmlns:a="http://schemas.openxmlformats.org/drawingml/2006/main">
              <a:ext uri="{FF2B5EF4-FFF2-40B4-BE49-F238E27FC236}">
                <a16:creationId xmlns:a16="http://schemas.microsoft.com/office/drawing/2014/main" id="{D540405B-79C7-4A92-818C-D542175B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E3D8C545-A6D1-4512-A180-2CC16FEE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177D76"/>
                </a:solidFill>
              </a:defRPr>
            </a:pPr>
            <a:r>
              <a:rPr sz="900" b="1" i="0">
                <a:solidFill>
                  <a:srgbClr val="177D76"/>
                </a:solidFill>
              </a:rPr>
              <a:t>REPRODUCIBILITY + LIMITS</a:t>
            </a:r>
          </a:p>
        </p:txBody>
      </p:sp>
      <p:sp>
        <p:nvSpPr>
          <p:cNvPr id="3" name="slide-title-11">
            <a:extLst xmlns:a="http://schemas.openxmlformats.org/drawingml/2006/main">
              <a:ext uri="{FF2B5EF4-FFF2-40B4-BE49-F238E27FC236}">
                <a16:creationId xmlns:a16="http://schemas.microsoft.com/office/drawing/2014/main" id="{ABC4ED0E-EE1A-4C9E-9568-FC41101C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Claims are reproducible; full retraining is not yet clone-runnable</a:t>
            </a:r>
          </a:p>
        </p:txBody>
      </p:sp>
      <p:sp>
        <p:nvSpPr>
          <p:cNvPr id="4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2091ACDF-E233-480D-94FC-967748FE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11">
            <a:extLst xmlns:a="http://schemas.openxmlformats.org/drawingml/2006/main">
              <a:ext uri="{FF2B5EF4-FFF2-40B4-BE49-F238E27FC236}">
                <a16:creationId xmlns:a16="http://schemas.microsoft.com/office/drawing/2014/main" id="{D041123B-474F-47FB-BE41-25444D62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hash-bound release | protected test remains sealed</a:t>
            </a:r>
          </a:p>
        </p:txBody>
      </p:sp>
      <p:sp>
        <p:nvSpPr>
          <p:cNvPr id="6" name="page-11">
            <a:extLst xmlns:a="http://schemas.openxmlformats.org/drawingml/2006/main">
              <a:ext uri="{FF2B5EF4-FFF2-40B4-BE49-F238E27FC236}">
                <a16:creationId xmlns:a16="http://schemas.microsoft.com/office/drawing/2014/main" id="{FCB89903-0F07-47C0-837A-8EE281B7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177D76"/>
                </a:solidFill>
              </a:defRPr>
            </a:pPr>
            <a:r>
              <a:rPr sz="1050" b="1" i="0">
                <a:solidFill>
                  <a:srgbClr val="177D76"/>
                </a:solidFill>
              </a:rPr>
              <a:t>11</a:t>
            </a:r>
          </a:p>
        </p:txBody>
      </p:sp>
      <p:sp>
        <p:nvSpPr>
          <p:cNvPr id="7" name="s11-reproducibility-claim-mark">
            <a:extLst xmlns:a="http://schemas.openxmlformats.org/drawingml/2006/main">
              <a:ext uri="{FF2B5EF4-FFF2-40B4-BE49-F238E27FC236}">
                <a16:creationId xmlns:a16="http://schemas.microsoft.com/office/drawing/2014/main" id="{9A4CDADC-13D2-474A-A21C-DA2FEAD9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11-reproducibility-claim">
            <a:extLst xmlns:a="http://schemas.openxmlformats.org/drawingml/2006/main">
              <a:ext uri="{FF2B5EF4-FFF2-40B4-BE49-F238E27FC236}">
                <a16:creationId xmlns:a16="http://schemas.microsoft.com/office/drawing/2014/main" id="{9F85E532-3D43-49F4-8FC3-1C52E00BA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The release binds claims, tables, figures, PDF, model IDs, and source reports by hash while explicitly disclosing missing experiment artifacts.</a:t>
            </a:r>
          </a:p>
        </p:txBody>
      </p:sp>
      <p:sp>
        <p:nvSpPr>
          <p:cNvPr id="9" name="repro-rule-0">
            <a:extLst xmlns:a="http://schemas.openxmlformats.org/drawingml/2006/main">
              <a:ext uri="{FF2B5EF4-FFF2-40B4-BE49-F238E27FC236}">
                <a16:creationId xmlns:a16="http://schemas.microsoft.com/office/drawing/2014/main" id="{886FEAE4-74BF-4570-8FB0-962D22212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304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7D7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repro-title-0">
            <a:extLst xmlns:a="http://schemas.openxmlformats.org/drawingml/2006/main">
              <a:ext uri="{FF2B5EF4-FFF2-40B4-BE49-F238E27FC236}">
                <a16:creationId xmlns:a16="http://schemas.microsoft.com/office/drawing/2014/main" id="{980EE587-84C9-4AC0-B8D6-E46E0FBD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77D76"/>
                </a:solidFill>
              </a:defRPr>
            </a:pPr>
            <a:r>
              <a:rPr sz="1275" b="1" i="0">
                <a:solidFill>
                  <a:srgbClr val="177D76"/>
                </a:solidFill>
              </a:rPr>
              <a:t>HASH-BOUND</a:t>
            </a:r>
          </a:p>
        </p:txBody>
      </p:sp>
      <p:sp>
        <p:nvSpPr>
          <p:cNvPr id="11" name="repro-text-0">
            <a:extLst xmlns:a="http://schemas.openxmlformats.org/drawingml/2006/main">
              <a:ext uri="{FF2B5EF4-FFF2-40B4-BE49-F238E27FC236}">
                <a16:creationId xmlns:a16="http://schemas.microsoft.com/office/drawing/2014/main" id="{18B2CFE5-FD02-44BD-8C38-543AA921A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3048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Claims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Tables + figures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Compiled PDF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Model IDs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Source reports</a:t>
            </a:r>
          </a:p>
        </p:txBody>
      </p:sp>
      <p:sp>
        <p:nvSpPr>
          <p:cNvPr id="12" name="repro-rule-1">
            <a:extLst xmlns:a="http://schemas.openxmlformats.org/drawingml/2006/main">
              <a:ext uri="{FF2B5EF4-FFF2-40B4-BE49-F238E27FC236}">
                <a16:creationId xmlns:a16="http://schemas.microsoft.com/office/drawing/2014/main" id="{8A734F24-1FE9-4B9B-8EB9-22BBE451F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81300"/>
            <a:ext cx="304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C39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repro-title-1">
            <a:extLst xmlns:a="http://schemas.openxmlformats.org/drawingml/2006/main">
              <a:ext uri="{FF2B5EF4-FFF2-40B4-BE49-F238E27FC236}">
                <a16:creationId xmlns:a16="http://schemas.microsoft.com/office/drawing/2014/main" id="{79B97AB9-A860-4FCC-8203-90BC58B8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0480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D211F"/>
                </a:solidFill>
              </a:defRPr>
            </a:pPr>
            <a:r>
              <a:rPr sz="1275" b="1" i="0">
                <a:solidFill>
                  <a:srgbClr val="1D211F"/>
                </a:solidFill>
              </a:rPr>
              <a:t>RUNTIME-BOUND</a:t>
            </a:r>
          </a:p>
        </p:txBody>
      </p:sp>
      <p:sp>
        <p:nvSpPr>
          <p:cNvPr id="14" name="repro-text-1">
            <a:extLst xmlns:a="http://schemas.openxmlformats.org/drawingml/2006/main">
              <a:ext uri="{FF2B5EF4-FFF2-40B4-BE49-F238E27FC236}">
                <a16:creationId xmlns:a16="http://schemas.microsoft.com/office/drawing/2014/main" id="{1BBACED4-55A2-45A5-84D5-29415720D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562350"/>
            <a:ext cx="3048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Checkpoints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Data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Caches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Secrets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Startup verification</a:t>
            </a:r>
          </a:p>
        </p:txBody>
      </p:sp>
      <p:sp>
        <p:nvSpPr>
          <p:cNvPr id="15" name="repro-rule-2">
            <a:extLst xmlns:a="http://schemas.openxmlformats.org/drawingml/2006/main">
              <a:ext uri="{FF2B5EF4-FFF2-40B4-BE49-F238E27FC236}">
                <a16:creationId xmlns:a16="http://schemas.microsoft.com/office/drawing/2014/main" id="{4E50E241-66EE-402D-B56E-AD844CC5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81300"/>
            <a:ext cx="3048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epro-title-2">
            <a:extLst xmlns:a="http://schemas.openxmlformats.org/drawingml/2006/main">
              <a:ext uri="{FF2B5EF4-FFF2-40B4-BE49-F238E27FC236}">
                <a16:creationId xmlns:a16="http://schemas.microsoft.com/office/drawing/2014/main" id="{73901931-4F53-4A65-B643-1F2FD01D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480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B54E36"/>
                </a:solidFill>
              </a:defRPr>
            </a:pPr>
            <a:r>
              <a:rPr sz="1275" b="1" i="0">
                <a:solidFill>
                  <a:srgbClr val="B54E36"/>
                </a:solidFill>
              </a:rPr>
              <a:t>NOT YET CLONE-RUNNABLE</a:t>
            </a:r>
          </a:p>
        </p:txBody>
      </p:sp>
      <p:sp>
        <p:nvSpPr>
          <p:cNvPr id="17" name="repro-text-2">
            <a:extLst xmlns:a="http://schemas.openxmlformats.org/drawingml/2006/main">
              <a:ext uri="{FF2B5EF4-FFF2-40B4-BE49-F238E27FC236}">
                <a16:creationId xmlns:a16="http://schemas.microsoft.com/office/drawing/2014/main" id="{329DF69B-22AB-469C-BC79-2E6ACA7B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562350"/>
            <a:ext cx="30480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Loop191/192 configs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Implementation modules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Paired predictions</a:t>
            </a:r>
          </a:p>
          <a:p xmlns:a="http://schemas.openxmlformats.org/drawingml/2006/main">
            <a:pPr algn="l">
              <a:defRPr sz="1650" b="1" i="0">
                <a:solidFill>
                  <a:srgbClr val="1D211F"/>
                </a:solidFill>
              </a:defRPr>
            </a:pPr>
            <a:r>
              <a:rPr sz="1650" b="1" i="0">
                <a:solidFill>
                  <a:srgbClr val="1D211F"/>
                </a:solidFill>
              </a:rPr>
              <a:t>Physical laptop evidence</a:t>
            </a:r>
          </a:p>
        </p:txBody>
      </p:sp>
      <p:sp>
        <p:nvSpPr>
          <p:cNvPr id="18" name="repro-protected">
            <a:extLst xmlns:a="http://schemas.openxmlformats.org/drawingml/2006/main">
              <a:ext uri="{FF2B5EF4-FFF2-40B4-BE49-F238E27FC236}">
                <a16:creationId xmlns:a16="http://schemas.microsoft.com/office/drawing/2014/main" id="{A7FC59AD-57FE-42CD-94A9-FB4E4DAF1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00700"/>
            <a:ext cx="1024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B54E36"/>
                </a:solidFill>
              </a:defRPr>
            </a:pPr>
            <a:r>
              <a:rPr sz="1350" b="1" i="0">
                <a:solidFill>
                  <a:srgbClr val="B54E36"/>
                </a:solidFill>
              </a:rPr>
              <a:t>Protected test remains sealed.</a:t>
            </a:r>
          </a:p>
        </p:txBody>
      </p:sp>
    </p:spTree>
    <p:extLst>
      <p:ext uri="{BB962C8B-B14F-4D97-AF65-F5344CB8AC3E}">
        <p14:creationId xmlns:p14="http://schemas.microsoft.com/office/powerpoint/2010/main" val="2265924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EF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op-rule-12">
            <a:extLst xmlns:a="http://schemas.openxmlformats.org/drawingml/2006/main">
              <a:ext uri="{FF2B5EF4-FFF2-40B4-BE49-F238E27FC236}">
                <a16:creationId xmlns:a16="http://schemas.microsoft.com/office/drawing/2014/main" id="{665493BA-8A94-45B4-A459-FA35C351A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69FD4F6B-E701-4C3E-BCED-164862EA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B54E36"/>
                </a:solidFill>
              </a:defRPr>
            </a:pPr>
            <a:r>
              <a:rPr sz="900" b="1" i="0">
                <a:solidFill>
                  <a:srgbClr val="B54E36"/>
                </a:solidFill>
              </a:rPr>
              <a:t>DEFENSIBLE TAKEAWAY</a:t>
            </a:r>
          </a:p>
        </p:txBody>
      </p:sp>
      <p:sp>
        <p:nvSpPr>
          <p:cNvPr id="3" name="slide-title-12">
            <a:extLst xmlns:a="http://schemas.openxmlformats.org/drawingml/2006/main">
              <a:ext uri="{FF2B5EF4-FFF2-40B4-BE49-F238E27FC236}">
                <a16:creationId xmlns:a16="http://schemas.microsoft.com/office/drawing/2014/main" id="{0830B0BC-6C81-4A94-B2AE-C68D9A9F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67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D211F"/>
                </a:solidFill>
              </a:defRPr>
            </a:pPr>
            <a:r>
              <a:rPr sz="2925" b="1" i="0">
                <a:solidFill>
                  <a:srgbClr val="1D211F"/>
                </a:solidFill>
              </a:rPr>
              <a:t>A narrower conclusion is the stronger scientific result</a:t>
            </a:r>
          </a:p>
        </p:txBody>
      </p:sp>
      <p:sp>
        <p:nvSpPr>
          <p:cNvPr id="4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8D545446-465E-4410-97DD-1025D9458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10300"/>
            <a:ext cx="1089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evidence-12">
            <a:extLst xmlns:a="http://schemas.openxmlformats.org/drawingml/2006/main">
              <a:ext uri="{FF2B5EF4-FFF2-40B4-BE49-F238E27FC236}">
                <a16:creationId xmlns:a16="http://schemas.microsoft.com/office/drawing/2014/main" id="{CE87AE42-3E9E-4572-B8C5-AF8C8129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86500"/>
            <a:ext cx="904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66706B"/>
                </a:solidFill>
              </a:defRPr>
            </a:pPr>
            <a:r>
              <a:rPr sz="900" b="0" i="0">
                <a:solidFill>
                  <a:srgbClr val="66706B"/>
                </a:solidFill>
              </a:rPr>
              <a:t>scientific_sota_status = not_established</a:t>
            </a:r>
          </a:p>
        </p:txBody>
      </p:sp>
      <p:sp>
        <p:nvSpPr>
          <p:cNvPr id="6" name="page-12">
            <a:extLst xmlns:a="http://schemas.openxmlformats.org/drawingml/2006/main">
              <a:ext uri="{FF2B5EF4-FFF2-40B4-BE49-F238E27FC236}">
                <a16:creationId xmlns:a16="http://schemas.microsoft.com/office/drawing/2014/main" id="{B401C0F8-8982-4B19-ABDB-273E2F646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628650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 i="0">
                <a:solidFill>
                  <a:srgbClr val="B54E36"/>
                </a:solidFill>
              </a:defRPr>
            </a:pPr>
            <a:r>
              <a:rPr sz="1050" b="1" i="0">
                <a:solidFill>
                  <a:srgbClr val="B54E36"/>
                </a:solidFill>
              </a:rPr>
              <a:t>12</a:t>
            </a:r>
          </a:p>
        </p:txBody>
      </p:sp>
      <p:sp>
        <p:nvSpPr>
          <p:cNvPr id="7" name="s12-conclusion-claim-mark">
            <a:extLst xmlns:a="http://schemas.openxmlformats.org/drawingml/2006/main">
              <a:ext uri="{FF2B5EF4-FFF2-40B4-BE49-F238E27FC236}">
                <a16:creationId xmlns:a16="http://schemas.microsoft.com/office/drawing/2014/main" id="{7BC69F49-4431-4AD2-8820-9BD52A24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57325"/>
            <a:ext cx="571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E3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12-conclusion-claim">
            <a:extLst xmlns:a="http://schemas.openxmlformats.org/drawingml/2006/main">
              <a:ext uri="{FF2B5EF4-FFF2-40B4-BE49-F238E27FC236}">
                <a16:creationId xmlns:a16="http://schemas.microsoft.com/office/drawing/2014/main" id="{8EBFF402-64B0-4182-A533-114AC25DE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191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D211F"/>
                </a:solidFill>
              </a:defRPr>
            </a:pPr>
            <a:r>
              <a:rPr sz="1800" b="1" i="0">
                <a:solidFill>
                  <a:srgbClr val="1D211F"/>
                </a:solidFill>
              </a:rPr>
              <a:t>nnU-Net records higher development-validation point estimates, the hard contour prior fails its matched train-screen gate, and no protected-test or state-of-the-art claim is authorized.</a:t>
            </a:r>
          </a:p>
        </p:txBody>
      </p:sp>
      <p:sp>
        <p:nvSpPr>
          <p:cNvPr id="9" name="conclusion-number-0">
            <a:extLst xmlns:a="http://schemas.openxmlformats.org/drawingml/2006/main">
              <a:ext uri="{FF2B5EF4-FFF2-40B4-BE49-F238E27FC236}">
                <a16:creationId xmlns:a16="http://schemas.microsoft.com/office/drawing/2014/main" id="{AE02B78A-3041-491D-86AE-1F2092B98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177D76"/>
                </a:solidFill>
              </a:defRPr>
            </a:pPr>
            <a:r>
              <a:rPr sz="2400" b="1" i="0">
                <a:solidFill>
                  <a:srgbClr val="177D76"/>
                </a:solidFill>
              </a:rPr>
              <a:t>01</a:t>
            </a:r>
          </a:p>
        </p:txBody>
      </p:sp>
      <p:sp>
        <p:nvSpPr>
          <p:cNvPr id="10" name="conclusion-statement-0">
            <a:extLst xmlns:a="http://schemas.openxmlformats.org/drawingml/2006/main">
              <a:ext uri="{FF2B5EF4-FFF2-40B4-BE49-F238E27FC236}">
                <a16:creationId xmlns:a16="http://schemas.microsoft.com/office/drawing/2014/main" id="{4B36E912-DC78-4FD8-8432-5A902D543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00350"/>
            <a:ext cx="904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D211F"/>
                </a:solidFill>
              </a:defRPr>
            </a:pPr>
            <a:r>
              <a:rPr sz="1875" b="1" i="0">
                <a:solidFill>
                  <a:srgbClr val="1D211F"/>
                </a:solidFill>
              </a:rPr>
              <a:t>Repair leakage before optimizing models.</a:t>
            </a:r>
          </a:p>
        </p:txBody>
      </p:sp>
      <p:sp>
        <p:nvSpPr>
          <p:cNvPr id="11" name="conclusion-number-1">
            <a:extLst xmlns:a="http://schemas.openxmlformats.org/drawingml/2006/main">
              <a:ext uri="{FF2B5EF4-FFF2-40B4-BE49-F238E27FC236}">
                <a16:creationId xmlns:a16="http://schemas.microsoft.com/office/drawing/2014/main" id="{D376AD10-5D91-4672-82C6-CC0CEA56A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177D76"/>
                </a:solidFill>
              </a:defRPr>
            </a:pPr>
            <a:r>
              <a:rPr sz="2400" b="1" i="0">
                <a:solidFill>
                  <a:srgbClr val="177D76"/>
                </a:solidFill>
              </a:rPr>
              <a:t>02</a:t>
            </a:r>
          </a:p>
        </p:txBody>
      </p:sp>
      <p:sp>
        <p:nvSpPr>
          <p:cNvPr id="12" name="conclusion-statement-1">
            <a:extLst xmlns:a="http://schemas.openxmlformats.org/drawingml/2006/main">
              <a:ext uri="{FF2B5EF4-FFF2-40B4-BE49-F238E27FC236}">
                <a16:creationId xmlns:a16="http://schemas.microsoft.com/office/drawing/2014/main" id="{4773F329-2544-472B-B0EA-98D0333B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00450"/>
            <a:ext cx="904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D211F"/>
                </a:solidFill>
              </a:defRPr>
            </a:pPr>
            <a:r>
              <a:rPr sz="1875" b="1" i="0">
                <a:solidFill>
                  <a:srgbClr val="1D211F"/>
                </a:solidFill>
              </a:rPr>
              <a:t>Use strong baselines without hiding contract differences.</a:t>
            </a:r>
          </a:p>
        </p:txBody>
      </p:sp>
      <p:sp>
        <p:nvSpPr>
          <p:cNvPr id="13" name="conclusion-number-2">
            <a:extLst xmlns:a="http://schemas.openxmlformats.org/drawingml/2006/main">
              <a:ext uri="{FF2B5EF4-FFF2-40B4-BE49-F238E27FC236}">
                <a16:creationId xmlns:a16="http://schemas.microsoft.com/office/drawing/2014/main" id="{45ECD0DB-670A-46A6-B6D5-AB7DE23D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81500"/>
            <a:ext cx="685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B54E36"/>
                </a:solidFill>
              </a:defRPr>
            </a:pPr>
            <a:r>
              <a:rPr sz="2400" b="1" i="0">
                <a:solidFill>
                  <a:srgbClr val="B54E36"/>
                </a:solidFill>
              </a:rPr>
              <a:t>03</a:t>
            </a:r>
          </a:p>
        </p:txBody>
      </p:sp>
      <p:sp>
        <p:nvSpPr>
          <p:cNvPr id="14" name="conclusion-statement-2">
            <a:extLst xmlns:a="http://schemas.openxmlformats.org/drawingml/2006/main">
              <a:ext uri="{FF2B5EF4-FFF2-40B4-BE49-F238E27FC236}">
                <a16:creationId xmlns:a16="http://schemas.microsoft.com/office/drawing/2014/main" id="{A8BB4D71-A169-411F-A310-9778A219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00550"/>
            <a:ext cx="9048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D211F"/>
                </a:solidFill>
              </a:defRPr>
            </a:pPr>
            <a:r>
              <a:rPr sz="1875" b="1" i="0">
                <a:solidFill>
                  <a:srgbClr val="1D211F"/>
                </a:solidFill>
              </a:rPr>
              <a:t>Publish negative ablations when they reject a mechanism.</a:t>
            </a:r>
          </a:p>
        </p:txBody>
      </p:sp>
      <p:sp>
        <p:nvSpPr>
          <p:cNvPr id="15" name="conclusion-next">
            <a:extLst xmlns:a="http://schemas.openxmlformats.org/drawingml/2006/main">
              <a:ext uri="{FF2B5EF4-FFF2-40B4-BE49-F238E27FC236}">
                <a16:creationId xmlns:a16="http://schemas.microsoft.com/office/drawing/2014/main" id="{35AC30CB-46F2-498C-8393-FF812897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38750"/>
            <a:ext cx="104584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11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onclusion-next-label">
            <a:extLst xmlns:a="http://schemas.openxmlformats.org/drawingml/2006/main">
              <a:ext uri="{FF2B5EF4-FFF2-40B4-BE49-F238E27FC236}">
                <a16:creationId xmlns:a16="http://schemas.microsoft.com/office/drawing/2014/main" id="{4262CBAE-81FE-468C-864A-17A1C1F0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353050"/>
            <a:ext cx="26860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8C39D"/>
                </a:solidFill>
              </a:defRPr>
            </a:pPr>
            <a:r>
              <a:rPr sz="1050" b="1" i="0">
                <a:solidFill>
                  <a:srgbClr val="D8C39D"/>
                </a:solidFill>
              </a:rPr>
              <a:t>NEXT DEFENSIBLE EXPERIMENT</a:t>
            </a:r>
          </a:p>
        </p:txBody>
      </p:sp>
      <p:sp>
        <p:nvSpPr>
          <p:cNvPr id="17" name="conclusion-next-text">
            <a:extLst xmlns:a="http://schemas.openxmlformats.org/drawingml/2006/main">
              <a:ext uri="{FF2B5EF4-FFF2-40B4-BE49-F238E27FC236}">
                <a16:creationId xmlns:a16="http://schemas.microsoft.com/office/drawing/2014/main" id="{BE42A333-E3D1-466B-B887-4F193FEB1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3340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425" b="1" i="0">
                <a:solidFill>
                  <a:srgbClr val="F4EFE4"/>
                </a:solidFill>
              </a:defRPr>
            </a:pPr>
            <a:r>
              <a:rPr sz="1425" b="1" i="0">
                <a:solidFill>
                  <a:srgbClr val="F4EFE4"/>
                </a:solidFill>
              </a:rPr>
              <a:t>Reproduce both systems under one geometry contract before any protected test.</a:t>
            </a:r>
          </a:p>
        </p:txBody>
      </p:sp>
    </p:spTree>
    <p:extLst>
      <p:ext uri="{BB962C8B-B14F-4D97-AF65-F5344CB8AC3E}">
        <p14:creationId xmlns:p14="http://schemas.microsoft.com/office/powerpoint/2010/main" val="125466321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2026-07-21T06:00:34.7310000Z</dcterms:created>
  <dcterms:modified xsi:type="dcterms:W3CDTF">2026-07-21T06:00:34.7310000Z</dcterms:modified>
</coreProperties>
</file>